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4-2.jp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jp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jpg"/><Relationship Id="rId3" Type="http://schemas.openxmlformats.org/officeDocument/2006/relationships/image" Target="../media/image-10-3.jpg"/><Relationship Id="rId4" Type="http://schemas.openxmlformats.org/officeDocument/2006/relationships/image" Target="../media/image-10-4.jpg"/><Relationship Id="rId5" Type="http://schemas.openxmlformats.org/officeDocument/2006/relationships/image" Target="../media/image-10-5.jpg"/><Relationship Id="rId6" Type="http://schemas.openxmlformats.org/officeDocument/2006/relationships/image" Target="../media/image-10-6.jp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C:\Users\18367\Desktop\test\web-app-test\runtime\artifacts\chat_9a283d290d7d\document-assets\download-The_Great_wall_-_by_Hao_Wei.jpg">    </p:cNvPr>
          <p:cNvPicPr>
            <a:picLocks noChangeAspect="1"/>
          </p:cNvPicPr>
          <p:nvPr/>
        </p:nvPicPr>
        <p:blipFill>
          <a:blip r:embed="rId1"/>
          <a:srcRect l="0" r="0" t="0" b="0"/>
          <a:stretch/>
        </p:blipFill>
        <p:spPr>
          <a:xfrm>
            <a:off x="0" y="0"/>
            <a:ext cx="12188952" cy="6858000"/>
          </a:xfrm>
          <a:prstGeom prst="rect">
            <a:avLst/>
          </a:prstGeom>
        </p:spPr>
      </p:pic>
      <p:sp>
        <p:nvSpPr>
          <p:cNvPr id="3" name="Shape 0"/>
          <p:cNvSpPr/>
          <p:nvPr/>
        </p:nvSpPr>
        <p:spPr>
          <a:xfrm>
            <a:off x="0" y="0"/>
            <a:ext cx="12188952" cy="6858000"/>
          </a:xfrm>
          <a:prstGeom prst="rect">
            <a:avLst/>
          </a:prstGeom>
          <a:solidFill>
            <a:srgbClr val="1A1410">
              <a:alpha val="65000"/>
            </a:srgbClr>
          </a:solidFill>
          <a:ln w="12700">
            <a:solidFill>
              <a:srgbClr val="FFFFFF">
                <a:alpha val="0"/>
              </a:srgbClr>
            </a:solidFill>
            <a:prstDash val="solid"/>
          </a:ln>
        </p:spPr>
      </p:sp>
      <p:sp>
        <p:nvSpPr>
          <p:cNvPr id="4" name="Shape 1"/>
          <p:cNvSpPr/>
          <p:nvPr/>
        </p:nvSpPr>
        <p:spPr>
          <a:xfrm>
            <a:off x="0" y="0"/>
            <a:ext cx="164592" cy="6858000"/>
          </a:xfrm>
          <a:prstGeom prst="rect">
            <a:avLst/>
          </a:prstGeom>
          <a:solidFill>
            <a:srgbClr val="D4AF37"/>
          </a:solidFill>
          <a:ln/>
        </p:spPr>
      </p:sp>
      <p:sp>
        <p:nvSpPr>
          <p:cNvPr id="5" name="Text 2"/>
          <p:cNvSpPr/>
          <p:nvPr/>
        </p:nvSpPr>
        <p:spPr>
          <a:xfrm>
            <a:off x="914400" y="1554480"/>
            <a:ext cx="10058400" cy="365760"/>
          </a:xfrm>
          <a:prstGeom prst="rect">
            <a:avLst/>
          </a:prstGeom>
          <a:noFill/>
          <a:ln/>
        </p:spPr>
        <p:txBody>
          <a:bodyPr wrap="square" rtlCol="0" anchor="ctr"/>
          <a:lstStyle/>
          <a:p>
            <a:pPr indent="0" marL="0">
              <a:buNone/>
            </a:pPr>
            <a:r>
              <a:rPr lang="en-US" sz="1400" b="1" spc="400" kern="0" dirty="0">
                <a:solidFill>
                  <a:srgbClr val="D4AF37"/>
                </a:solidFill>
                <a:latin typeface="Georgia" pitchFamily="34" charset="0"/>
                <a:ea typeface="Georgia" pitchFamily="34" charset="-122"/>
                <a:cs typeface="Georgia" pitchFamily="34" charset="-120"/>
              </a:rPr>
              <a:t>WIKIPEDIA · WORLD HERITAGE SERIES</a:t>
            </a:r>
            <a:endParaRPr lang="en-US" sz="1400" dirty="0"/>
          </a:p>
        </p:txBody>
      </p:sp>
      <p:sp>
        <p:nvSpPr>
          <p:cNvPr id="6" name="Text 3"/>
          <p:cNvSpPr/>
          <p:nvPr/>
        </p:nvSpPr>
        <p:spPr>
          <a:xfrm>
            <a:off x="914400" y="2011680"/>
            <a:ext cx="10332720" cy="1188720"/>
          </a:xfrm>
          <a:prstGeom prst="rect">
            <a:avLst/>
          </a:prstGeom>
          <a:noFill/>
          <a:ln/>
        </p:spPr>
        <p:txBody>
          <a:bodyPr wrap="square" lIns="0" tIns="0" rIns="0" bIns="0" rtlCol="0" anchor="ctr"/>
          <a:lstStyle/>
          <a:p>
            <a:pPr indent="0" marL="0">
              <a:buNone/>
            </a:pPr>
            <a:r>
              <a:rPr lang="en-US" sz="6000" b="1" dirty="0">
                <a:solidFill>
                  <a:srgbClr val="F5EFE0"/>
                </a:solidFill>
                <a:latin typeface="Georgia" pitchFamily="34" charset="0"/>
                <a:ea typeface="Georgia" pitchFamily="34" charset="-122"/>
                <a:cs typeface="Georgia" pitchFamily="34" charset="-120"/>
              </a:rPr>
              <a:t>THE GREAT WALL</a:t>
            </a:r>
            <a:endParaRPr lang="en-US" sz="6000" dirty="0"/>
          </a:p>
        </p:txBody>
      </p:sp>
      <p:sp>
        <p:nvSpPr>
          <p:cNvPr id="7" name="Text 4"/>
          <p:cNvSpPr/>
          <p:nvPr/>
        </p:nvSpPr>
        <p:spPr>
          <a:xfrm>
            <a:off x="914400" y="3063240"/>
            <a:ext cx="10332720" cy="914400"/>
          </a:xfrm>
          <a:prstGeom prst="rect">
            <a:avLst/>
          </a:prstGeom>
          <a:noFill/>
          <a:ln/>
        </p:spPr>
        <p:txBody>
          <a:bodyPr wrap="square" lIns="0" tIns="0" rIns="0" bIns="0" rtlCol="0" anchor="ctr"/>
          <a:lstStyle/>
          <a:p>
            <a:pPr indent="0" marL="0">
              <a:buNone/>
            </a:pPr>
            <a:r>
              <a:rPr lang="en-US" sz="4400" b="1" dirty="0">
                <a:solidFill>
                  <a:srgbClr val="E8C96A"/>
                </a:solidFill>
                <a:latin typeface="Georgia" pitchFamily="34" charset="0"/>
                <a:ea typeface="Georgia" pitchFamily="34" charset="-122"/>
                <a:cs typeface="Georgia" pitchFamily="34" charset="-120"/>
              </a:rPr>
              <a:t>OF CHINA</a:t>
            </a:r>
            <a:endParaRPr lang="en-US" sz="4400" dirty="0"/>
          </a:p>
        </p:txBody>
      </p:sp>
      <p:sp>
        <p:nvSpPr>
          <p:cNvPr id="8" name="Shape 5"/>
          <p:cNvSpPr/>
          <p:nvPr/>
        </p:nvSpPr>
        <p:spPr>
          <a:xfrm>
            <a:off x="960120" y="4160520"/>
            <a:ext cx="2011680" cy="45720"/>
          </a:xfrm>
          <a:prstGeom prst="rect">
            <a:avLst/>
          </a:prstGeom>
          <a:solidFill>
            <a:srgbClr val="D4AF37"/>
          </a:solidFill>
          <a:ln/>
        </p:spPr>
      </p:sp>
      <p:sp>
        <p:nvSpPr>
          <p:cNvPr id="9" name="Text 6"/>
          <p:cNvSpPr/>
          <p:nvPr/>
        </p:nvSpPr>
        <p:spPr>
          <a:xfrm>
            <a:off x="914400" y="4343400"/>
            <a:ext cx="10058400" cy="457200"/>
          </a:xfrm>
          <a:prstGeom prst="rect">
            <a:avLst/>
          </a:prstGeom>
          <a:noFill/>
          <a:ln/>
        </p:spPr>
        <p:txBody>
          <a:bodyPr wrap="square" rtlCol="0" anchor="ctr"/>
          <a:lstStyle/>
          <a:p>
            <a:pPr indent="0" marL="0">
              <a:buNone/>
            </a:pPr>
            <a:r>
              <a:rPr lang="en-US" sz="1500" dirty="0">
                <a:solidFill>
                  <a:srgbClr val="D8CDB4"/>
                </a:solidFill>
                <a:latin typeface="Arial" pitchFamily="34" charset="0"/>
                <a:ea typeface="Arial" pitchFamily="34" charset="-122"/>
                <a:cs typeface="Arial" pitchFamily="34" charset="-120"/>
              </a:rPr>
              <a:t>21,196 km of fortifications · 2,000+ years of history · A UNESCO World Heritage Site since 1987</a:t>
            </a:r>
            <a:endParaRPr lang="en-US" sz="1500" dirty="0"/>
          </a:p>
        </p:txBody>
      </p:sp>
      <p:sp>
        <p:nvSpPr>
          <p:cNvPr id="10" name="Text 7"/>
          <p:cNvSpPr/>
          <p:nvPr/>
        </p:nvSpPr>
        <p:spPr>
          <a:xfrm>
            <a:off x="914400" y="6035040"/>
            <a:ext cx="7315200" cy="320040"/>
          </a:xfrm>
          <a:prstGeom prst="rect">
            <a:avLst/>
          </a:prstGeom>
          <a:noFill/>
          <a:ln/>
        </p:spPr>
        <p:txBody>
          <a:bodyPr wrap="square" rtlCol="0" anchor="ctr"/>
          <a:lstStyle/>
          <a:p>
            <a:pPr indent="0" marL="0">
              <a:buNone/>
            </a:pPr>
            <a:r>
              <a:rPr lang="en-US" sz="1000" i="1" dirty="0">
                <a:solidFill>
                  <a:srgbClr val="D8CDB4"/>
                </a:solidFill>
                <a:latin typeface="Arial" pitchFamily="34" charset="0"/>
                <a:ea typeface="Arial" pitchFamily="34" charset="-122"/>
                <a:cs typeface="Arial" pitchFamily="34" charset="-120"/>
              </a:rPr>
              <a:t>Source: Wikipedia — “Great Wall of China”</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A1410"/>
        </a:solidFill>
      </p:bgPr>
    </p:bg>
    <p:spTree>
      <p:nvGrpSpPr>
        <p:cNvPr id="1" name=""/>
        <p:cNvGrpSpPr/>
        <p:nvPr/>
      </p:nvGrpSpPr>
      <p:grpSpPr>
        <a:xfrm>
          <a:off x="0" y="0"/>
          <a:ext cx="0" cy="0"/>
          <a:chOff x="0" y="0"/>
          <a:chExt cx="0" cy="0"/>
        </a:xfrm>
      </p:grpSpPr>
      <p:sp>
        <p:nvSpPr>
          <p:cNvPr id="2" name="Text 0"/>
          <p:cNvSpPr/>
          <p:nvPr/>
        </p:nvSpPr>
        <p:spPr>
          <a:xfrm>
            <a:off x="548640" y="502920"/>
            <a:ext cx="10972800" cy="320040"/>
          </a:xfrm>
          <a:prstGeom prst="rect">
            <a:avLst/>
          </a:prstGeom>
          <a:noFill/>
          <a:ln/>
        </p:spPr>
        <p:txBody>
          <a:bodyPr wrap="square" rtlCol="0" anchor="ctr"/>
          <a:lstStyle/>
          <a:p>
            <a:pPr indent="0" marL="0">
              <a:buNone/>
            </a:pPr>
            <a:r>
              <a:rPr lang="en-US" sz="1200" b="1" spc="300" kern="0" dirty="0">
                <a:solidFill>
                  <a:srgbClr val="D4AF37"/>
                </a:solidFill>
                <a:latin typeface="Georgia" pitchFamily="34" charset="0"/>
                <a:ea typeface="Georgia" pitchFamily="34" charset="-122"/>
                <a:cs typeface="Georgia" pitchFamily="34" charset="-120"/>
              </a:rPr>
              <a:t>OVERVIEW</a:t>
            </a:r>
            <a:endParaRPr lang="en-US" sz="1200" dirty="0"/>
          </a:p>
        </p:txBody>
      </p:sp>
      <p:sp>
        <p:nvSpPr>
          <p:cNvPr id="3" name="Text 1"/>
          <p:cNvSpPr/>
          <p:nvPr/>
        </p:nvSpPr>
        <p:spPr>
          <a:xfrm>
            <a:off x="548640" y="868680"/>
            <a:ext cx="11064240" cy="822960"/>
          </a:xfrm>
          <a:prstGeom prst="rect">
            <a:avLst/>
          </a:prstGeom>
          <a:noFill/>
          <a:ln/>
        </p:spPr>
        <p:txBody>
          <a:bodyPr wrap="square" lIns="0" tIns="0" rIns="0" bIns="0" rtlCol="0" anchor="ctr"/>
          <a:lstStyle/>
          <a:p>
            <a:pPr indent="0" marL="0">
              <a:buNone/>
            </a:pPr>
            <a:r>
              <a:rPr lang="en-US" sz="3400" b="1" dirty="0">
                <a:solidFill>
                  <a:srgbClr val="F5EFE0"/>
                </a:solidFill>
                <a:latin typeface="Georgia" pitchFamily="34" charset="0"/>
                <a:ea typeface="Georgia" pitchFamily="34" charset="-122"/>
                <a:cs typeface="Georgia" pitchFamily="34" charset="-120"/>
              </a:rPr>
              <a:t>A Monument Across Time</a:t>
            </a:r>
            <a:endParaRPr lang="en-US" sz="3400" dirty="0"/>
          </a:p>
        </p:txBody>
      </p:sp>
      <p:sp>
        <p:nvSpPr>
          <p:cNvPr id="4" name="Shape 2"/>
          <p:cNvSpPr/>
          <p:nvPr/>
        </p:nvSpPr>
        <p:spPr>
          <a:xfrm>
            <a:off x="566928" y="1783080"/>
            <a:ext cx="1463040" cy="41148"/>
          </a:xfrm>
          <a:prstGeom prst="rect">
            <a:avLst/>
          </a:prstGeom>
          <a:solidFill>
            <a:srgbClr val="D4AF37"/>
          </a:solidFill>
          <a:ln/>
        </p:spPr>
      </p:sp>
      <p:sp>
        <p:nvSpPr>
          <p:cNvPr id="5" name="Text 3"/>
          <p:cNvSpPr/>
          <p:nvPr/>
        </p:nvSpPr>
        <p:spPr>
          <a:xfrm>
            <a:off x="640080" y="2148840"/>
            <a:ext cx="914400" cy="548640"/>
          </a:xfrm>
          <a:prstGeom prst="rect">
            <a:avLst/>
          </a:prstGeom>
          <a:noFill/>
          <a:ln/>
        </p:spPr>
        <p:txBody>
          <a:bodyPr wrap="square" rtlCol="0" anchor="ctr"/>
          <a:lstStyle/>
          <a:p>
            <a:pPr indent="0" marL="0">
              <a:buNone/>
            </a:pPr>
            <a:r>
              <a:rPr lang="en-US" sz="2200" b="1" dirty="0">
                <a:solidFill>
                  <a:srgbClr val="D4AF37"/>
                </a:solidFill>
                <a:latin typeface="Georgia" pitchFamily="34" charset="0"/>
                <a:ea typeface="Georgia" pitchFamily="34" charset="-122"/>
                <a:cs typeface="Georgia" pitchFamily="34" charset="-120"/>
              </a:rPr>
              <a:t>01</a:t>
            </a:r>
            <a:endParaRPr lang="en-US" sz="2200" dirty="0"/>
          </a:p>
        </p:txBody>
      </p:sp>
      <p:sp>
        <p:nvSpPr>
          <p:cNvPr id="6" name="Text 4"/>
          <p:cNvSpPr/>
          <p:nvPr/>
        </p:nvSpPr>
        <p:spPr>
          <a:xfrm>
            <a:off x="1691640" y="2148840"/>
            <a:ext cx="2926080" cy="548640"/>
          </a:xfrm>
          <a:prstGeom prst="rect">
            <a:avLst/>
          </a:prstGeom>
          <a:noFill/>
          <a:ln/>
        </p:spPr>
        <p:txBody>
          <a:bodyPr wrap="square" rtlCol="0" anchor="ctr"/>
          <a:lstStyle/>
          <a:p>
            <a:pPr indent="0" marL="0">
              <a:buNone/>
            </a:pPr>
            <a:r>
              <a:rPr lang="en-US" sz="1600" b="1" dirty="0">
                <a:solidFill>
                  <a:srgbClr val="F5EFE0"/>
                </a:solidFill>
                <a:latin typeface="Georgia" pitchFamily="34" charset="0"/>
                <a:ea typeface="Georgia" pitchFamily="34" charset="-122"/>
                <a:cs typeface="Georgia" pitchFamily="34" charset="-120"/>
              </a:rPr>
              <a:t>History</a:t>
            </a:r>
            <a:endParaRPr lang="en-US" sz="1600" dirty="0"/>
          </a:p>
        </p:txBody>
      </p:sp>
      <p:sp>
        <p:nvSpPr>
          <p:cNvPr id="7" name="Text 5"/>
          <p:cNvSpPr/>
          <p:nvPr/>
        </p:nvSpPr>
        <p:spPr>
          <a:xfrm>
            <a:off x="4754880" y="2148840"/>
            <a:ext cx="6766560" cy="685800"/>
          </a:xfrm>
          <a:prstGeom prst="rect">
            <a:avLst/>
          </a:prstGeom>
          <a:noFill/>
          <a:ln/>
        </p:spPr>
        <p:txBody>
          <a:bodyPr wrap="square" rtlCol="0" anchor="t"/>
          <a:lstStyle/>
          <a:p>
            <a:pPr indent="0" marL="0">
              <a:buNone/>
            </a:pPr>
            <a:r>
              <a:rPr lang="en-US" sz="1200" dirty="0">
                <a:solidFill>
                  <a:srgbClr val="D8CDB4"/>
                </a:solidFill>
                <a:latin typeface="Arial" pitchFamily="34" charset="0"/>
                <a:ea typeface="Arial" pitchFamily="34" charset="-122"/>
                <a:cs typeface="Arial" pitchFamily="34" charset="-120"/>
              </a:rPr>
              <a:t>From 7th-century BC rammed-earth walls to the brick fortifications of the Ming dynasty.</a:t>
            </a:r>
            <a:endParaRPr lang="en-US" sz="1200" dirty="0"/>
          </a:p>
        </p:txBody>
      </p:sp>
      <p:sp>
        <p:nvSpPr>
          <p:cNvPr id="8" name="Shape 6"/>
          <p:cNvSpPr/>
          <p:nvPr/>
        </p:nvSpPr>
        <p:spPr>
          <a:xfrm>
            <a:off x="1691640" y="2807208"/>
            <a:ext cx="9875520" cy="10973"/>
          </a:xfrm>
          <a:prstGeom prst="rect">
            <a:avLst/>
          </a:prstGeom>
          <a:solidFill>
            <a:srgbClr val="3A2E22"/>
          </a:solidFill>
          <a:ln/>
        </p:spPr>
      </p:sp>
      <p:sp>
        <p:nvSpPr>
          <p:cNvPr id="9" name="Text 7"/>
          <p:cNvSpPr/>
          <p:nvPr/>
        </p:nvSpPr>
        <p:spPr>
          <a:xfrm>
            <a:off x="640080" y="2990088"/>
            <a:ext cx="914400" cy="548640"/>
          </a:xfrm>
          <a:prstGeom prst="rect">
            <a:avLst/>
          </a:prstGeom>
          <a:noFill/>
          <a:ln/>
        </p:spPr>
        <p:txBody>
          <a:bodyPr wrap="square" rtlCol="0" anchor="ctr"/>
          <a:lstStyle/>
          <a:p>
            <a:pPr indent="0" marL="0">
              <a:buNone/>
            </a:pPr>
            <a:r>
              <a:rPr lang="en-US" sz="2200" b="1" dirty="0">
                <a:solidFill>
                  <a:srgbClr val="D4AF37"/>
                </a:solidFill>
                <a:latin typeface="Georgia" pitchFamily="34" charset="0"/>
                <a:ea typeface="Georgia" pitchFamily="34" charset="-122"/>
                <a:cs typeface="Georgia" pitchFamily="34" charset="-120"/>
              </a:rPr>
              <a:t>02</a:t>
            </a:r>
            <a:endParaRPr lang="en-US" sz="2200" dirty="0"/>
          </a:p>
        </p:txBody>
      </p:sp>
      <p:sp>
        <p:nvSpPr>
          <p:cNvPr id="10" name="Text 8"/>
          <p:cNvSpPr/>
          <p:nvPr/>
        </p:nvSpPr>
        <p:spPr>
          <a:xfrm>
            <a:off x="1691640" y="2990088"/>
            <a:ext cx="2926080" cy="548640"/>
          </a:xfrm>
          <a:prstGeom prst="rect">
            <a:avLst/>
          </a:prstGeom>
          <a:noFill/>
          <a:ln/>
        </p:spPr>
        <p:txBody>
          <a:bodyPr wrap="square" rtlCol="0" anchor="ctr"/>
          <a:lstStyle/>
          <a:p>
            <a:pPr indent="0" marL="0">
              <a:buNone/>
            </a:pPr>
            <a:r>
              <a:rPr lang="en-US" sz="1600" b="1" dirty="0">
                <a:solidFill>
                  <a:srgbClr val="F5EFE0"/>
                </a:solidFill>
                <a:latin typeface="Georgia" pitchFamily="34" charset="0"/>
                <a:ea typeface="Georgia" pitchFamily="34" charset="-122"/>
                <a:cs typeface="Georgia" pitchFamily="34" charset="-120"/>
              </a:rPr>
              <a:t>Architecture</a:t>
            </a:r>
            <a:endParaRPr lang="en-US" sz="1600" dirty="0"/>
          </a:p>
        </p:txBody>
      </p:sp>
      <p:sp>
        <p:nvSpPr>
          <p:cNvPr id="11" name="Text 9"/>
          <p:cNvSpPr/>
          <p:nvPr/>
        </p:nvSpPr>
        <p:spPr>
          <a:xfrm>
            <a:off x="4754880" y="2990088"/>
            <a:ext cx="6766560" cy="685800"/>
          </a:xfrm>
          <a:prstGeom prst="rect">
            <a:avLst/>
          </a:prstGeom>
          <a:noFill/>
          <a:ln/>
        </p:spPr>
        <p:txBody>
          <a:bodyPr wrap="square" rtlCol="0" anchor="t"/>
          <a:lstStyle/>
          <a:p>
            <a:pPr indent="0" marL="0">
              <a:buNone/>
            </a:pPr>
            <a:r>
              <a:rPr lang="en-US" sz="1200" dirty="0">
                <a:solidFill>
                  <a:srgbClr val="D8CDB4"/>
                </a:solidFill>
                <a:latin typeface="Arial" pitchFamily="34" charset="0"/>
                <a:ea typeface="Arial" pitchFamily="34" charset="-122"/>
                <a:cs typeface="Arial" pitchFamily="34" charset="-120"/>
              </a:rPr>
              <a:t>Watchtowers, signal beacons, barracks and sticky-rice mortar that bound the stones together.</a:t>
            </a:r>
            <a:endParaRPr lang="en-US" sz="1200" dirty="0"/>
          </a:p>
        </p:txBody>
      </p:sp>
      <p:sp>
        <p:nvSpPr>
          <p:cNvPr id="12" name="Shape 10"/>
          <p:cNvSpPr/>
          <p:nvPr/>
        </p:nvSpPr>
        <p:spPr>
          <a:xfrm>
            <a:off x="1691640" y="3648456"/>
            <a:ext cx="9875520" cy="10973"/>
          </a:xfrm>
          <a:prstGeom prst="rect">
            <a:avLst/>
          </a:prstGeom>
          <a:solidFill>
            <a:srgbClr val="3A2E22"/>
          </a:solidFill>
          <a:ln/>
        </p:spPr>
      </p:sp>
      <p:sp>
        <p:nvSpPr>
          <p:cNvPr id="13" name="Text 11"/>
          <p:cNvSpPr/>
          <p:nvPr/>
        </p:nvSpPr>
        <p:spPr>
          <a:xfrm>
            <a:off x="640080" y="3831336"/>
            <a:ext cx="914400" cy="548640"/>
          </a:xfrm>
          <a:prstGeom prst="rect">
            <a:avLst/>
          </a:prstGeom>
          <a:noFill/>
          <a:ln/>
        </p:spPr>
        <p:txBody>
          <a:bodyPr wrap="square" rtlCol="0" anchor="ctr"/>
          <a:lstStyle/>
          <a:p>
            <a:pPr indent="0" marL="0">
              <a:buNone/>
            </a:pPr>
            <a:r>
              <a:rPr lang="en-US" sz="2200" b="1" dirty="0">
                <a:solidFill>
                  <a:srgbClr val="D4AF37"/>
                </a:solidFill>
                <a:latin typeface="Georgia" pitchFamily="34" charset="0"/>
                <a:ea typeface="Georgia" pitchFamily="34" charset="-122"/>
                <a:cs typeface="Georgia" pitchFamily="34" charset="-120"/>
              </a:rPr>
              <a:t>03</a:t>
            </a:r>
            <a:endParaRPr lang="en-US" sz="2200" dirty="0"/>
          </a:p>
        </p:txBody>
      </p:sp>
      <p:sp>
        <p:nvSpPr>
          <p:cNvPr id="14" name="Text 12"/>
          <p:cNvSpPr/>
          <p:nvPr/>
        </p:nvSpPr>
        <p:spPr>
          <a:xfrm>
            <a:off x="1691640" y="3831336"/>
            <a:ext cx="2926080" cy="548640"/>
          </a:xfrm>
          <a:prstGeom prst="rect">
            <a:avLst/>
          </a:prstGeom>
          <a:noFill/>
          <a:ln/>
        </p:spPr>
        <p:txBody>
          <a:bodyPr wrap="square" rtlCol="0" anchor="ctr"/>
          <a:lstStyle/>
          <a:p>
            <a:pPr indent="0" marL="0">
              <a:buNone/>
            </a:pPr>
            <a:r>
              <a:rPr lang="en-US" sz="1600" b="1" dirty="0">
                <a:solidFill>
                  <a:srgbClr val="F5EFE0"/>
                </a:solidFill>
                <a:latin typeface="Georgia" pitchFamily="34" charset="0"/>
                <a:ea typeface="Georgia" pitchFamily="34" charset="-122"/>
                <a:cs typeface="Georgia" pitchFamily="34" charset="-120"/>
              </a:rPr>
              <a:t>Condition</a:t>
            </a:r>
            <a:endParaRPr lang="en-US" sz="1600" dirty="0"/>
          </a:p>
        </p:txBody>
      </p:sp>
      <p:sp>
        <p:nvSpPr>
          <p:cNvPr id="15" name="Text 13"/>
          <p:cNvSpPr/>
          <p:nvPr/>
        </p:nvSpPr>
        <p:spPr>
          <a:xfrm>
            <a:off x="4754880" y="3831336"/>
            <a:ext cx="6766560" cy="685800"/>
          </a:xfrm>
          <a:prstGeom prst="rect">
            <a:avLst/>
          </a:prstGeom>
          <a:noFill/>
          <a:ln/>
        </p:spPr>
        <p:txBody>
          <a:bodyPr wrap="square" rtlCol="0" anchor="t"/>
          <a:lstStyle/>
          <a:p>
            <a:pPr indent="0" marL="0">
              <a:buNone/>
            </a:pPr>
            <a:r>
              <a:rPr lang="en-US" sz="1200" dirty="0">
                <a:solidFill>
                  <a:srgbClr val="D8CDB4"/>
                </a:solidFill>
                <a:latin typeface="Arial" pitchFamily="34" charset="0"/>
                <a:ea typeface="Arial" pitchFamily="34" charset="-122"/>
                <a:cs typeface="Arial" pitchFamily="34" charset="-120"/>
              </a:rPr>
              <a:t>22% of the Ming wall has vanished; conservation remains a global challenge.</a:t>
            </a:r>
            <a:endParaRPr lang="en-US" sz="1200" dirty="0"/>
          </a:p>
        </p:txBody>
      </p:sp>
      <p:sp>
        <p:nvSpPr>
          <p:cNvPr id="16" name="Shape 14"/>
          <p:cNvSpPr/>
          <p:nvPr/>
        </p:nvSpPr>
        <p:spPr>
          <a:xfrm>
            <a:off x="1691640" y="4489704"/>
            <a:ext cx="9875520" cy="10973"/>
          </a:xfrm>
          <a:prstGeom prst="rect">
            <a:avLst/>
          </a:prstGeom>
          <a:solidFill>
            <a:srgbClr val="3A2E22"/>
          </a:solidFill>
          <a:ln/>
        </p:spPr>
      </p:sp>
      <p:sp>
        <p:nvSpPr>
          <p:cNvPr id="17" name="Text 15"/>
          <p:cNvSpPr/>
          <p:nvPr/>
        </p:nvSpPr>
        <p:spPr>
          <a:xfrm>
            <a:off x="640080" y="4672584"/>
            <a:ext cx="914400" cy="548640"/>
          </a:xfrm>
          <a:prstGeom prst="rect">
            <a:avLst/>
          </a:prstGeom>
          <a:noFill/>
          <a:ln/>
        </p:spPr>
        <p:txBody>
          <a:bodyPr wrap="square" rtlCol="0" anchor="ctr"/>
          <a:lstStyle/>
          <a:p>
            <a:pPr indent="0" marL="0">
              <a:buNone/>
            </a:pPr>
            <a:r>
              <a:rPr lang="en-US" sz="2200" b="1" dirty="0">
                <a:solidFill>
                  <a:srgbClr val="D4AF37"/>
                </a:solidFill>
                <a:latin typeface="Georgia" pitchFamily="34" charset="0"/>
                <a:ea typeface="Georgia" pitchFamily="34" charset="-122"/>
                <a:cs typeface="Georgia" pitchFamily="34" charset="-120"/>
              </a:rPr>
              <a:t>04</a:t>
            </a:r>
            <a:endParaRPr lang="en-US" sz="2200" dirty="0"/>
          </a:p>
        </p:txBody>
      </p:sp>
      <p:sp>
        <p:nvSpPr>
          <p:cNvPr id="18" name="Text 16"/>
          <p:cNvSpPr/>
          <p:nvPr/>
        </p:nvSpPr>
        <p:spPr>
          <a:xfrm>
            <a:off x="1691640" y="4672584"/>
            <a:ext cx="2926080" cy="548640"/>
          </a:xfrm>
          <a:prstGeom prst="rect">
            <a:avLst/>
          </a:prstGeom>
          <a:noFill/>
          <a:ln/>
        </p:spPr>
        <p:txBody>
          <a:bodyPr wrap="square" rtlCol="0" anchor="ctr"/>
          <a:lstStyle/>
          <a:p>
            <a:pPr indent="0" marL="0">
              <a:buNone/>
            </a:pPr>
            <a:r>
              <a:rPr lang="en-US" sz="1600" b="1" dirty="0">
                <a:solidFill>
                  <a:srgbClr val="F5EFE0"/>
                </a:solidFill>
                <a:latin typeface="Georgia" pitchFamily="34" charset="0"/>
                <a:ea typeface="Georgia" pitchFamily="34" charset="-122"/>
                <a:cs typeface="Georgia" pitchFamily="34" charset="-120"/>
              </a:rPr>
              <a:t>From Space</a:t>
            </a:r>
            <a:endParaRPr lang="en-US" sz="1600" dirty="0"/>
          </a:p>
        </p:txBody>
      </p:sp>
      <p:sp>
        <p:nvSpPr>
          <p:cNvPr id="19" name="Text 17"/>
          <p:cNvSpPr/>
          <p:nvPr/>
        </p:nvSpPr>
        <p:spPr>
          <a:xfrm>
            <a:off x="4754880" y="4672584"/>
            <a:ext cx="6766560" cy="685800"/>
          </a:xfrm>
          <a:prstGeom prst="rect">
            <a:avLst/>
          </a:prstGeom>
          <a:noFill/>
          <a:ln/>
        </p:spPr>
        <p:txBody>
          <a:bodyPr wrap="square" rtlCol="0" anchor="t"/>
          <a:lstStyle/>
          <a:p>
            <a:pPr indent="0" marL="0">
              <a:buNone/>
            </a:pPr>
            <a:r>
              <a:rPr lang="en-US" sz="1200" dirty="0">
                <a:solidFill>
                  <a:srgbClr val="D8CDB4"/>
                </a:solidFill>
                <a:latin typeface="Arial" pitchFamily="34" charset="0"/>
                <a:ea typeface="Arial" pitchFamily="34" charset="-122"/>
                <a:cs typeface="Arial" pitchFamily="34" charset="-120"/>
              </a:rPr>
              <a:t>A myth examined — can the Great Wall really be seen from the Moon?</a:t>
            </a:r>
            <a:endParaRPr lang="en-US" sz="1200" dirty="0"/>
          </a:p>
        </p:txBody>
      </p:sp>
      <p:sp>
        <p:nvSpPr>
          <p:cNvPr id="20" name="Shape 18"/>
          <p:cNvSpPr/>
          <p:nvPr/>
        </p:nvSpPr>
        <p:spPr>
          <a:xfrm>
            <a:off x="1691640" y="5330952"/>
            <a:ext cx="9875520" cy="10973"/>
          </a:xfrm>
          <a:prstGeom prst="rect">
            <a:avLst/>
          </a:prstGeom>
          <a:solidFill>
            <a:srgbClr val="3A2E22"/>
          </a:solidFill>
          <a:ln/>
        </p:spPr>
      </p:sp>
      <p:sp>
        <p:nvSpPr>
          <p:cNvPr id="21" name="Text 19"/>
          <p:cNvSpPr/>
          <p:nvPr/>
        </p:nvSpPr>
        <p:spPr>
          <a:xfrm>
            <a:off x="640080" y="5513832"/>
            <a:ext cx="914400" cy="548640"/>
          </a:xfrm>
          <a:prstGeom prst="rect">
            <a:avLst/>
          </a:prstGeom>
          <a:noFill/>
          <a:ln/>
        </p:spPr>
        <p:txBody>
          <a:bodyPr wrap="square" rtlCol="0" anchor="ctr"/>
          <a:lstStyle/>
          <a:p>
            <a:pPr indent="0" marL="0">
              <a:buNone/>
            </a:pPr>
            <a:r>
              <a:rPr lang="en-US" sz="2200" b="1" dirty="0">
                <a:solidFill>
                  <a:srgbClr val="D4AF37"/>
                </a:solidFill>
                <a:latin typeface="Georgia" pitchFamily="34" charset="0"/>
                <a:ea typeface="Georgia" pitchFamily="34" charset="-122"/>
                <a:cs typeface="Georgia" pitchFamily="34" charset="-120"/>
              </a:rPr>
              <a:t>05</a:t>
            </a:r>
            <a:endParaRPr lang="en-US" sz="2200" dirty="0"/>
          </a:p>
        </p:txBody>
      </p:sp>
      <p:sp>
        <p:nvSpPr>
          <p:cNvPr id="22" name="Text 20"/>
          <p:cNvSpPr/>
          <p:nvPr/>
        </p:nvSpPr>
        <p:spPr>
          <a:xfrm>
            <a:off x="1691640" y="5513832"/>
            <a:ext cx="2926080" cy="548640"/>
          </a:xfrm>
          <a:prstGeom prst="rect">
            <a:avLst/>
          </a:prstGeom>
          <a:noFill/>
          <a:ln/>
        </p:spPr>
        <p:txBody>
          <a:bodyPr wrap="square" rtlCol="0" anchor="ctr"/>
          <a:lstStyle/>
          <a:p>
            <a:pPr indent="0" marL="0">
              <a:buNone/>
            </a:pPr>
            <a:r>
              <a:rPr lang="en-US" sz="1600" b="1" dirty="0">
                <a:solidFill>
                  <a:srgbClr val="F5EFE0"/>
                </a:solidFill>
                <a:latin typeface="Georgia" pitchFamily="34" charset="0"/>
                <a:ea typeface="Georgia" pitchFamily="34" charset="-122"/>
                <a:cs typeface="Georgia" pitchFamily="34" charset="-120"/>
              </a:rPr>
              <a:t>World Heritage</a:t>
            </a:r>
            <a:endParaRPr lang="en-US" sz="1600" dirty="0"/>
          </a:p>
        </p:txBody>
      </p:sp>
      <p:sp>
        <p:nvSpPr>
          <p:cNvPr id="23" name="Text 21"/>
          <p:cNvSpPr/>
          <p:nvPr/>
        </p:nvSpPr>
        <p:spPr>
          <a:xfrm>
            <a:off x="4754880" y="5513832"/>
            <a:ext cx="6766560" cy="685800"/>
          </a:xfrm>
          <a:prstGeom prst="rect">
            <a:avLst/>
          </a:prstGeom>
          <a:noFill/>
          <a:ln/>
        </p:spPr>
        <p:txBody>
          <a:bodyPr wrap="square" rtlCol="0" anchor="t"/>
          <a:lstStyle/>
          <a:p>
            <a:pPr indent="0" marL="0">
              <a:buNone/>
            </a:pPr>
            <a:r>
              <a:rPr lang="en-US" sz="1200" dirty="0">
                <a:solidFill>
                  <a:srgbClr val="D8CDB4"/>
                </a:solidFill>
                <a:latin typeface="Arial" pitchFamily="34" charset="0"/>
                <a:ea typeface="Arial" pitchFamily="34" charset="-122"/>
                <a:cs typeface="Arial" pitchFamily="34" charset="-120"/>
              </a:rPr>
              <a:t>Inscribed by UNESCO in 1987; voted one of the New 7 Wonders in 2007.</a:t>
            </a:r>
            <a:endParaRPr lang="en-US" sz="1200" dirty="0"/>
          </a:p>
        </p:txBody>
      </p:sp>
      <p:sp>
        <p:nvSpPr>
          <p:cNvPr id="24" name="Text 22"/>
          <p:cNvSpPr/>
          <p:nvPr/>
        </p:nvSpPr>
        <p:spPr>
          <a:xfrm>
            <a:off x="548640" y="6446520"/>
            <a:ext cx="5486400" cy="274320"/>
          </a:xfrm>
          <a:prstGeom prst="rect">
            <a:avLst/>
          </a:prstGeom>
          <a:noFill/>
          <a:ln/>
        </p:spPr>
        <p:txBody>
          <a:bodyPr wrap="square" rtlCol="0" anchor="ctr"/>
          <a:lstStyle/>
          <a:p>
            <a:pPr indent="0" marL="0">
              <a:buNone/>
            </a:pPr>
            <a:r>
              <a:rPr lang="en-US" sz="800" spc="200" kern="0" dirty="0">
                <a:solidFill>
                  <a:srgbClr val="D8CDB4"/>
                </a:solidFill>
                <a:latin typeface="Arial" pitchFamily="34" charset="0"/>
                <a:ea typeface="Arial" pitchFamily="34" charset="-122"/>
                <a:cs typeface="Arial" pitchFamily="34" charset="-120"/>
              </a:rPr>
              <a:t>THE GREAT WALL OF CHINA</a:t>
            </a:r>
            <a:endParaRPr lang="en-US" sz="800" dirty="0"/>
          </a:p>
        </p:txBody>
      </p:sp>
      <p:sp>
        <p:nvSpPr>
          <p:cNvPr id="25" name="Text 23"/>
          <p:cNvSpPr/>
          <p:nvPr/>
        </p:nvSpPr>
        <p:spPr>
          <a:xfrm>
            <a:off x="11155680" y="6446520"/>
            <a:ext cx="548640" cy="274320"/>
          </a:xfrm>
          <a:prstGeom prst="rect">
            <a:avLst/>
          </a:prstGeom>
          <a:noFill/>
          <a:ln/>
        </p:spPr>
        <p:txBody>
          <a:bodyPr wrap="square" rtlCol="0" anchor="ctr"/>
          <a:lstStyle/>
          <a:p>
            <a:pPr algn="r" indent="0" marL="0">
              <a:buNone/>
            </a:pPr>
            <a:r>
              <a:rPr lang="en-US" sz="900" dirty="0">
                <a:solidFill>
                  <a:srgbClr val="D4AF37"/>
                </a:solidFill>
                <a:latin typeface="Georgia" pitchFamily="34" charset="0"/>
                <a:ea typeface="Georgia" pitchFamily="34" charset="-122"/>
                <a:cs typeface="Georgia"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1410"/>
        </a:solidFill>
      </p:bgPr>
    </p:bg>
    <p:spTree>
      <p:nvGrpSpPr>
        <p:cNvPr id="1" name=""/>
        <p:cNvGrpSpPr/>
        <p:nvPr/>
      </p:nvGrpSpPr>
      <p:grpSpPr>
        <a:xfrm>
          <a:off x="0" y="0"/>
          <a:ext cx="0" cy="0"/>
          <a:chOff x="0" y="0"/>
          <a:chExt cx="0" cy="0"/>
        </a:xfrm>
      </p:grpSpPr>
      <p:sp>
        <p:nvSpPr>
          <p:cNvPr id="2" name="Text 0"/>
          <p:cNvSpPr/>
          <p:nvPr/>
        </p:nvSpPr>
        <p:spPr>
          <a:xfrm>
            <a:off x="548640" y="502920"/>
            <a:ext cx="10972800" cy="320040"/>
          </a:xfrm>
          <a:prstGeom prst="rect">
            <a:avLst/>
          </a:prstGeom>
          <a:noFill/>
          <a:ln/>
        </p:spPr>
        <p:txBody>
          <a:bodyPr wrap="square" rtlCol="0" anchor="ctr"/>
          <a:lstStyle/>
          <a:p>
            <a:pPr indent="0" marL="0">
              <a:buNone/>
            </a:pPr>
            <a:r>
              <a:rPr lang="en-US" sz="1200" b="1" spc="300" kern="0" dirty="0">
                <a:solidFill>
                  <a:srgbClr val="D4AF37"/>
                </a:solidFill>
                <a:latin typeface="Georgia" pitchFamily="34" charset="0"/>
                <a:ea typeface="Georgia" pitchFamily="34" charset="-122"/>
                <a:cs typeface="Georgia" pitchFamily="34" charset="-120"/>
              </a:rPr>
              <a:t>KEY FACTS</a:t>
            </a:r>
            <a:endParaRPr lang="en-US" sz="1200" dirty="0"/>
          </a:p>
        </p:txBody>
      </p:sp>
      <p:sp>
        <p:nvSpPr>
          <p:cNvPr id="3" name="Text 1"/>
          <p:cNvSpPr/>
          <p:nvPr/>
        </p:nvSpPr>
        <p:spPr>
          <a:xfrm>
            <a:off x="548640" y="868680"/>
            <a:ext cx="11064240" cy="822960"/>
          </a:xfrm>
          <a:prstGeom prst="rect">
            <a:avLst/>
          </a:prstGeom>
          <a:noFill/>
          <a:ln/>
        </p:spPr>
        <p:txBody>
          <a:bodyPr wrap="square" lIns="0" tIns="0" rIns="0" bIns="0" rtlCol="0" anchor="ctr"/>
          <a:lstStyle/>
          <a:p>
            <a:pPr indent="0" marL="0">
              <a:buNone/>
            </a:pPr>
            <a:r>
              <a:rPr lang="en-US" sz="3400" b="1" dirty="0">
                <a:solidFill>
                  <a:srgbClr val="F5EFE0"/>
                </a:solidFill>
                <a:latin typeface="Georgia" pitchFamily="34" charset="0"/>
                <a:ea typeface="Georgia" pitchFamily="34" charset="-122"/>
                <a:cs typeface="Georgia" pitchFamily="34" charset="-120"/>
              </a:rPr>
              <a:t>The Wall in Numbers</a:t>
            </a:r>
            <a:endParaRPr lang="en-US" sz="3400" dirty="0"/>
          </a:p>
        </p:txBody>
      </p:sp>
      <p:sp>
        <p:nvSpPr>
          <p:cNvPr id="4" name="Shape 2"/>
          <p:cNvSpPr/>
          <p:nvPr/>
        </p:nvSpPr>
        <p:spPr>
          <a:xfrm>
            <a:off x="566928" y="1783080"/>
            <a:ext cx="1463040" cy="41148"/>
          </a:xfrm>
          <a:prstGeom prst="rect">
            <a:avLst/>
          </a:prstGeom>
          <a:solidFill>
            <a:srgbClr val="D4AF37"/>
          </a:solidFill>
          <a:ln/>
        </p:spPr>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40080" y="2057400"/>
          <a:ext cx="10881360" cy="4114800"/>
        </p:xfrm>
        <a:graphic>
          <a:graphicData uri="http://schemas.openxmlformats.org/drawingml/2006/table">
            <a:tbl>
              <a:tblPr/>
              <a:tblGrid>
                <a:gridCol w="2926080"/>
                <a:gridCol w="7955280"/>
              </a:tblGrid>
              <a:tr h="384048">
                <a:tc>
                  <a:txBody>
                    <a:bodyPr/>
                    <a:lstStyle/>
                    <a:p>
                      <a:pPr indent="0" marL="0">
                        <a:buNone/>
                      </a:pPr>
                      <a:r>
                        <a:rPr lang="en-US" sz="1200" b="1" dirty="0">
                          <a:solidFill>
                            <a:srgbClr val="1A1410"/>
                          </a:solidFill>
                          <a:latin typeface="Arial" pitchFamily="34" charset="0"/>
                          <a:ea typeface="Arial" pitchFamily="34" charset="-122"/>
                          <a:cs typeface="Arial" pitchFamily="34" charset="-120"/>
                        </a:rPr>
                        <a:t>Field</a:t>
                      </a:r>
                      <a:endParaRPr lang="en-US" sz="1200" dirty="0">
                        <a:latin typeface="Arial" charset="0"/>
                        <a:ea typeface="Arial" charset="0"/>
                        <a:cs typeface="Arial" charset="0"/>
                      </a:endParaRPr>
                    </a:p>
                  </a:txBody>
                  <a:tcPr marL="91440" marR="91440" marT="45720" marB="45720" anchor="ctr">
                    <a:lnL w="6350" cap="flat" cmpd="sng" algn="ctr">
                      <a:solidFill>
                        <a:srgbClr val="4A3A28"/>
                      </a:solidFill>
                      <a:prstDash val="solid"/>
                      <a:round/>
                      <a:headEnd type="none" w="med" len="med"/>
                      <a:tailEnd type="none" w="med" len="med"/>
                    </a:lnL>
                    <a:lnR w="6350" cap="flat" cmpd="sng" algn="ctr">
                      <a:solidFill>
                        <a:srgbClr val="4A3A28"/>
                      </a:solidFill>
                      <a:prstDash val="solid"/>
                      <a:round/>
                      <a:headEnd type="none" w="med" len="med"/>
                      <a:tailEnd type="none" w="med" len="med"/>
                    </a:lnR>
                    <a:lnT w="6350" cap="flat" cmpd="sng" algn="ctr">
                      <a:solidFill>
                        <a:srgbClr val="4A3A28"/>
                      </a:solidFill>
                      <a:prstDash val="solid"/>
                      <a:round/>
                      <a:headEnd type="none" w="med" len="med"/>
                      <a:tailEnd type="none" w="med" len="med"/>
                    </a:lnT>
                    <a:lnB w="6350" cap="flat" cmpd="sng" algn="ctr">
                      <a:solidFill>
                        <a:srgbClr val="4A3A28"/>
                      </a:solidFill>
                      <a:prstDash val="solid"/>
                      <a:round/>
                      <a:headEnd type="none" w="med" len="med"/>
                      <a:tailEnd type="none" w="med" len="med"/>
                    </a:lnB>
                    <a:solidFill>
                      <a:srgbClr val="D4AF37"/>
                    </a:solidFill>
                  </a:tcPr>
                </a:tc>
                <a:tc>
                  <a:txBody>
                    <a:bodyPr/>
                    <a:lstStyle/>
                    <a:p>
                      <a:pPr indent="0" marL="0">
                        <a:buNone/>
                      </a:pPr>
                      <a:r>
                        <a:rPr lang="en-US" sz="1200" b="1" dirty="0">
                          <a:solidFill>
                            <a:srgbClr val="1A1410"/>
                          </a:solidFill>
                          <a:latin typeface="Arial" pitchFamily="34" charset="0"/>
                          <a:ea typeface="Arial" pitchFamily="34" charset="-122"/>
                          <a:cs typeface="Arial" pitchFamily="34" charset="-120"/>
                        </a:rPr>
                        <a:t>Value</a:t>
                      </a:r>
                      <a:endParaRPr lang="en-US" sz="1200" dirty="0">
                        <a:latin typeface="Arial" charset="0"/>
                        <a:ea typeface="Arial" charset="0"/>
                        <a:cs typeface="Arial" charset="0"/>
                      </a:endParaRPr>
                    </a:p>
                  </a:txBody>
                  <a:tcPr marL="91440" marR="91440" marT="45720" marB="45720" anchor="ctr">
                    <a:lnL w="6350" cap="flat" cmpd="sng" algn="ctr">
                      <a:solidFill>
                        <a:srgbClr val="4A3A28"/>
                      </a:solidFill>
                      <a:prstDash val="solid"/>
                      <a:round/>
                      <a:headEnd type="none" w="med" len="med"/>
                      <a:tailEnd type="none" w="med" len="med"/>
                    </a:lnL>
                    <a:lnR w="6350" cap="flat" cmpd="sng" algn="ctr">
                      <a:solidFill>
                        <a:srgbClr val="4A3A28"/>
                      </a:solidFill>
                      <a:prstDash val="solid"/>
                      <a:round/>
                      <a:headEnd type="none" w="med" len="med"/>
                      <a:tailEnd type="none" w="med" len="med"/>
                    </a:lnR>
                    <a:lnT w="6350" cap="flat" cmpd="sng" algn="ctr">
                      <a:solidFill>
                        <a:srgbClr val="4A3A28"/>
                      </a:solidFill>
                      <a:prstDash val="solid"/>
                      <a:round/>
                      <a:headEnd type="none" w="med" len="med"/>
                      <a:tailEnd type="none" w="med" len="med"/>
                    </a:lnT>
                    <a:lnB w="6350" cap="flat" cmpd="sng" algn="ctr">
                      <a:solidFill>
                        <a:srgbClr val="4A3A28"/>
                      </a:solidFill>
                      <a:prstDash val="solid"/>
                      <a:round/>
                      <a:headEnd type="none" w="med" len="med"/>
                      <a:tailEnd type="none" w="med" len="med"/>
                    </a:lnB>
                    <a:solidFill>
                      <a:srgbClr val="D4AF37"/>
                    </a:solidFill>
                  </a:tcPr>
                </a:tc>
              </a:tr>
              <a:tr h="384048">
                <a:tc>
                  <a:txBody>
                    <a:bodyPr/>
                    <a:lstStyle/>
                    <a:p>
                      <a:pPr indent="0" marL="0">
                        <a:buNone/>
                      </a:pPr>
                      <a:r>
                        <a:rPr lang="en-US" sz="1200" dirty="0">
                          <a:solidFill>
                            <a:srgbClr val="D8CDB4"/>
                          </a:solidFill>
                          <a:latin typeface="Arial" pitchFamily="34" charset="0"/>
                          <a:ea typeface="Arial" pitchFamily="34" charset="-122"/>
                          <a:cs typeface="Arial" pitchFamily="34" charset="-120"/>
                        </a:rPr>
                        <a:t>Type</a:t>
                      </a:r>
                      <a:endParaRPr lang="en-US" sz="1200" dirty="0">
                        <a:latin typeface="Arial" charset="0"/>
                        <a:ea typeface="Arial" charset="0"/>
                        <a:cs typeface="Arial" charset="0"/>
                      </a:endParaRPr>
                    </a:p>
                  </a:txBody>
                  <a:tcPr marL="91440" marR="91440" marT="45720" marB="45720" anchor="ctr">
                    <a:lnL w="6350" cap="flat" cmpd="sng" algn="ctr">
                      <a:solidFill>
                        <a:srgbClr val="4A3A28"/>
                      </a:solidFill>
                      <a:prstDash val="solid"/>
                      <a:round/>
                      <a:headEnd type="none" w="med" len="med"/>
                      <a:tailEnd type="none" w="med" len="med"/>
                    </a:lnL>
                    <a:lnR w="6350" cap="flat" cmpd="sng" algn="ctr">
                      <a:solidFill>
                        <a:srgbClr val="4A3A28"/>
                      </a:solidFill>
                      <a:prstDash val="solid"/>
                      <a:round/>
                      <a:headEnd type="none" w="med" len="med"/>
                      <a:tailEnd type="none" w="med" len="med"/>
                    </a:lnR>
                    <a:lnT w="6350" cap="flat" cmpd="sng" algn="ctr">
                      <a:solidFill>
                        <a:srgbClr val="4A3A28"/>
                      </a:solidFill>
                      <a:prstDash val="solid"/>
                      <a:round/>
                      <a:headEnd type="none" w="med" len="med"/>
                      <a:tailEnd type="none" w="med" len="med"/>
                    </a:lnT>
                    <a:lnB w="6350" cap="flat" cmpd="sng" algn="ctr">
                      <a:solidFill>
                        <a:srgbClr val="4A3A28"/>
                      </a:solidFill>
                      <a:prstDash val="solid"/>
                      <a:round/>
                      <a:headEnd type="none" w="med" len="med"/>
                      <a:tailEnd type="none" w="med" len="med"/>
                    </a:lnB>
                    <a:solidFill>
                      <a:srgbClr val="241C14"/>
                    </a:solidFill>
                  </a:tcPr>
                </a:tc>
                <a:tc>
                  <a:txBody>
                    <a:bodyPr/>
                    <a:lstStyle/>
                    <a:p>
                      <a:pPr indent="0" marL="0">
                        <a:buNone/>
                      </a:pPr>
                      <a:r>
                        <a:rPr lang="en-US" sz="1200" dirty="0">
                          <a:solidFill>
                            <a:srgbClr val="D8CDB4"/>
                          </a:solidFill>
                          <a:latin typeface="Arial" pitchFamily="34" charset="0"/>
                          <a:ea typeface="Arial" pitchFamily="34" charset="-122"/>
                          <a:cs typeface="Arial" pitchFamily="34" charset="-120"/>
                        </a:rPr>
                        <a:t>Fortification</a:t>
                      </a:r>
                      <a:endParaRPr lang="en-US" sz="1200" dirty="0">
                        <a:latin typeface="Arial" charset="0"/>
                        <a:ea typeface="Arial" charset="0"/>
                        <a:cs typeface="Arial" charset="0"/>
                      </a:endParaRPr>
                    </a:p>
                  </a:txBody>
                  <a:tcPr marL="91440" marR="91440" marT="45720" marB="45720" anchor="ctr">
                    <a:lnL w="6350" cap="flat" cmpd="sng" algn="ctr">
                      <a:solidFill>
                        <a:srgbClr val="4A3A28"/>
                      </a:solidFill>
                      <a:prstDash val="solid"/>
                      <a:round/>
                      <a:headEnd type="none" w="med" len="med"/>
                      <a:tailEnd type="none" w="med" len="med"/>
                    </a:lnL>
                    <a:lnR w="6350" cap="flat" cmpd="sng" algn="ctr">
                      <a:solidFill>
                        <a:srgbClr val="4A3A28"/>
                      </a:solidFill>
                      <a:prstDash val="solid"/>
                      <a:round/>
                      <a:headEnd type="none" w="med" len="med"/>
                      <a:tailEnd type="none" w="med" len="med"/>
                    </a:lnR>
                    <a:lnT w="6350" cap="flat" cmpd="sng" algn="ctr">
                      <a:solidFill>
                        <a:srgbClr val="4A3A28"/>
                      </a:solidFill>
                      <a:prstDash val="solid"/>
                      <a:round/>
                      <a:headEnd type="none" w="med" len="med"/>
                      <a:tailEnd type="none" w="med" len="med"/>
                    </a:lnT>
                    <a:lnB w="6350" cap="flat" cmpd="sng" algn="ctr">
                      <a:solidFill>
                        <a:srgbClr val="4A3A28"/>
                      </a:solidFill>
                      <a:prstDash val="solid"/>
                      <a:round/>
                      <a:headEnd type="none" w="med" len="med"/>
                      <a:tailEnd type="none" w="med" len="med"/>
                    </a:lnB>
                    <a:solidFill>
                      <a:srgbClr val="241C14"/>
                    </a:solidFill>
                  </a:tcPr>
                </a:tc>
              </a:tr>
              <a:tr h="384048">
                <a:tc>
                  <a:txBody>
                    <a:bodyPr/>
                    <a:lstStyle/>
                    <a:p>
                      <a:pPr indent="0" marL="0">
                        <a:buNone/>
                      </a:pPr>
                      <a:r>
                        <a:rPr lang="en-US" sz="1200" dirty="0">
                          <a:solidFill>
                            <a:srgbClr val="D8CDB4"/>
                          </a:solidFill>
                          <a:latin typeface="Arial" pitchFamily="34" charset="0"/>
                          <a:ea typeface="Arial" pitchFamily="34" charset="-122"/>
                          <a:cs typeface="Arial" pitchFamily="34" charset="-120"/>
                        </a:rPr>
                        <a:t>Location</a:t>
                      </a:r>
                      <a:endParaRPr lang="en-US" sz="1200" dirty="0">
                        <a:latin typeface="Arial" charset="0"/>
                        <a:ea typeface="Arial" charset="0"/>
                        <a:cs typeface="Arial" charset="0"/>
                      </a:endParaRPr>
                    </a:p>
                  </a:txBody>
                  <a:tcPr marL="91440" marR="91440" marT="45720" marB="45720" anchor="ctr">
                    <a:lnL w="6350" cap="flat" cmpd="sng" algn="ctr">
                      <a:solidFill>
                        <a:srgbClr val="4A3A28"/>
                      </a:solidFill>
                      <a:prstDash val="solid"/>
                      <a:round/>
                      <a:headEnd type="none" w="med" len="med"/>
                      <a:tailEnd type="none" w="med" len="med"/>
                    </a:lnL>
                    <a:lnR w="6350" cap="flat" cmpd="sng" algn="ctr">
                      <a:solidFill>
                        <a:srgbClr val="4A3A28"/>
                      </a:solidFill>
                      <a:prstDash val="solid"/>
                      <a:round/>
                      <a:headEnd type="none" w="med" len="med"/>
                      <a:tailEnd type="none" w="med" len="med"/>
                    </a:lnR>
                    <a:lnT w="6350" cap="flat" cmpd="sng" algn="ctr">
                      <a:solidFill>
                        <a:srgbClr val="4A3A28"/>
                      </a:solidFill>
                      <a:prstDash val="solid"/>
                      <a:round/>
                      <a:headEnd type="none" w="med" len="med"/>
                      <a:tailEnd type="none" w="med" len="med"/>
                    </a:lnT>
                    <a:lnB w="6350" cap="flat" cmpd="sng" algn="ctr">
                      <a:solidFill>
                        <a:srgbClr val="4A3A28"/>
                      </a:solidFill>
                      <a:prstDash val="solid"/>
                      <a:round/>
                      <a:headEnd type="none" w="med" len="med"/>
                      <a:tailEnd type="none" w="med" len="med"/>
                    </a:lnB>
                    <a:solidFill>
                      <a:srgbClr val="241C14"/>
                    </a:solidFill>
                  </a:tcPr>
                </a:tc>
                <a:tc>
                  <a:txBody>
                    <a:bodyPr/>
                    <a:lstStyle/>
                    <a:p>
                      <a:pPr indent="0" marL="0">
                        <a:buNone/>
                      </a:pPr>
                      <a:r>
                        <a:rPr lang="en-US" sz="1200" dirty="0">
                          <a:solidFill>
                            <a:srgbClr val="D8CDB4"/>
                          </a:solidFill>
                          <a:latin typeface="Arial" pitchFamily="34" charset="0"/>
                          <a:ea typeface="Arial" pitchFamily="34" charset="-122"/>
                          <a:cs typeface="Arial" pitchFamily="34" charset="-120"/>
                        </a:rPr>
                        <a:t>China</a:t>
                      </a:r>
                      <a:endParaRPr lang="en-US" sz="1200" dirty="0">
                        <a:latin typeface="Arial" charset="0"/>
                        <a:ea typeface="Arial" charset="0"/>
                        <a:cs typeface="Arial" charset="0"/>
                      </a:endParaRPr>
                    </a:p>
                  </a:txBody>
                  <a:tcPr marL="91440" marR="91440" marT="45720" marB="45720" anchor="ctr">
                    <a:lnL w="6350" cap="flat" cmpd="sng" algn="ctr">
                      <a:solidFill>
                        <a:srgbClr val="4A3A28"/>
                      </a:solidFill>
                      <a:prstDash val="solid"/>
                      <a:round/>
                      <a:headEnd type="none" w="med" len="med"/>
                      <a:tailEnd type="none" w="med" len="med"/>
                    </a:lnL>
                    <a:lnR w="6350" cap="flat" cmpd="sng" algn="ctr">
                      <a:solidFill>
                        <a:srgbClr val="4A3A28"/>
                      </a:solidFill>
                      <a:prstDash val="solid"/>
                      <a:round/>
                      <a:headEnd type="none" w="med" len="med"/>
                      <a:tailEnd type="none" w="med" len="med"/>
                    </a:lnR>
                    <a:lnT w="6350" cap="flat" cmpd="sng" algn="ctr">
                      <a:solidFill>
                        <a:srgbClr val="4A3A28"/>
                      </a:solidFill>
                      <a:prstDash val="solid"/>
                      <a:round/>
                      <a:headEnd type="none" w="med" len="med"/>
                      <a:tailEnd type="none" w="med" len="med"/>
                    </a:lnT>
                    <a:lnB w="6350" cap="flat" cmpd="sng" algn="ctr">
                      <a:solidFill>
                        <a:srgbClr val="4A3A28"/>
                      </a:solidFill>
                      <a:prstDash val="solid"/>
                      <a:round/>
                      <a:headEnd type="none" w="med" len="med"/>
                      <a:tailEnd type="none" w="med" len="med"/>
                    </a:lnB>
                    <a:solidFill>
                      <a:srgbClr val="241C14"/>
                    </a:solidFill>
                  </a:tcPr>
                </a:tc>
              </a:tr>
              <a:tr h="384048">
                <a:tc>
                  <a:txBody>
                    <a:bodyPr/>
                    <a:lstStyle/>
                    <a:p>
                      <a:pPr indent="0" marL="0">
                        <a:buNone/>
                      </a:pPr>
                      <a:r>
                        <a:rPr lang="en-US" sz="1200" dirty="0">
                          <a:solidFill>
                            <a:srgbClr val="D8CDB4"/>
                          </a:solidFill>
                          <a:latin typeface="Arial" pitchFamily="34" charset="0"/>
                          <a:ea typeface="Arial" pitchFamily="34" charset="-122"/>
                          <a:cs typeface="Arial" pitchFamily="34" charset="-120"/>
                        </a:rPr>
                        <a:t>Coordinates</a:t>
                      </a:r>
                      <a:endParaRPr lang="en-US" sz="1200" dirty="0">
                        <a:latin typeface="Arial" charset="0"/>
                        <a:ea typeface="Arial" charset="0"/>
                        <a:cs typeface="Arial" charset="0"/>
                      </a:endParaRPr>
                    </a:p>
                  </a:txBody>
                  <a:tcPr marL="91440" marR="91440" marT="45720" marB="45720" anchor="ctr">
                    <a:lnL w="6350" cap="flat" cmpd="sng" algn="ctr">
                      <a:solidFill>
                        <a:srgbClr val="4A3A28"/>
                      </a:solidFill>
                      <a:prstDash val="solid"/>
                      <a:round/>
                      <a:headEnd type="none" w="med" len="med"/>
                      <a:tailEnd type="none" w="med" len="med"/>
                    </a:lnL>
                    <a:lnR w="6350" cap="flat" cmpd="sng" algn="ctr">
                      <a:solidFill>
                        <a:srgbClr val="4A3A28"/>
                      </a:solidFill>
                      <a:prstDash val="solid"/>
                      <a:round/>
                      <a:headEnd type="none" w="med" len="med"/>
                      <a:tailEnd type="none" w="med" len="med"/>
                    </a:lnR>
                    <a:lnT w="6350" cap="flat" cmpd="sng" algn="ctr">
                      <a:solidFill>
                        <a:srgbClr val="4A3A28"/>
                      </a:solidFill>
                      <a:prstDash val="solid"/>
                      <a:round/>
                      <a:headEnd type="none" w="med" len="med"/>
                      <a:tailEnd type="none" w="med" len="med"/>
                    </a:lnT>
                    <a:lnB w="6350" cap="flat" cmpd="sng" algn="ctr">
                      <a:solidFill>
                        <a:srgbClr val="4A3A28"/>
                      </a:solidFill>
                      <a:prstDash val="solid"/>
                      <a:round/>
                      <a:headEnd type="none" w="med" len="med"/>
                      <a:tailEnd type="none" w="med" len="med"/>
                    </a:lnB>
                    <a:solidFill>
                      <a:srgbClr val="241C14"/>
                    </a:solidFill>
                  </a:tcPr>
                </a:tc>
                <a:tc>
                  <a:txBody>
                    <a:bodyPr/>
                    <a:lstStyle/>
                    <a:p>
                      <a:pPr indent="0" marL="0">
                        <a:buNone/>
                      </a:pPr>
                      <a:r>
                        <a:rPr lang="en-US" sz="1200" dirty="0">
                          <a:solidFill>
                            <a:srgbClr val="D8CDB4"/>
                          </a:solidFill>
                          <a:latin typeface="Arial" pitchFamily="34" charset="0"/>
                          <a:ea typeface="Arial" pitchFamily="34" charset="-122"/>
                          <a:cs typeface="Arial" pitchFamily="34" charset="-120"/>
                        </a:rPr>
                        <a:t>40°25′53″N 116°33′52″E</a:t>
                      </a:r>
                      <a:endParaRPr lang="en-US" sz="1200" dirty="0">
                        <a:latin typeface="Arial" charset="0"/>
                        <a:ea typeface="Arial" charset="0"/>
                        <a:cs typeface="Arial" charset="0"/>
                      </a:endParaRPr>
                    </a:p>
                  </a:txBody>
                  <a:tcPr marL="91440" marR="91440" marT="45720" marB="45720" anchor="ctr">
                    <a:lnL w="6350" cap="flat" cmpd="sng" algn="ctr">
                      <a:solidFill>
                        <a:srgbClr val="4A3A28"/>
                      </a:solidFill>
                      <a:prstDash val="solid"/>
                      <a:round/>
                      <a:headEnd type="none" w="med" len="med"/>
                      <a:tailEnd type="none" w="med" len="med"/>
                    </a:lnL>
                    <a:lnR w="6350" cap="flat" cmpd="sng" algn="ctr">
                      <a:solidFill>
                        <a:srgbClr val="4A3A28"/>
                      </a:solidFill>
                      <a:prstDash val="solid"/>
                      <a:round/>
                      <a:headEnd type="none" w="med" len="med"/>
                      <a:tailEnd type="none" w="med" len="med"/>
                    </a:lnR>
                    <a:lnT w="6350" cap="flat" cmpd="sng" algn="ctr">
                      <a:solidFill>
                        <a:srgbClr val="4A3A28"/>
                      </a:solidFill>
                      <a:prstDash val="solid"/>
                      <a:round/>
                      <a:headEnd type="none" w="med" len="med"/>
                      <a:tailEnd type="none" w="med" len="med"/>
                    </a:lnT>
                    <a:lnB w="6350" cap="flat" cmpd="sng" algn="ctr">
                      <a:solidFill>
                        <a:srgbClr val="4A3A28"/>
                      </a:solidFill>
                      <a:prstDash val="solid"/>
                      <a:round/>
                      <a:headEnd type="none" w="med" len="med"/>
                      <a:tailEnd type="none" w="med" len="med"/>
                    </a:lnB>
                    <a:solidFill>
                      <a:srgbClr val="241C14"/>
                    </a:solidFill>
                  </a:tcPr>
                </a:tc>
              </a:tr>
              <a:tr h="384048">
                <a:tc>
                  <a:txBody>
                    <a:bodyPr/>
                    <a:lstStyle/>
                    <a:p>
                      <a:pPr indent="0" marL="0">
                        <a:buNone/>
                      </a:pPr>
                      <a:r>
                        <a:rPr lang="en-US" sz="1200" dirty="0">
                          <a:solidFill>
                            <a:srgbClr val="D8CDB4"/>
                          </a:solidFill>
                          <a:latin typeface="Arial" pitchFamily="34" charset="0"/>
                          <a:ea typeface="Arial" pitchFamily="34" charset="-122"/>
                          <a:cs typeface="Arial" pitchFamily="34" charset="-120"/>
                        </a:rPr>
                        <a:t>Official name</a:t>
                      </a:r>
                      <a:endParaRPr lang="en-US" sz="1200" dirty="0">
                        <a:latin typeface="Arial" charset="0"/>
                        <a:ea typeface="Arial" charset="0"/>
                        <a:cs typeface="Arial" charset="0"/>
                      </a:endParaRPr>
                    </a:p>
                  </a:txBody>
                  <a:tcPr marL="91440" marR="91440" marT="45720" marB="45720" anchor="ctr">
                    <a:lnL w="6350" cap="flat" cmpd="sng" algn="ctr">
                      <a:solidFill>
                        <a:srgbClr val="4A3A28"/>
                      </a:solidFill>
                      <a:prstDash val="solid"/>
                      <a:round/>
                      <a:headEnd type="none" w="med" len="med"/>
                      <a:tailEnd type="none" w="med" len="med"/>
                    </a:lnL>
                    <a:lnR w="6350" cap="flat" cmpd="sng" algn="ctr">
                      <a:solidFill>
                        <a:srgbClr val="4A3A28"/>
                      </a:solidFill>
                      <a:prstDash val="solid"/>
                      <a:round/>
                      <a:headEnd type="none" w="med" len="med"/>
                      <a:tailEnd type="none" w="med" len="med"/>
                    </a:lnR>
                    <a:lnT w="6350" cap="flat" cmpd="sng" algn="ctr">
                      <a:solidFill>
                        <a:srgbClr val="4A3A28"/>
                      </a:solidFill>
                      <a:prstDash val="solid"/>
                      <a:round/>
                      <a:headEnd type="none" w="med" len="med"/>
                      <a:tailEnd type="none" w="med" len="med"/>
                    </a:lnT>
                    <a:lnB w="6350" cap="flat" cmpd="sng" algn="ctr">
                      <a:solidFill>
                        <a:srgbClr val="4A3A28"/>
                      </a:solidFill>
                      <a:prstDash val="solid"/>
                      <a:round/>
                      <a:headEnd type="none" w="med" len="med"/>
                      <a:tailEnd type="none" w="med" len="med"/>
                    </a:lnB>
                    <a:solidFill>
                      <a:srgbClr val="241C14"/>
                    </a:solidFill>
                  </a:tcPr>
                </a:tc>
                <a:tc>
                  <a:txBody>
                    <a:bodyPr/>
                    <a:lstStyle/>
                    <a:p>
                      <a:pPr indent="0" marL="0">
                        <a:buNone/>
                      </a:pPr>
                      <a:r>
                        <a:rPr lang="en-US" sz="1200" dirty="0">
                          <a:solidFill>
                            <a:srgbClr val="D8CDB4"/>
                          </a:solidFill>
                          <a:latin typeface="Arial" pitchFamily="34" charset="0"/>
                          <a:ea typeface="Arial" pitchFamily="34" charset="-122"/>
                          <a:cs typeface="Arial" pitchFamily="34" charset="-120"/>
                        </a:rPr>
                        <a:t>The Great Wall</a:t>
                      </a:r>
                      <a:endParaRPr lang="en-US" sz="1200" dirty="0">
                        <a:latin typeface="Arial" charset="0"/>
                        <a:ea typeface="Arial" charset="0"/>
                        <a:cs typeface="Arial" charset="0"/>
                      </a:endParaRPr>
                    </a:p>
                  </a:txBody>
                  <a:tcPr marL="91440" marR="91440" marT="45720" marB="45720" anchor="ctr">
                    <a:lnL w="6350" cap="flat" cmpd="sng" algn="ctr">
                      <a:solidFill>
                        <a:srgbClr val="4A3A28"/>
                      </a:solidFill>
                      <a:prstDash val="solid"/>
                      <a:round/>
                      <a:headEnd type="none" w="med" len="med"/>
                      <a:tailEnd type="none" w="med" len="med"/>
                    </a:lnL>
                    <a:lnR w="6350" cap="flat" cmpd="sng" algn="ctr">
                      <a:solidFill>
                        <a:srgbClr val="4A3A28"/>
                      </a:solidFill>
                      <a:prstDash val="solid"/>
                      <a:round/>
                      <a:headEnd type="none" w="med" len="med"/>
                      <a:tailEnd type="none" w="med" len="med"/>
                    </a:lnR>
                    <a:lnT w="6350" cap="flat" cmpd="sng" algn="ctr">
                      <a:solidFill>
                        <a:srgbClr val="4A3A28"/>
                      </a:solidFill>
                      <a:prstDash val="solid"/>
                      <a:round/>
                      <a:headEnd type="none" w="med" len="med"/>
                      <a:tailEnd type="none" w="med" len="med"/>
                    </a:lnT>
                    <a:lnB w="6350" cap="flat" cmpd="sng" algn="ctr">
                      <a:solidFill>
                        <a:srgbClr val="4A3A28"/>
                      </a:solidFill>
                      <a:prstDash val="solid"/>
                      <a:round/>
                      <a:headEnd type="none" w="med" len="med"/>
                      <a:tailEnd type="none" w="med" len="med"/>
                    </a:lnB>
                    <a:solidFill>
                      <a:srgbClr val="241C14"/>
                    </a:solidFill>
                  </a:tcPr>
                </a:tc>
              </a:tr>
              <a:tr h="384048">
                <a:tc>
                  <a:txBody>
                    <a:bodyPr/>
                    <a:lstStyle/>
                    <a:p>
                      <a:pPr indent="0" marL="0">
                        <a:buNone/>
                      </a:pPr>
                      <a:r>
                        <a:rPr lang="en-US" sz="1200" dirty="0">
                          <a:solidFill>
                            <a:srgbClr val="D8CDB4"/>
                          </a:solidFill>
                          <a:latin typeface="Arial" pitchFamily="34" charset="0"/>
                          <a:ea typeface="Arial" pitchFamily="34" charset="-122"/>
                          <a:cs typeface="Arial" pitchFamily="34" charset="-120"/>
                        </a:rPr>
                        <a:t>UNESCO Criteria</a:t>
                      </a:r>
                      <a:endParaRPr lang="en-US" sz="1200" dirty="0">
                        <a:latin typeface="Arial" charset="0"/>
                        <a:ea typeface="Arial" charset="0"/>
                        <a:cs typeface="Arial" charset="0"/>
                      </a:endParaRPr>
                    </a:p>
                  </a:txBody>
                  <a:tcPr marL="91440" marR="91440" marT="45720" marB="45720" anchor="ctr">
                    <a:lnL w="6350" cap="flat" cmpd="sng" algn="ctr">
                      <a:solidFill>
                        <a:srgbClr val="4A3A28"/>
                      </a:solidFill>
                      <a:prstDash val="solid"/>
                      <a:round/>
                      <a:headEnd type="none" w="med" len="med"/>
                      <a:tailEnd type="none" w="med" len="med"/>
                    </a:lnL>
                    <a:lnR w="6350" cap="flat" cmpd="sng" algn="ctr">
                      <a:solidFill>
                        <a:srgbClr val="4A3A28"/>
                      </a:solidFill>
                      <a:prstDash val="solid"/>
                      <a:round/>
                      <a:headEnd type="none" w="med" len="med"/>
                      <a:tailEnd type="none" w="med" len="med"/>
                    </a:lnR>
                    <a:lnT w="6350" cap="flat" cmpd="sng" algn="ctr">
                      <a:solidFill>
                        <a:srgbClr val="4A3A28"/>
                      </a:solidFill>
                      <a:prstDash val="solid"/>
                      <a:round/>
                      <a:headEnd type="none" w="med" len="med"/>
                      <a:tailEnd type="none" w="med" len="med"/>
                    </a:lnT>
                    <a:lnB w="6350" cap="flat" cmpd="sng" algn="ctr">
                      <a:solidFill>
                        <a:srgbClr val="4A3A28"/>
                      </a:solidFill>
                      <a:prstDash val="solid"/>
                      <a:round/>
                      <a:headEnd type="none" w="med" len="med"/>
                      <a:tailEnd type="none" w="med" len="med"/>
                    </a:lnB>
                    <a:solidFill>
                      <a:srgbClr val="241C14"/>
                    </a:solidFill>
                  </a:tcPr>
                </a:tc>
                <a:tc>
                  <a:txBody>
                    <a:bodyPr/>
                    <a:lstStyle/>
                    <a:p>
                      <a:pPr indent="0" marL="0">
                        <a:buNone/>
                      </a:pPr>
                      <a:r>
                        <a:rPr lang="en-US" sz="1200" dirty="0">
                          <a:solidFill>
                            <a:srgbClr val="D8CDB4"/>
                          </a:solidFill>
                          <a:latin typeface="Arial" pitchFamily="34" charset="0"/>
                          <a:ea typeface="Arial" pitchFamily="34" charset="-122"/>
                          <a:cs typeface="Arial" pitchFamily="34" charset="-120"/>
                        </a:rPr>
                        <a:t>Cultural: i, ii, iii, iv, vi</a:t>
                      </a:r>
                      <a:endParaRPr lang="en-US" sz="1200" dirty="0">
                        <a:latin typeface="Arial" charset="0"/>
                        <a:ea typeface="Arial" charset="0"/>
                        <a:cs typeface="Arial" charset="0"/>
                      </a:endParaRPr>
                    </a:p>
                  </a:txBody>
                  <a:tcPr marL="91440" marR="91440" marT="45720" marB="45720" anchor="ctr">
                    <a:lnL w="6350" cap="flat" cmpd="sng" algn="ctr">
                      <a:solidFill>
                        <a:srgbClr val="4A3A28"/>
                      </a:solidFill>
                      <a:prstDash val="solid"/>
                      <a:round/>
                      <a:headEnd type="none" w="med" len="med"/>
                      <a:tailEnd type="none" w="med" len="med"/>
                    </a:lnL>
                    <a:lnR w="6350" cap="flat" cmpd="sng" algn="ctr">
                      <a:solidFill>
                        <a:srgbClr val="4A3A28"/>
                      </a:solidFill>
                      <a:prstDash val="solid"/>
                      <a:round/>
                      <a:headEnd type="none" w="med" len="med"/>
                      <a:tailEnd type="none" w="med" len="med"/>
                    </a:lnR>
                    <a:lnT w="6350" cap="flat" cmpd="sng" algn="ctr">
                      <a:solidFill>
                        <a:srgbClr val="4A3A28"/>
                      </a:solidFill>
                      <a:prstDash val="solid"/>
                      <a:round/>
                      <a:headEnd type="none" w="med" len="med"/>
                      <a:tailEnd type="none" w="med" len="med"/>
                    </a:lnT>
                    <a:lnB w="6350" cap="flat" cmpd="sng" algn="ctr">
                      <a:solidFill>
                        <a:srgbClr val="4A3A28"/>
                      </a:solidFill>
                      <a:prstDash val="solid"/>
                      <a:round/>
                      <a:headEnd type="none" w="med" len="med"/>
                      <a:tailEnd type="none" w="med" len="med"/>
                    </a:lnB>
                    <a:solidFill>
                      <a:srgbClr val="241C14"/>
                    </a:solidFill>
                  </a:tcPr>
                </a:tc>
              </a:tr>
              <a:tr h="384048">
                <a:tc>
                  <a:txBody>
                    <a:bodyPr/>
                    <a:lstStyle/>
                    <a:p>
                      <a:pPr indent="0" marL="0">
                        <a:buNone/>
                      </a:pPr>
                      <a:r>
                        <a:rPr lang="en-US" sz="1200" dirty="0">
                          <a:solidFill>
                            <a:srgbClr val="D8CDB4"/>
                          </a:solidFill>
                          <a:latin typeface="Arial" pitchFamily="34" charset="0"/>
                          <a:ea typeface="Arial" pitchFamily="34" charset="-122"/>
                          <a:cs typeface="Arial" pitchFamily="34" charset="-120"/>
                        </a:rPr>
                        <a:t>UNESCO Reference</a:t>
                      </a:r>
                      <a:endParaRPr lang="en-US" sz="1200" dirty="0">
                        <a:latin typeface="Arial" charset="0"/>
                        <a:ea typeface="Arial" charset="0"/>
                        <a:cs typeface="Arial" charset="0"/>
                      </a:endParaRPr>
                    </a:p>
                  </a:txBody>
                  <a:tcPr marL="91440" marR="91440" marT="45720" marB="45720" anchor="ctr">
                    <a:lnL w="6350" cap="flat" cmpd="sng" algn="ctr">
                      <a:solidFill>
                        <a:srgbClr val="4A3A28"/>
                      </a:solidFill>
                      <a:prstDash val="solid"/>
                      <a:round/>
                      <a:headEnd type="none" w="med" len="med"/>
                      <a:tailEnd type="none" w="med" len="med"/>
                    </a:lnL>
                    <a:lnR w="6350" cap="flat" cmpd="sng" algn="ctr">
                      <a:solidFill>
                        <a:srgbClr val="4A3A28"/>
                      </a:solidFill>
                      <a:prstDash val="solid"/>
                      <a:round/>
                      <a:headEnd type="none" w="med" len="med"/>
                      <a:tailEnd type="none" w="med" len="med"/>
                    </a:lnR>
                    <a:lnT w="6350" cap="flat" cmpd="sng" algn="ctr">
                      <a:solidFill>
                        <a:srgbClr val="4A3A28"/>
                      </a:solidFill>
                      <a:prstDash val="solid"/>
                      <a:round/>
                      <a:headEnd type="none" w="med" len="med"/>
                      <a:tailEnd type="none" w="med" len="med"/>
                    </a:lnT>
                    <a:lnB w="6350" cap="flat" cmpd="sng" algn="ctr">
                      <a:solidFill>
                        <a:srgbClr val="4A3A28"/>
                      </a:solidFill>
                      <a:prstDash val="solid"/>
                      <a:round/>
                      <a:headEnd type="none" w="med" len="med"/>
                      <a:tailEnd type="none" w="med" len="med"/>
                    </a:lnB>
                    <a:solidFill>
                      <a:srgbClr val="241C14"/>
                    </a:solidFill>
                  </a:tcPr>
                </a:tc>
                <a:tc>
                  <a:txBody>
                    <a:bodyPr/>
                    <a:lstStyle/>
                    <a:p>
                      <a:pPr indent="0" marL="0">
                        <a:buNone/>
                      </a:pPr>
                      <a:r>
                        <a:rPr lang="en-US" sz="1200" dirty="0">
                          <a:solidFill>
                            <a:srgbClr val="D8CDB4"/>
                          </a:solidFill>
                          <a:latin typeface="Arial" pitchFamily="34" charset="0"/>
                          <a:ea typeface="Arial" pitchFamily="34" charset="-122"/>
                          <a:cs typeface="Arial" pitchFamily="34" charset="-120"/>
                        </a:rPr>
                        <a:t>438</a:t>
                      </a:r>
                      <a:endParaRPr lang="en-US" sz="1200" dirty="0">
                        <a:latin typeface="Arial" charset="0"/>
                        <a:ea typeface="Arial" charset="0"/>
                        <a:cs typeface="Arial" charset="0"/>
                      </a:endParaRPr>
                    </a:p>
                  </a:txBody>
                  <a:tcPr marL="91440" marR="91440" marT="45720" marB="45720" anchor="ctr">
                    <a:lnL w="6350" cap="flat" cmpd="sng" algn="ctr">
                      <a:solidFill>
                        <a:srgbClr val="4A3A28"/>
                      </a:solidFill>
                      <a:prstDash val="solid"/>
                      <a:round/>
                      <a:headEnd type="none" w="med" len="med"/>
                      <a:tailEnd type="none" w="med" len="med"/>
                    </a:lnL>
                    <a:lnR w="6350" cap="flat" cmpd="sng" algn="ctr">
                      <a:solidFill>
                        <a:srgbClr val="4A3A28"/>
                      </a:solidFill>
                      <a:prstDash val="solid"/>
                      <a:round/>
                      <a:headEnd type="none" w="med" len="med"/>
                      <a:tailEnd type="none" w="med" len="med"/>
                    </a:lnR>
                    <a:lnT w="6350" cap="flat" cmpd="sng" algn="ctr">
                      <a:solidFill>
                        <a:srgbClr val="4A3A28"/>
                      </a:solidFill>
                      <a:prstDash val="solid"/>
                      <a:round/>
                      <a:headEnd type="none" w="med" len="med"/>
                      <a:tailEnd type="none" w="med" len="med"/>
                    </a:lnT>
                    <a:lnB w="6350" cap="flat" cmpd="sng" algn="ctr">
                      <a:solidFill>
                        <a:srgbClr val="4A3A28"/>
                      </a:solidFill>
                      <a:prstDash val="solid"/>
                      <a:round/>
                      <a:headEnd type="none" w="med" len="med"/>
                      <a:tailEnd type="none" w="med" len="med"/>
                    </a:lnB>
                    <a:solidFill>
                      <a:srgbClr val="241C14"/>
                    </a:solidFill>
                  </a:tcPr>
                </a:tc>
              </a:tr>
              <a:tr h="384048">
                <a:tc>
                  <a:txBody>
                    <a:bodyPr/>
                    <a:lstStyle/>
                    <a:p>
                      <a:pPr indent="0" marL="0">
                        <a:buNone/>
                      </a:pPr>
                      <a:r>
                        <a:rPr lang="en-US" sz="1200" dirty="0">
                          <a:solidFill>
                            <a:srgbClr val="D8CDB4"/>
                          </a:solidFill>
                          <a:latin typeface="Arial" pitchFamily="34" charset="0"/>
                          <a:ea typeface="Arial" pitchFamily="34" charset="-122"/>
                          <a:cs typeface="Arial" pitchFamily="34" charset="-120"/>
                        </a:rPr>
                        <a:t>Inscription</a:t>
                      </a:r>
                      <a:endParaRPr lang="en-US" sz="1200" dirty="0">
                        <a:latin typeface="Arial" charset="0"/>
                        <a:ea typeface="Arial" charset="0"/>
                        <a:cs typeface="Arial" charset="0"/>
                      </a:endParaRPr>
                    </a:p>
                  </a:txBody>
                  <a:tcPr marL="91440" marR="91440" marT="45720" marB="45720" anchor="ctr">
                    <a:lnL w="6350" cap="flat" cmpd="sng" algn="ctr">
                      <a:solidFill>
                        <a:srgbClr val="4A3A28"/>
                      </a:solidFill>
                      <a:prstDash val="solid"/>
                      <a:round/>
                      <a:headEnd type="none" w="med" len="med"/>
                      <a:tailEnd type="none" w="med" len="med"/>
                    </a:lnL>
                    <a:lnR w="6350" cap="flat" cmpd="sng" algn="ctr">
                      <a:solidFill>
                        <a:srgbClr val="4A3A28"/>
                      </a:solidFill>
                      <a:prstDash val="solid"/>
                      <a:round/>
                      <a:headEnd type="none" w="med" len="med"/>
                      <a:tailEnd type="none" w="med" len="med"/>
                    </a:lnR>
                    <a:lnT w="6350" cap="flat" cmpd="sng" algn="ctr">
                      <a:solidFill>
                        <a:srgbClr val="4A3A28"/>
                      </a:solidFill>
                      <a:prstDash val="solid"/>
                      <a:round/>
                      <a:headEnd type="none" w="med" len="med"/>
                      <a:tailEnd type="none" w="med" len="med"/>
                    </a:lnT>
                    <a:lnB w="6350" cap="flat" cmpd="sng" algn="ctr">
                      <a:solidFill>
                        <a:srgbClr val="4A3A28"/>
                      </a:solidFill>
                      <a:prstDash val="solid"/>
                      <a:round/>
                      <a:headEnd type="none" w="med" len="med"/>
                      <a:tailEnd type="none" w="med" len="med"/>
                    </a:lnB>
                    <a:solidFill>
                      <a:srgbClr val="241C14"/>
                    </a:solidFill>
                  </a:tcPr>
                </a:tc>
                <a:tc>
                  <a:txBody>
                    <a:bodyPr/>
                    <a:lstStyle/>
                    <a:p>
                      <a:pPr indent="0" marL="0">
                        <a:buNone/>
                      </a:pPr>
                      <a:r>
                        <a:rPr lang="en-US" sz="1200" dirty="0">
                          <a:solidFill>
                            <a:srgbClr val="D8CDB4"/>
                          </a:solidFill>
                          <a:latin typeface="Arial" pitchFamily="34" charset="0"/>
                          <a:ea typeface="Arial" pitchFamily="34" charset="-122"/>
                          <a:cs typeface="Arial" pitchFamily="34" charset="-120"/>
                        </a:rPr>
                        <a:t>1987 (11th Session)</a:t>
                      </a:r>
                      <a:endParaRPr lang="en-US" sz="1200" dirty="0">
                        <a:latin typeface="Arial" charset="0"/>
                        <a:ea typeface="Arial" charset="0"/>
                        <a:cs typeface="Arial" charset="0"/>
                      </a:endParaRPr>
                    </a:p>
                  </a:txBody>
                  <a:tcPr marL="91440" marR="91440" marT="45720" marB="45720" anchor="ctr">
                    <a:lnL w="6350" cap="flat" cmpd="sng" algn="ctr">
                      <a:solidFill>
                        <a:srgbClr val="4A3A28"/>
                      </a:solidFill>
                      <a:prstDash val="solid"/>
                      <a:round/>
                      <a:headEnd type="none" w="med" len="med"/>
                      <a:tailEnd type="none" w="med" len="med"/>
                    </a:lnL>
                    <a:lnR w="6350" cap="flat" cmpd="sng" algn="ctr">
                      <a:solidFill>
                        <a:srgbClr val="4A3A28"/>
                      </a:solidFill>
                      <a:prstDash val="solid"/>
                      <a:round/>
                      <a:headEnd type="none" w="med" len="med"/>
                      <a:tailEnd type="none" w="med" len="med"/>
                    </a:lnR>
                    <a:lnT w="6350" cap="flat" cmpd="sng" algn="ctr">
                      <a:solidFill>
                        <a:srgbClr val="4A3A28"/>
                      </a:solidFill>
                      <a:prstDash val="solid"/>
                      <a:round/>
                      <a:headEnd type="none" w="med" len="med"/>
                      <a:tailEnd type="none" w="med" len="med"/>
                    </a:lnT>
                    <a:lnB w="6350" cap="flat" cmpd="sng" algn="ctr">
                      <a:solidFill>
                        <a:srgbClr val="4A3A28"/>
                      </a:solidFill>
                      <a:prstDash val="solid"/>
                      <a:round/>
                      <a:headEnd type="none" w="med" len="med"/>
                      <a:tailEnd type="none" w="med" len="med"/>
                    </a:lnB>
                    <a:solidFill>
                      <a:srgbClr val="241C14"/>
                    </a:solidFill>
                  </a:tcPr>
                </a:tc>
              </a:tr>
              <a:tr h="384048">
                <a:tc>
                  <a:txBody>
                    <a:bodyPr/>
                    <a:lstStyle/>
                    <a:p>
                      <a:pPr indent="0" marL="0">
                        <a:buNone/>
                      </a:pPr>
                      <a:r>
                        <a:rPr lang="en-US" sz="1200" dirty="0">
                          <a:solidFill>
                            <a:srgbClr val="D8CDB4"/>
                          </a:solidFill>
                          <a:latin typeface="Arial" pitchFamily="34" charset="0"/>
                          <a:ea typeface="Arial" pitchFamily="34" charset="-122"/>
                          <a:cs typeface="Arial" pitchFamily="34" charset="-120"/>
                        </a:rPr>
                        <a:t>Area</a:t>
                      </a:r>
                      <a:endParaRPr lang="en-US" sz="1200" dirty="0">
                        <a:latin typeface="Arial" charset="0"/>
                        <a:ea typeface="Arial" charset="0"/>
                        <a:cs typeface="Arial" charset="0"/>
                      </a:endParaRPr>
                    </a:p>
                  </a:txBody>
                  <a:tcPr marL="91440" marR="91440" marT="45720" marB="45720" anchor="ctr">
                    <a:lnL w="6350" cap="flat" cmpd="sng" algn="ctr">
                      <a:solidFill>
                        <a:srgbClr val="4A3A28"/>
                      </a:solidFill>
                      <a:prstDash val="solid"/>
                      <a:round/>
                      <a:headEnd type="none" w="med" len="med"/>
                      <a:tailEnd type="none" w="med" len="med"/>
                    </a:lnL>
                    <a:lnR w="6350" cap="flat" cmpd="sng" algn="ctr">
                      <a:solidFill>
                        <a:srgbClr val="4A3A28"/>
                      </a:solidFill>
                      <a:prstDash val="solid"/>
                      <a:round/>
                      <a:headEnd type="none" w="med" len="med"/>
                      <a:tailEnd type="none" w="med" len="med"/>
                    </a:lnR>
                    <a:lnT w="6350" cap="flat" cmpd="sng" algn="ctr">
                      <a:solidFill>
                        <a:srgbClr val="4A3A28"/>
                      </a:solidFill>
                      <a:prstDash val="solid"/>
                      <a:round/>
                      <a:headEnd type="none" w="med" len="med"/>
                      <a:tailEnd type="none" w="med" len="med"/>
                    </a:lnT>
                    <a:lnB w="6350" cap="flat" cmpd="sng" algn="ctr">
                      <a:solidFill>
                        <a:srgbClr val="4A3A28"/>
                      </a:solidFill>
                      <a:prstDash val="solid"/>
                      <a:round/>
                      <a:headEnd type="none" w="med" len="med"/>
                      <a:tailEnd type="none" w="med" len="med"/>
                    </a:lnB>
                    <a:solidFill>
                      <a:srgbClr val="241C14"/>
                    </a:solidFill>
                  </a:tcPr>
                </a:tc>
                <a:tc>
                  <a:txBody>
                    <a:bodyPr/>
                    <a:lstStyle/>
                    <a:p>
                      <a:pPr indent="0" marL="0">
                        <a:buNone/>
                      </a:pPr>
                      <a:r>
                        <a:rPr lang="en-US" sz="1200" dirty="0">
                          <a:solidFill>
                            <a:srgbClr val="D8CDB4"/>
                          </a:solidFill>
                          <a:latin typeface="Arial" pitchFamily="34" charset="0"/>
                          <a:ea typeface="Arial" pitchFamily="34" charset="-122"/>
                          <a:cs typeface="Arial" pitchFamily="34" charset="-120"/>
                        </a:rPr>
                        <a:t>2,151.55 ha (5,316.6 acres)</a:t>
                      </a:r>
                      <a:endParaRPr lang="en-US" sz="1200" dirty="0">
                        <a:latin typeface="Arial" charset="0"/>
                        <a:ea typeface="Arial" charset="0"/>
                        <a:cs typeface="Arial" charset="0"/>
                      </a:endParaRPr>
                    </a:p>
                  </a:txBody>
                  <a:tcPr marL="91440" marR="91440" marT="45720" marB="45720" anchor="ctr">
                    <a:lnL w="6350" cap="flat" cmpd="sng" algn="ctr">
                      <a:solidFill>
                        <a:srgbClr val="4A3A28"/>
                      </a:solidFill>
                      <a:prstDash val="solid"/>
                      <a:round/>
                      <a:headEnd type="none" w="med" len="med"/>
                      <a:tailEnd type="none" w="med" len="med"/>
                    </a:lnL>
                    <a:lnR w="6350" cap="flat" cmpd="sng" algn="ctr">
                      <a:solidFill>
                        <a:srgbClr val="4A3A28"/>
                      </a:solidFill>
                      <a:prstDash val="solid"/>
                      <a:round/>
                      <a:headEnd type="none" w="med" len="med"/>
                      <a:tailEnd type="none" w="med" len="med"/>
                    </a:lnR>
                    <a:lnT w="6350" cap="flat" cmpd="sng" algn="ctr">
                      <a:solidFill>
                        <a:srgbClr val="4A3A28"/>
                      </a:solidFill>
                      <a:prstDash val="solid"/>
                      <a:round/>
                      <a:headEnd type="none" w="med" len="med"/>
                      <a:tailEnd type="none" w="med" len="med"/>
                    </a:lnT>
                    <a:lnB w="6350" cap="flat" cmpd="sng" algn="ctr">
                      <a:solidFill>
                        <a:srgbClr val="4A3A28"/>
                      </a:solidFill>
                      <a:prstDash val="solid"/>
                      <a:round/>
                      <a:headEnd type="none" w="med" len="med"/>
                      <a:tailEnd type="none" w="med" len="med"/>
                    </a:lnB>
                    <a:solidFill>
                      <a:srgbClr val="241C14"/>
                    </a:solidFill>
                  </a:tcPr>
                </a:tc>
              </a:tr>
              <a:tr h="384048">
                <a:tc>
                  <a:txBody>
                    <a:bodyPr/>
                    <a:lstStyle/>
                    <a:p>
                      <a:pPr indent="0" marL="0">
                        <a:buNone/>
                      </a:pPr>
                      <a:r>
                        <a:rPr lang="en-US" sz="1200" dirty="0">
                          <a:solidFill>
                            <a:srgbClr val="D8CDB4"/>
                          </a:solidFill>
                          <a:latin typeface="Arial" pitchFamily="34" charset="0"/>
                          <a:ea typeface="Arial" pitchFamily="34" charset="-122"/>
                          <a:cs typeface="Arial" pitchFamily="34" charset="-120"/>
                        </a:rPr>
                        <a:t>Buffer zone</a:t>
                      </a:r>
                      <a:endParaRPr lang="en-US" sz="1200" dirty="0">
                        <a:latin typeface="Arial" charset="0"/>
                        <a:ea typeface="Arial" charset="0"/>
                        <a:cs typeface="Arial" charset="0"/>
                      </a:endParaRPr>
                    </a:p>
                  </a:txBody>
                  <a:tcPr marL="91440" marR="91440" marT="45720" marB="45720" anchor="ctr">
                    <a:lnL w="6350" cap="flat" cmpd="sng" algn="ctr">
                      <a:solidFill>
                        <a:srgbClr val="4A3A28"/>
                      </a:solidFill>
                      <a:prstDash val="solid"/>
                      <a:round/>
                      <a:headEnd type="none" w="med" len="med"/>
                      <a:tailEnd type="none" w="med" len="med"/>
                    </a:lnL>
                    <a:lnR w="6350" cap="flat" cmpd="sng" algn="ctr">
                      <a:solidFill>
                        <a:srgbClr val="4A3A28"/>
                      </a:solidFill>
                      <a:prstDash val="solid"/>
                      <a:round/>
                      <a:headEnd type="none" w="med" len="med"/>
                      <a:tailEnd type="none" w="med" len="med"/>
                    </a:lnR>
                    <a:lnT w="6350" cap="flat" cmpd="sng" algn="ctr">
                      <a:solidFill>
                        <a:srgbClr val="4A3A28"/>
                      </a:solidFill>
                      <a:prstDash val="solid"/>
                      <a:round/>
                      <a:headEnd type="none" w="med" len="med"/>
                      <a:tailEnd type="none" w="med" len="med"/>
                    </a:lnT>
                    <a:lnB w="6350" cap="flat" cmpd="sng" algn="ctr">
                      <a:solidFill>
                        <a:srgbClr val="4A3A28"/>
                      </a:solidFill>
                      <a:prstDash val="solid"/>
                      <a:round/>
                      <a:headEnd type="none" w="med" len="med"/>
                      <a:tailEnd type="none" w="med" len="med"/>
                    </a:lnB>
                    <a:solidFill>
                      <a:srgbClr val="241C14"/>
                    </a:solidFill>
                  </a:tcPr>
                </a:tc>
                <a:tc>
                  <a:txBody>
                    <a:bodyPr/>
                    <a:lstStyle/>
                    <a:p>
                      <a:pPr indent="0" marL="0">
                        <a:buNone/>
                      </a:pPr>
                      <a:r>
                        <a:rPr lang="en-US" sz="1200" dirty="0">
                          <a:solidFill>
                            <a:srgbClr val="D8CDB4"/>
                          </a:solidFill>
                          <a:latin typeface="Arial" pitchFamily="34" charset="0"/>
                          <a:ea typeface="Arial" pitchFamily="34" charset="-122"/>
                          <a:cs typeface="Arial" pitchFamily="34" charset="-120"/>
                        </a:rPr>
                        <a:t>4,800.8 ha (11,863 acres)</a:t>
                      </a:r>
                      <a:endParaRPr lang="en-US" sz="1200" dirty="0">
                        <a:latin typeface="Arial" charset="0"/>
                        <a:ea typeface="Arial" charset="0"/>
                        <a:cs typeface="Arial" charset="0"/>
                      </a:endParaRPr>
                    </a:p>
                  </a:txBody>
                  <a:tcPr marL="91440" marR="91440" marT="45720" marB="45720" anchor="ctr">
                    <a:lnL w="6350" cap="flat" cmpd="sng" algn="ctr">
                      <a:solidFill>
                        <a:srgbClr val="4A3A28"/>
                      </a:solidFill>
                      <a:prstDash val="solid"/>
                      <a:round/>
                      <a:headEnd type="none" w="med" len="med"/>
                      <a:tailEnd type="none" w="med" len="med"/>
                    </a:lnL>
                    <a:lnR w="6350" cap="flat" cmpd="sng" algn="ctr">
                      <a:solidFill>
                        <a:srgbClr val="4A3A28"/>
                      </a:solidFill>
                      <a:prstDash val="solid"/>
                      <a:round/>
                      <a:headEnd type="none" w="med" len="med"/>
                      <a:tailEnd type="none" w="med" len="med"/>
                    </a:lnR>
                    <a:lnT w="6350" cap="flat" cmpd="sng" algn="ctr">
                      <a:solidFill>
                        <a:srgbClr val="4A3A28"/>
                      </a:solidFill>
                      <a:prstDash val="solid"/>
                      <a:round/>
                      <a:headEnd type="none" w="med" len="med"/>
                      <a:tailEnd type="none" w="med" len="med"/>
                    </a:lnT>
                    <a:lnB w="6350" cap="flat" cmpd="sng" algn="ctr">
                      <a:solidFill>
                        <a:srgbClr val="4A3A28"/>
                      </a:solidFill>
                      <a:prstDash val="solid"/>
                      <a:round/>
                      <a:headEnd type="none" w="med" len="med"/>
                      <a:tailEnd type="none" w="med" len="med"/>
                    </a:lnB>
                    <a:solidFill>
                      <a:srgbClr val="241C14"/>
                    </a:solidFill>
                  </a:tcPr>
                </a:tc>
              </a:tr>
              <a:tr h="384048">
                <a:tc>
                  <a:txBody>
                    <a:bodyPr/>
                    <a:lstStyle/>
                    <a:p>
                      <a:pPr indent="0" marL="0">
                        <a:buNone/>
                      </a:pPr>
                      <a:r>
                        <a:rPr lang="en-US" sz="1200" dirty="0">
                          <a:solidFill>
                            <a:srgbClr val="D8CDB4"/>
                          </a:solidFill>
                          <a:latin typeface="Arial" pitchFamily="34" charset="0"/>
                          <a:ea typeface="Arial" pitchFamily="34" charset="-122"/>
                          <a:cs typeface="Arial" pitchFamily="34" charset="-120"/>
                        </a:rPr>
                        <a:t>Total length</a:t>
                      </a:r>
                      <a:endParaRPr lang="en-US" sz="1200" dirty="0">
                        <a:latin typeface="Arial" charset="0"/>
                        <a:ea typeface="Arial" charset="0"/>
                        <a:cs typeface="Arial" charset="0"/>
                      </a:endParaRPr>
                    </a:p>
                  </a:txBody>
                  <a:tcPr marL="91440" marR="91440" marT="45720" marB="45720" anchor="ctr">
                    <a:lnL w="6350" cap="flat" cmpd="sng" algn="ctr">
                      <a:solidFill>
                        <a:srgbClr val="4A3A28"/>
                      </a:solidFill>
                      <a:prstDash val="solid"/>
                      <a:round/>
                      <a:headEnd type="none" w="med" len="med"/>
                      <a:tailEnd type="none" w="med" len="med"/>
                    </a:lnL>
                    <a:lnR w="6350" cap="flat" cmpd="sng" algn="ctr">
                      <a:solidFill>
                        <a:srgbClr val="4A3A28"/>
                      </a:solidFill>
                      <a:prstDash val="solid"/>
                      <a:round/>
                      <a:headEnd type="none" w="med" len="med"/>
                      <a:tailEnd type="none" w="med" len="med"/>
                    </a:lnR>
                    <a:lnT w="6350" cap="flat" cmpd="sng" algn="ctr">
                      <a:solidFill>
                        <a:srgbClr val="4A3A28"/>
                      </a:solidFill>
                      <a:prstDash val="solid"/>
                      <a:round/>
                      <a:headEnd type="none" w="med" len="med"/>
                      <a:tailEnd type="none" w="med" len="med"/>
                    </a:lnT>
                    <a:lnB w="6350" cap="flat" cmpd="sng" algn="ctr">
                      <a:solidFill>
                        <a:srgbClr val="4A3A28"/>
                      </a:solidFill>
                      <a:prstDash val="solid"/>
                      <a:round/>
                      <a:headEnd type="none" w="med" len="med"/>
                      <a:tailEnd type="none" w="med" len="med"/>
                    </a:lnB>
                    <a:solidFill>
                      <a:srgbClr val="241C14"/>
                    </a:solidFill>
                  </a:tcPr>
                </a:tc>
                <a:tc>
                  <a:txBody>
                    <a:bodyPr/>
                    <a:lstStyle/>
                    <a:p>
                      <a:pPr indent="0" marL="0">
                        <a:buNone/>
                      </a:pPr>
                      <a:r>
                        <a:rPr lang="en-US" sz="1200" dirty="0">
                          <a:solidFill>
                            <a:srgbClr val="D8CDB4"/>
                          </a:solidFill>
                          <a:latin typeface="Arial" pitchFamily="34" charset="0"/>
                          <a:ea typeface="Arial" pitchFamily="34" charset="-122"/>
                          <a:cs typeface="Arial" pitchFamily="34" charset="-120"/>
                        </a:rPr>
                        <a:t>21,196.18 km (13,170.70 mi)</a:t>
                      </a:r>
                      <a:endParaRPr lang="en-US" sz="1200" dirty="0">
                        <a:latin typeface="Arial" charset="0"/>
                        <a:ea typeface="Arial" charset="0"/>
                        <a:cs typeface="Arial" charset="0"/>
                      </a:endParaRPr>
                    </a:p>
                  </a:txBody>
                  <a:tcPr marL="91440" marR="91440" marT="45720" marB="45720" anchor="ctr">
                    <a:lnL w="6350" cap="flat" cmpd="sng" algn="ctr">
                      <a:solidFill>
                        <a:srgbClr val="4A3A28"/>
                      </a:solidFill>
                      <a:prstDash val="solid"/>
                      <a:round/>
                      <a:headEnd type="none" w="med" len="med"/>
                      <a:tailEnd type="none" w="med" len="med"/>
                    </a:lnL>
                    <a:lnR w="6350" cap="flat" cmpd="sng" algn="ctr">
                      <a:solidFill>
                        <a:srgbClr val="4A3A28"/>
                      </a:solidFill>
                      <a:prstDash val="solid"/>
                      <a:round/>
                      <a:headEnd type="none" w="med" len="med"/>
                      <a:tailEnd type="none" w="med" len="med"/>
                    </a:lnR>
                    <a:lnT w="6350" cap="flat" cmpd="sng" algn="ctr">
                      <a:solidFill>
                        <a:srgbClr val="4A3A28"/>
                      </a:solidFill>
                      <a:prstDash val="solid"/>
                      <a:round/>
                      <a:headEnd type="none" w="med" len="med"/>
                      <a:tailEnd type="none" w="med" len="med"/>
                    </a:lnT>
                    <a:lnB w="6350" cap="flat" cmpd="sng" algn="ctr">
                      <a:solidFill>
                        <a:srgbClr val="4A3A28"/>
                      </a:solidFill>
                      <a:prstDash val="solid"/>
                      <a:round/>
                      <a:headEnd type="none" w="med" len="med"/>
                      <a:tailEnd type="none" w="med" len="med"/>
                    </a:lnB>
                    <a:solidFill>
                      <a:srgbClr val="241C14"/>
                    </a:solidFill>
                  </a:tcPr>
                </a:tc>
              </a:tr>
            </a:tbl>
          </a:graphicData>
        </a:graphic>
      </p:graphicFrame>
      <p:sp>
        <p:nvSpPr>
          <p:cNvPr id="6" name="Text 3"/>
          <p:cNvSpPr/>
          <p:nvPr/>
        </p:nvSpPr>
        <p:spPr>
          <a:xfrm>
            <a:off x="548640" y="6446520"/>
            <a:ext cx="5486400" cy="274320"/>
          </a:xfrm>
          <a:prstGeom prst="rect">
            <a:avLst/>
          </a:prstGeom>
          <a:noFill/>
          <a:ln/>
        </p:spPr>
        <p:txBody>
          <a:bodyPr wrap="square" rtlCol="0" anchor="ctr"/>
          <a:lstStyle/>
          <a:p>
            <a:pPr indent="0" marL="0">
              <a:buNone/>
            </a:pPr>
            <a:r>
              <a:rPr lang="en-US" sz="800" spc="200" kern="0" dirty="0">
                <a:solidFill>
                  <a:srgbClr val="D8CDB4"/>
                </a:solidFill>
                <a:latin typeface="Arial" pitchFamily="34" charset="0"/>
                <a:ea typeface="Arial" pitchFamily="34" charset="-122"/>
                <a:cs typeface="Arial" pitchFamily="34" charset="-120"/>
              </a:rPr>
              <a:t>THE GREAT WALL OF CHINA</a:t>
            </a:r>
            <a:endParaRPr lang="en-US" sz="800" dirty="0"/>
          </a:p>
        </p:txBody>
      </p:sp>
      <p:sp>
        <p:nvSpPr>
          <p:cNvPr id="7" name="Text 4"/>
          <p:cNvSpPr/>
          <p:nvPr/>
        </p:nvSpPr>
        <p:spPr>
          <a:xfrm>
            <a:off x="11155680" y="6446520"/>
            <a:ext cx="548640" cy="274320"/>
          </a:xfrm>
          <a:prstGeom prst="rect">
            <a:avLst/>
          </a:prstGeom>
          <a:noFill/>
          <a:ln/>
        </p:spPr>
        <p:txBody>
          <a:bodyPr wrap="square" rtlCol="0" anchor="ctr"/>
          <a:lstStyle/>
          <a:p>
            <a:pPr algn="r" indent="0" marL="0">
              <a:buNone/>
            </a:pPr>
            <a:r>
              <a:rPr lang="en-US" sz="900" dirty="0">
                <a:solidFill>
                  <a:srgbClr val="D4AF37"/>
                </a:solidFill>
                <a:latin typeface="Georgia" pitchFamily="34" charset="0"/>
                <a:ea typeface="Georgia" pitchFamily="34" charset="-122"/>
                <a:cs typeface="Georgia"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1410"/>
        </a:solidFill>
      </p:bgPr>
    </p:bg>
    <p:spTree>
      <p:nvGrpSpPr>
        <p:cNvPr id="1" name=""/>
        <p:cNvGrpSpPr/>
        <p:nvPr/>
      </p:nvGrpSpPr>
      <p:grpSpPr>
        <a:xfrm>
          <a:off x="0" y="0"/>
          <a:ext cx="0" cy="0"/>
          <a:chOff x="0" y="0"/>
          <a:chExt cx="0" cy="0"/>
        </a:xfrm>
      </p:grpSpPr>
      <p:sp>
        <p:nvSpPr>
          <p:cNvPr id="2" name="Text 0"/>
          <p:cNvSpPr/>
          <p:nvPr/>
        </p:nvSpPr>
        <p:spPr>
          <a:xfrm>
            <a:off x="548640" y="502920"/>
            <a:ext cx="10972800" cy="320040"/>
          </a:xfrm>
          <a:prstGeom prst="rect">
            <a:avLst/>
          </a:prstGeom>
          <a:noFill/>
          <a:ln/>
        </p:spPr>
        <p:txBody>
          <a:bodyPr wrap="square" rtlCol="0" anchor="ctr"/>
          <a:lstStyle/>
          <a:p>
            <a:pPr indent="0" marL="0">
              <a:buNone/>
            </a:pPr>
            <a:r>
              <a:rPr lang="en-US" sz="1200" b="1" spc="300" kern="0" dirty="0">
                <a:solidFill>
                  <a:srgbClr val="D4AF37"/>
                </a:solidFill>
                <a:latin typeface="Georgia" pitchFamily="34" charset="0"/>
                <a:ea typeface="Georgia" pitchFamily="34" charset="-122"/>
                <a:cs typeface="Georgia" pitchFamily="34" charset="-120"/>
              </a:rPr>
              <a:t>HISTORY · PART I</a:t>
            </a:r>
            <a:endParaRPr lang="en-US" sz="1200" dirty="0"/>
          </a:p>
        </p:txBody>
      </p:sp>
      <p:sp>
        <p:nvSpPr>
          <p:cNvPr id="3" name="Text 1"/>
          <p:cNvSpPr/>
          <p:nvPr/>
        </p:nvSpPr>
        <p:spPr>
          <a:xfrm>
            <a:off x="548640" y="868680"/>
            <a:ext cx="11064240" cy="822960"/>
          </a:xfrm>
          <a:prstGeom prst="rect">
            <a:avLst/>
          </a:prstGeom>
          <a:noFill/>
          <a:ln/>
        </p:spPr>
        <p:txBody>
          <a:bodyPr wrap="square" lIns="0" tIns="0" rIns="0" bIns="0" rtlCol="0" anchor="ctr"/>
          <a:lstStyle/>
          <a:p>
            <a:pPr indent="0" marL="0">
              <a:buNone/>
            </a:pPr>
            <a:r>
              <a:rPr lang="en-US" sz="3400" b="1" dirty="0">
                <a:solidFill>
                  <a:srgbClr val="F5EFE0"/>
                </a:solidFill>
                <a:latin typeface="Georgia" pitchFamily="34" charset="0"/>
                <a:ea typeface="Georgia" pitchFamily="34" charset="-122"/>
                <a:cs typeface="Georgia" pitchFamily="34" charset="-120"/>
              </a:rPr>
              <a:t>Early Walls &amp; the Qin Unification</a:t>
            </a:r>
            <a:endParaRPr lang="en-US" sz="3400" dirty="0"/>
          </a:p>
        </p:txBody>
      </p:sp>
      <p:sp>
        <p:nvSpPr>
          <p:cNvPr id="4" name="Shape 2"/>
          <p:cNvSpPr/>
          <p:nvPr/>
        </p:nvSpPr>
        <p:spPr>
          <a:xfrm>
            <a:off x="566928" y="1783080"/>
            <a:ext cx="1463040" cy="41148"/>
          </a:xfrm>
          <a:prstGeom prst="rect">
            <a:avLst/>
          </a:prstGeom>
          <a:solidFill>
            <a:srgbClr val="D4AF37"/>
          </a:solidFill>
          <a:ln/>
        </p:spPr>
      </p:sp>
      <p:sp>
        <p:nvSpPr>
          <p:cNvPr id="5" name="Text 3"/>
          <p:cNvSpPr/>
          <p:nvPr/>
        </p:nvSpPr>
        <p:spPr>
          <a:xfrm>
            <a:off x="640080" y="2103120"/>
            <a:ext cx="6035040" cy="1737360"/>
          </a:xfrm>
          <a:prstGeom prst="rect">
            <a:avLst/>
          </a:prstGeom>
          <a:noFill/>
          <a:ln/>
        </p:spPr>
        <p:txBody>
          <a:bodyPr wrap="square" lIns="0" tIns="0" rIns="0" bIns="0" rtlCol="0" anchor="t"/>
          <a:lstStyle/>
          <a:p>
            <a:pPr indent="0" marL="0">
              <a:lnSpc>
                <a:spcPct val="115000"/>
              </a:lnSpc>
              <a:buNone/>
            </a:pPr>
            <a:r>
              <a:rPr lang="en-US" sz="1300" dirty="0">
                <a:solidFill>
                  <a:srgbClr val="D8CDB4"/>
                </a:solidFill>
                <a:latin typeface="Arial" pitchFamily="34" charset="0"/>
                <a:ea typeface="Arial" pitchFamily="34" charset="-122"/>
                <a:cs typeface="Arial" pitchFamily="34" charset="-120"/>
              </a:rPr>
              <a:t>The Chinese were already masters of wall-building by the Spring and Autumn period (8th–5th century BC). During the Warring States era, the states of Zheng, Chu, Qin, Wei, Zhao, Qi, Lu, Han, Yan, Zhongshan and Zhou all raised extensive fortifications to defend their borders.</a:t>
            </a:r>
            <a:endParaRPr lang="en-US" sz="1300" dirty="0"/>
          </a:p>
        </p:txBody>
      </p:sp>
      <p:sp>
        <p:nvSpPr>
          <p:cNvPr id="6" name="Text 4"/>
          <p:cNvSpPr/>
          <p:nvPr/>
        </p:nvSpPr>
        <p:spPr>
          <a:xfrm>
            <a:off x="640080" y="3794760"/>
            <a:ext cx="6035040" cy="1828800"/>
          </a:xfrm>
          <a:prstGeom prst="rect">
            <a:avLst/>
          </a:prstGeom>
          <a:noFill/>
          <a:ln/>
        </p:spPr>
        <p:txBody>
          <a:bodyPr wrap="square" lIns="0" tIns="0" rIns="0" bIns="0" rtlCol="0" anchor="t"/>
          <a:lstStyle/>
          <a:p>
            <a:pPr indent="0" marL="0">
              <a:lnSpc>
                <a:spcPct val="115000"/>
              </a:lnSpc>
              <a:buNone/>
            </a:pPr>
            <a:r>
              <a:rPr lang="en-US" sz="1300" dirty="0">
                <a:solidFill>
                  <a:srgbClr val="D8CDB4"/>
                </a:solidFill>
                <a:latin typeface="Arial" pitchFamily="34" charset="0"/>
                <a:ea typeface="Arial" pitchFamily="34" charset="-122"/>
                <a:cs typeface="Arial" pitchFamily="34" charset="-120"/>
              </a:rPr>
              <a:t>In 221 BC the state of Qin triumphed and its ruler — the First Emperor of a unified China — ordered the destruction of internal walls and the building of new ones to connect the remaining fortifications along the northern frontier against the Xiongnu. “Build and move on” was the guiding principle: the wall was never a permanently fixed border.</a:t>
            </a:r>
            <a:endParaRPr lang="en-US" sz="1300" dirty="0"/>
          </a:p>
        </p:txBody>
      </p:sp>
      <p:sp>
        <p:nvSpPr>
          <p:cNvPr id="7" name="Text 5"/>
          <p:cNvSpPr/>
          <p:nvPr/>
        </p:nvSpPr>
        <p:spPr>
          <a:xfrm>
            <a:off x="640080" y="5486400"/>
            <a:ext cx="6035040" cy="822960"/>
          </a:xfrm>
          <a:prstGeom prst="rect">
            <a:avLst/>
          </a:prstGeom>
          <a:noFill/>
          <a:ln/>
        </p:spPr>
        <p:txBody>
          <a:bodyPr wrap="square" lIns="0" tIns="0" rIns="0" bIns="0" rtlCol="0" anchor="t"/>
          <a:lstStyle/>
          <a:p>
            <a:pPr indent="0" marL="0">
              <a:lnSpc>
                <a:spcPct val="115000"/>
              </a:lnSpc>
              <a:buNone/>
            </a:pPr>
            <a:r>
              <a:rPr lang="en-US" sz="1200" dirty="0">
                <a:solidFill>
                  <a:srgbClr val="D8CDB4"/>
                </a:solidFill>
                <a:latin typeface="Arial" pitchFamily="34" charset="0"/>
                <a:ea typeface="Arial" pitchFamily="34" charset="-122"/>
                <a:cs typeface="Arial" pitchFamily="34" charset="-120"/>
              </a:rPr>
              <a:t>Builders always used local resources — stone in the mountains, rammed earth on the plains. Later the Han, the Northern dynasties and the Sui all repaired, rebuilt or expanded the wall at great cost.</a:t>
            </a:r>
            <a:endParaRPr lang="en-US" sz="1200" dirty="0"/>
          </a:p>
        </p:txBody>
      </p:sp>
      <p:pic>
        <p:nvPicPr>
          <p:cNvPr id="8" name="Image 0" descr="C:\Users\18367\Desktop\test\web-app-test\runtime\artifacts\chat_9a283d290d7d\document-assets\download-Remains_of_Beacon_tower_near_Yumenguan._2011.jpg">    </p:cNvPr>
          <p:cNvPicPr>
            <a:picLocks noChangeAspect="1"/>
          </p:cNvPicPr>
          <p:nvPr/>
        </p:nvPicPr>
        <p:blipFill>
          <a:blip r:embed="rId1"/>
          <a:srcRect l="0" r="0" t="0" b="0"/>
          <a:stretch/>
        </p:blipFill>
        <p:spPr>
          <a:xfrm>
            <a:off x="6949440" y="2103120"/>
            <a:ext cx="4572000" cy="2834640"/>
          </a:xfrm>
          <a:prstGeom prst="rect">
            <a:avLst/>
          </a:prstGeom>
        </p:spPr>
      </p:pic>
      <p:sp>
        <p:nvSpPr>
          <p:cNvPr id="9" name="Shape 6"/>
          <p:cNvSpPr/>
          <p:nvPr/>
        </p:nvSpPr>
        <p:spPr>
          <a:xfrm>
            <a:off x="6949440" y="2103120"/>
            <a:ext cx="4572000" cy="310896"/>
          </a:xfrm>
          <a:prstGeom prst="rect">
            <a:avLst/>
          </a:prstGeom>
          <a:solidFill>
            <a:srgbClr val="1A1410">
              <a:alpha val="75000"/>
            </a:srgbClr>
          </a:solidFill>
          <a:ln/>
        </p:spPr>
      </p:sp>
      <p:sp>
        <p:nvSpPr>
          <p:cNvPr id="10" name="Text 7"/>
          <p:cNvSpPr/>
          <p:nvPr/>
        </p:nvSpPr>
        <p:spPr>
          <a:xfrm>
            <a:off x="7059168" y="4663440"/>
            <a:ext cx="4352544" cy="237744"/>
          </a:xfrm>
          <a:prstGeom prst="rect">
            <a:avLst/>
          </a:prstGeom>
          <a:noFill/>
          <a:ln/>
        </p:spPr>
        <p:txBody>
          <a:bodyPr wrap="square" lIns="0" tIns="0" rIns="0" bIns="0" rtlCol="0" anchor="ctr"/>
          <a:lstStyle/>
          <a:p>
            <a:pPr indent="0" marL="0">
              <a:buNone/>
            </a:pPr>
            <a:r>
              <a:rPr lang="en-US" sz="900" i="1" dirty="0">
                <a:solidFill>
                  <a:srgbClr val="F5EFE0"/>
                </a:solidFill>
                <a:latin typeface="Arial" pitchFamily="34" charset="0"/>
                <a:ea typeface="Arial" pitchFamily="34" charset="-122"/>
                <a:cs typeface="Arial" pitchFamily="34" charset="-120"/>
              </a:rPr>
              <a:t>Remains of a beacon tower near Yumenguan, 2011</a:t>
            </a:r>
            <a:endParaRPr lang="en-US" sz="900" dirty="0"/>
          </a:p>
        </p:txBody>
      </p:sp>
      <p:pic>
        <p:nvPicPr>
          <p:cNvPr id="11" name="Image 1" descr="C:\Users\18367\Desktop\test\web-app-test\runtime\artifacts\chat_9a283d290d7d\document-assets\download-GreatWall_2004_Summer_1A.jpg">    </p:cNvPr>
          <p:cNvPicPr>
            <a:picLocks noChangeAspect="1"/>
          </p:cNvPicPr>
          <p:nvPr/>
        </p:nvPicPr>
        <p:blipFill>
          <a:blip r:embed="rId2"/>
          <a:srcRect l="0" r="0" t="0" b="0"/>
          <a:stretch/>
        </p:blipFill>
        <p:spPr>
          <a:xfrm>
            <a:off x="6949440" y="5120640"/>
            <a:ext cx="4572000" cy="1417320"/>
          </a:xfrm>
          <a:prstGeom prst="rect">
            <a:avLst/>
          </a:prstGeom>
        </p:spPr>
      </p:pic>
      <p:sp>
        <p:nvSpPr>
          <p:cNvPr id="12" name="Shape 8"/>
          <p:cNvSpPr/>
          <p:nvPr/>
        </p:nvSpPr>
        <p:spPr>
          <a:xfrm>
            <a:off x="6949440" y="5120640"/>
            <a:ext cx="4572000" cy="310896"/>
          </a:xfrm>
          <a:prstGeom prst="rect">
            <a:avLst/>
          </a:prstGeom>
          <a:solidFill>
            <a:srgbClr val="1A1410">
              <a:alpha val="75000"/>
            </a:srgbClr>
          </a:solidFill>
          <a:ln/>
        </p:spPr>
      </p:sp>
      <p:sp>
        <p:nvSpPr>
          <p:cNvPr id="13" name="Text 9"/>
          <p:cNvSpPr/>
          <p:nvPr/>
        </p:nvSpPr>
        <p:spPr>
          <a:xfrm>
            <a:off x="7059168" y="6263640"/>
            <a:ext cx="4352544" cy="237744"/>
          </a:xfrm>
          <a:prstGeom prst="rect">
            <a:avLst/>
          </a:prstGeom>
          <a:noFill/>
          <a:ln/>
        </p:spPr>
        <p:txBody>
          <a:bodyPr wrap="square" lIns="0" tIns="0" rIns="0" bIns="0" rtlCol="0" anchor="ctr"/>
          <a:lstStyle/>
          <a:p>
            <a:pPr indent="0" marL="0">
              <a:buNone/>
            </a:pPr>
            <a:r>
              <a:rPr lang="en-US" sz="900" i="1" dirty="0">
                <a:solidFill>
                  <a:srgbClr val="F5EFE0"/>
                </a:solidFill>
                <a:latin typeface="Arial" pitchFamily="34" charset="0"/>
                <a:ea typeface="Arial" pitchFamily="34" charset="-122"/>
                <a:cs typeface="Arial" pitchFamily="34" charset="-120"/>
              </a:rPr>
              <a:t>The Great Wall at Badaling</a:t>
            </a:r>
            <a:endParaRPr lang="en-US" sz="900" dirty="0"/>
          </a:p>
        </p:txBody>
      </p:sp>
      <p:sp>
        <p:nvSpPr>
          <p:cNvPr id="14" name="Text 10"/>
          <p:cNvSpPr/>
          <p:nvPr/>
        </p:nvSpPr>
        <p:spPr>
          <a:xfrm>
            <a:off x="548640" y="6446520"/>
            <a:ext cx="5486400" cy="274320"/>
          </a:xfrm>
          <a:prstGeom prst="rect">
            <a:avLst/>
          </a:prstGeom>
          <a:noFill/>
          <a:ln/>
        </p:spPr>
        <p:txBody>
          <a:bodyPr wrap="square" rtlCol="0" anchor="ctr"/>
          <a:lstStyle/>
          <a:p>
            <a:pPr indent="0" marL="0">
              <a:buNone/>
            </a:pPr>
            <a:r>
              <a:rPr lang="en-US" sz="800" spc="200" kern="0" dirty="0">
                <a:solidFill>
                  <a:srgbClr val="D8CDB4"/>
                </a:solidFill>
                <a:latin typeface="Arial" pitchFamily="34" charset="0"/>
                <a:ea typeface="Arial" pitchFamily="34" charset="-122"/>
                <a:cs typeface="Arial" pitchFamily="34" charset="-120"/>
              </a:rPr>
              <a:t>THE GREAT WALL OF CHINA</a:t>
            </a:r>
            <a:endParaRPr lang="en-US" sz="800" dirty="0"/>
          </a:p>
        </p:txBody>
      </p:sp>
      <p:sp>
        <p:nvSpPr>
          <p:cNvPr id="15" name="Text 11"/>
          <p:cNvSpPr/>
          <p:nvPr/>
        </p:nvSpPr>
        <p:spPr>
          <a:xfrm>
            <a:off x="11155680" y="6446520"/>
            <a:ext cx="548640" cy="274320"/>
          </a:xfrm>
          <a:prstGeom prst="rect">
            <a:avLst/>
          </a:prstGeom>
          <a:noFill/>
          <a:ln/>
        </p:spPr>
        <p:txBody>
          <a:bodyPr wrap="square" rtlCol="0" anchor="ctr"/>
          <a:lstStyle/>
          <a:p>
            <a:pPr algn="r" indent="0" marL="0">
              <a:buNone/>
            </a:pPr>
            <a:r>
              <a:rPr lang="en-US" sz="900" dirty="0">
                <a:solidFill>
                  <a:srgbClr val="D4AF37"/>
                </a:solidFill>
                <a:latin typeface="Georgia" pitchFamily="34" charset="0"/>
                <a:ea typeface="Georgia" pitchFamily="34" charset="-122"/>
                <a:cs typeface="Georgia"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1410"/>
        </a:solidFill>
      </p:bgPr>
    </p:bg>
    <p:spTree>
      <p:nvGrpSpPr>
        <p:cNvPr id="1" name=""/>
        <p:cNvGrpSpPr/>
        <p:nvPr/>
      </p:nvGrpSpPr>
      <p:grpSpPr>
        <a:xfrm>
          <a:off x="0" y="0"/>
          <a:ext cx="0" cy="0"/>
          <a:chOff x="0" y="0"/>
          <a:chExt cx="0" cy="0"/>
        </a:xfrm>
      </p:grpSpPr>
      <p:sp>
        <p:nvSpPr>
          <p:cNvPr id="2" name="Text 0"/>
          <p:cNvSpPr/>
          <p:nvPr/>
        </p:nvSpPr>
        <p:spPr>
          <a:xfrm>
            <a:off x="548640" y="502920"/>
            <a:ext cx="10972800" cy="320040"/>
          </a:xfrm>
          <a:prstGeom prst="rect">
            <a:avLst/>
          </a:prstGeom>
          <a:noFill/>
          <a:ln/>
        </p:spPr>
        <p:txBody>
          <a:bodyPr wrap="square" rtlCol="0" anchor="ctr"/>
          <a:lstStyle/>
          <a:p>
            <a:pPr indent="0" marL="0">
              <a:buNone/>
            </a:pPr>
            <a:r>
              <a:rPr lang="en-US" sz="1200" b="1" spc="300" kern="0" dirty="0">
                <a:solidFill>
                  <a:srgbClr val="D4AF37"/>
                </a:solidFill>
                <a:latin typeface="Georgia" pitchFamily="34" charset="0"/>
                <a:ea typeface="Georgia" pitchFamily="34" charset="-122"/>
                <a:cs typeface="Georgia" pitchFamily="34" charset="-120"/>
              </a:rPr>
              <a:t>HISTORY · PART II</a:t>
            </a:r>
            <a:endParaRPr lang="en-US" sz="1200" dirty="0"/>
          </a:p>
        </p:txBody>
      </p:sp>
      <p:sp>
        <p:nvSpPr>
          <p:cNvPr id="3" name="Text 1"/>
          <p:cNvSpPr/>
          <p:nvPr/>
        </p:nvSpPr>
        <p:spPr>
          <a:xfrm>
            <a:off x="548640" y="868680"/>
            <a:ext cx="11064240" cy="822960"/>
          </a:xfrm>
          <a:prstGeom prst="rect">
            <a:avLst/>
          </a:prstGeom>
          <a:noFill/>
          <a:ln/>
        </p:spPr>
        <p:txBody>
          <a:bodyPr wrap="square" lIns="0" tIns="0" rIns="0" bIns="0" rtlCol="0" anchor="ctr"/>
          <a:lstStyle/>
          <a:p>
            <a:pPr indent="0" marL="0">
              <a:buNone/>
            </a:pPr>
            <a:r>
              <a:rPr lang="en-US" sz="3400" b="1" dirty="0">
                <a:solidFill>
                  <a:srgbClr val="F5EFE0"/>
                </a:solidFill>
                <a:latin typeface="Georgia" pitchFamily="34" charset="0"/>
                <a:ea typeface="Georgia" pitchFamily="34" charset="-122"/>
                <a:cs typeface="Georgia" pitchFamily="34" charset="-120"/>
              </a:rPr>
              <a:t>The Ming Dynasty &amp; the Modern Wall</a:t>
            </a:r>
            <a:endParaRPr lang="en-US" sz="3400" dirty="0"/>
          </a:p>
        </p:txBody>
      </p:sp>
      <p:sp>
        <p:nvSpPr>
          <p:cNvPr id="4" name="Shape 2"/>
          <p:cNvSpPr/>
          <p:nvPr/>
        </p:nvSpPr>
        <p:spPr>
          <a:xfrm>
            <a:off x="566928" y="1783080"/>
            <a:ext cx="1463040" cy="41148"/>
          </a:xfrm>
          <a:prstGeom prst="rect">
            <a:avLst/>
          </a:prstGeom>
          <a:solidFill>
            <a:srgbClr val="D4AF37"/>
          </a:solidFill>
          <a:ln/>
        </p:spPr>
      </p:sp>
      <p:sp>
        <p:nvSpPr>
          <p:cNvPr id="5" name="Text 3"/>
          <p:cNvSpPr/>
          <p:nvPr/>
        </p:nvSpPr>
        <p:spPr>
          <a:xfrm>
            <a:off x="640080" y="2103120"/>
            <a:ext cx="6035040" cy="1737360"/>
          </a:xfrm>
          <a:prstGeom prst="rect">
            <a:avLst/>
          </a:prstGeom>
          <a:noFill/>
          <a:ln/>
        </p:spPr>
        <p:txBody>
          <a:bodyPr wrap="square" lIns="0" tIns="0" rIns="0" bIns="0" rtlCol="0" anchor="t"/>
          <a:lstStyle/>
          <a:p>
            <a:pPr indent="0" marL="0">
              <a:lnSpc>
                <a:spcPct val="115000"/>
              </a:lnSpc>
              <a:buNone/>
            </a:pPr>
            <a:r>
              <a:rPr lang="en-US" sz="1300" dirty="0">
                <a:solidFill>
                  <a:srgbClr val="D8CDB4"/>
                </a:solidFill>
                <a:latin typeface="Arial" pitchFamily="34" charset="0"/>
                <a:ea typeface="Arial" pitchFamily="34" charset="-122"/>
                <a:cs typeface="Arial" pitchFamily="34" charset="-120"/>
              </a:rPr>
              <a:t>After the defeat at the Battle of Tumu, the Ming dynasty (1368–1644) adopted a new strategy: walls along the northern border. Unlike earlier fortifications, Ming construction was stronger and more elaborate, using bricks and stone instead of rammed earth. Up to 25,000 watchtowers were built.</a:t>
            </a:r>
            <a:endParaRPr lang="en-US" sz="1300" dirty="0"/>
          </a:p>
        </p:txBody>
      </p:sp>
      <p:sp>
        <p:nvSpPr>
          <p:cNvPr id="6" name="Text 4"/>
          <p:cNvSpPr/>
          <p:nvPr/>
        </p:nvSpPr>
        <p:spPr>
          <a:xfrm>
            <a:off x="640080" y="3794760"/>
            <a:ext cx="6035040" cy="1828800"/>
          </a:xfrm>
          <a:prstGeom prst="rect">
            <a:avLst/>
          </a:prstGeom>
          <a:noFill/>
          <a:ln/>
        </p:spPr>
        <p:txBody>
          <a:bodyPr wrap="square" lIns="0" tIns="0" rIns="0" bIns="0" rtlCol="0" anchor="t"/>
          <a:lstStyle/>
          <a:p>
            <a:pPr indent="0" marL="0">
              <a:lnSpc>
                <a:spcPct val="115000"/>
              </a:lnSpc>
              <a:buNone/>
            </a:pPr>
            <a:r>
              <a:rPr lang="en-US" sz="1300" dirty="0">
                <a:solidFill>
                  <a:srgbClr val="D8CDB4"/>
                </a:solidFill>
                <a:latin typeface="Arial" pitchFamily="34" charset="0"/>
                <a:ea typeface="Arial" pitchFamily="34" charset="-122"/>
                <a:cs typeface="Arial" pitchFamily="34" charset="-120"/>
              </a:rPr>
              <a:t>Under General Qi Jiguang, 1,200 watchtowers were raised from Shanhaiguan Pass to Changping between 1567 and 1570, and rammed-earth sections were faced with bricks. The wall helped hold the Manchu invasions around 1600 — the Ming army held the fortified Shanhai Pass, keeping the Manchus from the Chinese heartland.</a:t>
            </a:r>
            <a:endParaRPr lang="en-US" sz="1300" dirty="0"/>
          </a:p>
        </p:txBody>
      </p:sp>
      <p:sp>
        <p:nvSpPr>
          <p:cNvPr id="7" name="Text 5"/>
          <p:cNvSpPr/>
          <p:nvPr/>
        </p:nvSpPr>
        <p:spPr>
          <a:xfrm>
            <a:off x="640080" y="5486400"/>
            <a:ext cx="6035040" cy="822960"/>
          </a:xfrm>
          <a:prstGeom prst="rect">
            <a:avLst/>
          </a:prstGeom>
          <a:noFill/>
          <a:ln/>
        </p:spPr>
        <p:txBody>
          <a:bodyPr wrap="square" lIns="0" tIns="0" rIns="0" bIns="0" rtlCol="0" anchor="t"/>
          <a:lstStyle/>
          <a:p>
            <a:pPr indent="0" marL="0">
              <a:lnSpc>
                <a:spcPct val="115000"/>
              </a:lnSpc>
              <a:buNone/>
            </a:pPr>
            <a:r>
              <a:rPr lang="en-US" sz="1200" dirty="0">
                <a:solidFill>
                  <a:srgbClr val="D8CDB4"/>
                </a:solidFill>
                <a:latin typeface="Arial" pitchFamily="34" charset="0"/>
                <a:ea typeface="Arial" pitchFamily="34" charset="-122"/>
                <a:cs typeface="Arial" pitchFamily="34" charset="-120"/>
              </a:rPr>
              <a:t>The best-known sections of the Great Wall today — those of brick and stone — were built by the Ming dynasty.</a:t>
            </a:r>
            <a:endParaRPr lang="en-US" sz="1200" dirty="0"/>
          </a:p>
        </p:txBody>
      </p:sp>
      <p:pic>
        <p:nvPicPr>
          <p:cNvPr id="8" name="Image 0" descr="C:\Users\18367\Desktop\test\web-app-test\runtime\artifacts\chat_9a283d290d7d\document-assets\download-Great_Wall_at_Simatai_overlooking_gorge.jpg">    </p:cNvPr>
          <p:cNvPicPr>
            <a:picLocks noChangeAspect="1"/>
          </p:cNvPicPr>
          <p:nvPr/>
        </p:nvPicPr>
        <p:blipFill>
          <a:blip r:embed="rId1"/>
          <a:srcRect l="0" r="0" t="0" b="0"/>
          <a:stretch/>
        </p:blipFill>
        <p:spPr>
          <a:xfrm>
            <a:off x="6949440" y="2103120"/>
            <a:ext cx="4572000" cy="2834640"/>
          </a:xfrm>
          <a:prstGeom prst="rect">
            <a:avLst/>
          </a:prstGeom>
        </p:spPr>
      </p:pic>
      <p:sp>
        <p:nvSpPr>
          <p:cNvPr id="9" name="Shape 6"/>
          <p:cNvSpPr/>
          <p:nvPr/>
        </p:nvSpPr>
        <p:spPr>
          <a:xfrm>
            <a:off x="6949440" y="2103120"/>
            <a:ext cx="4572000" cy="310896"/>
          </a:xfrm>
          <a:prstGeom prst="rect">
            <a:avLst/>
          </a:prstGeom>
          <a:solidFill>
            <a:srgbClr val="1A1410">
              <a:alpha val="75000"/>
            </a:srgbClr>
          </a:solidFill>
          <a:ln/>
        </p:spPr>
      </p:sp>
      <p:sp>
        <p:nvSpPr>
          <p:cNvPr id="10" name="Text 7"/>
          <p:cNvSpPr/>
          <p:nvPr/>
        </p:nvSpPr>
        <p:spPr>
          <a:xfrm>
            <a:off x="7059168" y="4663440"/>
            <a:ext cx="4352544" cy="237744"/>
          </a:xfrm>
          <a:prstGeom prst="rect">
            <a:avLst/>
          </a:prstGeom>
          <a:noFill/>
          <a:ln/>
        </p:spPr>
        <p:txBody>
          <a:bodyPr wrap="square" lIns="0" tIns="0" rIns="0" bIns="0" rtlCol="0" anchor="ctr"/>
          <a:lstStyle/>
          <a:p>
            <a:pPr indent="0" marL="0">
              <a:buNone/>
            </a:pPr>
            <a:r>
              <a:rPr lang="en-US" sz="900" i="1" dirty="0">
                <a:solidFill>
                  <a:srgbClr val="F5EFE0"/>
                </a:solidFill>
                <a:latin typeface="Arial" pitchFamily="34" charset="0"/>
                <a:ea typeface="Arial" pitchFamily="34" charset="-122"/>
                <a:cs typeface="Arial" pitchFamily="34" charset="-120"/>
              </a:rPr>
              <a:t>Ming Great Wall at Simatai, overlooking the gorge</a:t>
            </a:r>
            <a:endParaRPr lang="en-US" sz="900" dirty="0"/>
          </a:p>
        </p:txBody>
      </p:sp>
      <p:pic>
        <p:nvPicPr>
          <p:cNvPr id="11" name="Image 1" descr="C:\Users\18367\Desktop\test\web-app-test\runtime\artifacts\chat_9a283d290d7d\document-assets\download-MutianyuGreatWallWildSection.JPG">    </p:cNvPr>
          <p:cNvPicPr>
            <a:picLocks noChangeAspect="1"/>
          </p:cNvPicPr>
          <p:nvPr/>
        </p:nvPicPr>
        <p:blipFill>
          <a:blip r:embed="rId2"/>
          <a:srcRect l="0" r="0" t="0" b="0"/>
          <a:stretch/>
        </p:blipFill>
        <p:spPr>
          <a:xfrm>
            <a:off x="6949440" y="5120640"/>
            <a:ext cx="4572000" cy="1417320"/>
          </a:xfrm>
          <a:prstGeom prst="rect">
            <a:avLst/>
          </a:prstGeom>
        </p:spPr>
      </p:pic>
      <p:sp>
        <p:nvSpPr>
          <p:cNvPr id="12" name="Shape 8"/>
          <p:cNvSpPr/>
          <p:nvPr/>
        </p:nvSpPr>
        <p:spPr>
          <a:xfrm>
            <a:off x="6949440" y="5120640"/>
            <a:ext cx="4572000" cy="310896"/>
          </a:xfrm>
          <a:prstGeom prst="rect">
            <a:avLst/>
          </a:prstGeom>
          <a:solidFill>
            <a:srgbClr val="1A1410">
              <a:alpha val="75000"/>
            </a:srgbClr>
          </a:solidFill>
          <a:ln/>
        </p:spPr>
      </p:sp>
      <p:sp>
        <p:nvSpPr>
          <p:cNvPr id="13" name="Text 9"/>
          <p:cNvSpPr/>
          <p:nvPr/>
        </p:nvSpPr>
        <p:spPr>
          <a:xfrm>
            <a:off x="7059168" y="6263640"/>
            <a:ext cx="4352544" cy="237744"/>
          </a:xfrm>
          <a:prstGeom prst="rect">
            <a:avLst/>
          </a:prstGeom>
          <a:noFill/>
          <a:ln/>
        </p:spPr>
        <p:txBody>
          <a:bodyPr wrap="square" lIns="0" tIns="0" rIns="0" bIns="0" rtlCol="0" anchor="ctr"/>
          <a:lstStyle/>
          <a:p>
            <a:pPr indent="0" marL="0">
              <a:buNone/>
            </a:pPr>
            <a:r>
              <a:rPr lang="en-US" sz="900" i="1" dirty="0">
                <a:solidFill>
                  <a:srgbClr val="F5EFE0"/>
                </a:solidFill>
                <a:latin typeface="Arial" pitchFamily="34" charset="0"/>
                <a:ea typeface="Arial" pitchFamily="34" charset="-122"/>
                <a:cs typeface="Arial" pitchFamily="34" charset="-120"/>
              </a:rPr>
              <a:t>Mutianyu — an unrestored wild section</a:t>
            </a:r>
            <a:endParaRPr lang="en-US" sz="900" dirty="0"/>
          </a:p>
        </p:txBody>
      </p:sp>
      <p:sp>
        <p:nvSpPr>
          <p:cNvPr id="14" name="Text 10"/>
          <p:cNvSpPr/>
          <p:nvPr/>
        </p:nvSpPr>
        <p:spPr>
          <a:xfrm>
            <a:off x="548640" y="6446520"/>
            <a:ext cx="5486400" cy="274320"/>
          </a:xfrm>
          <a:prstGeom prst="rect">
            <a:avLst/>
          </a:prstGeom>
          <a:noFill/>
          <a:ln/>
        </p:spPr>
        <p:txBody>
          <a:bodyPr wrap="square" rtlCol="0" anchor="ctr"/>
          <a:lstStyle/>
          <a:p>
            <a:pPr indent="0" marL="0">
              <a:buNone/>
            </a:pPr>
            <a:r>
              <a:rPr lang="en-US" sz="800" spc="200" kern="0" dirty="0">
                <a:solidFill>
                  <a:srgbClr val="D8CDB4"/>
                </a:solidFill>
                <a:latin typeface="Arial" pitchFamily="34" charset="0"/>
                <a:ea typeface="Arial" pitchFamily="34" charset="-122"/>
                <a:cs typeface="Arial" pitchFamily="34" charset="-120"/>
              </a:rPr>
              <a:t>THE GREAT WALL OF CHINA</a:t>
            </a:r>
            <a:endParaRPr lang="en-US" sz="800" dirty="0"/>
          </a:p>
        </p:txBody>
      </p:sp>
      <p:sp>
        <p:nvSpPr>
          <p:cNvPr id="15" name="Text 11"/>
          <p:cNvSpPr/>
          <p:nvPr/>
        </p:nvSpPr>
        <p:spPr>
          <a:xfrm>
            <a:off x="11155680" y="6446520"/>
            <a:ext cx="548640" cy="274320"/>
          </a:xfrm>
          <a:prstGeom prst="rect">
            <a:avLst/>
          </a:prstGeom>
          <a:noFill/>
          <a:ln/>
        </p:spPr>
        <p:txBody>
          <a:bodyPr wrap="square" rtlCol="0" anchor="ctr"/>
          <a:lstStyle/>
          <a:p>
            <a:pPr algn="r" indent="0" marL="0">
              <a:buNone/>
            </a:pPr>
            <a:r>
              <a:rPr lang="en-US" sz="900" dirty="0">
                <a:solidFill>
                  <a:srgbClr val="D4AF37"/>
                </a:solidFill>
                <a:latin typeface="Georgia" pitchFamily="34" charset="0"/>
                <a:ea typeface="Georgia" pitchFamily="34" charset="-122"/>
                <a:cs typeface="Georgia"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1410"/>
        </a:solidFill>
      </p:bgPr>
    </p:bg>
    <p:spTree>
      <p:nvGrpSpPr>
        <p:cNvPr id="1" name=""/>
        <p:cNvGrpSpPr/>
        <p:nvPr/>
      </p:nvGrpSpPr>
      <p:grpSpPr>
        <a:xfrm>
          <a:off x="0" y="0"/>
          <a:ext cx="0" cy="0"/>
          <a:chOff x="0" y="0"/>
          <a:chExt cx="0" cy="0"/>
        </a:xfrm>
      </p:grpSpPr>
      <p:sp>
        <p:nvSpPr>
          <p:cNvPr id="2" name="Text 0"/>
          <p:cNvSpPr/>
          <p:nvPr/>
        </p:nvSpPr>
        <p:spPr>
          <a:xfrm>
            <a:off x="548640" y="502920"/>
            <a:ext cx="10972800" cy="320040"/>
          </a:xfrm>
          <a:prstGeom prst="rect">
            <a:avLst/>
          </a:prstGeom>
          <a:noFill/>
          <a:ln/>
        </p:spPr>
        <p:txBody>
          <a:bodyPr wrap="square" rtlCol="0" anchor="ctr"/>
          <a:lstStyle/>
          <a:p>
            <a:pPr indent="0" marL="0">
              <a:buNone/>
            </a:pPr>
            <a:r>
              <a:rPr lang="en-US" sz="1200" b="1" spc="300" kern="0" dirty="0">
                <a:solidFill>
                  <a:srgbClr val="D4AF37"/>
                </a:solidFill>
                <a:latin typeface="Georgia" pitchFamily="34" charset="0"/>
                <a:ea typeface="Georgia" pitchFamily="34" charset="-122"/>
                <a:cs typeface="Georgia" pitchFamily="34" charset="-120"/>
              </a:rPr>
              <a:t>ARCHITECTURE</a:t>
            </a:r>
            <a:endParaRPr lang="en-US" sz="1200" dirty="0"/>
          </a:p>
        </p:txBody>
      </p:sp>
      <p:sp>
        <p:nvSpPr>
          <p:cNvPr id="3" name="Text 1"/>
          <p:cNvSpPr/>
          <p:nvPr/>
        </p:nvSpPr>
        <p:spPr>
          <a:xfrm>
            <a:off x="548640" y="868680"/>
            <a:ext cx="11064240" cy="822960"/>
          </a:xfrm>
          <a:prstGeom prst="rect">
            <a:avLst/>
          </a:prstGeom>
          <a:noFill/>
          <a:ln/>
        </p:spPr>
        <p:txBody>
          <a:bodyPr wrap="square" lIns="0" tIns="0" rIns="0" bIns="0" rtlCol="0" anchor="ctr"/>
          <a:lstStyle/>
          <a:p>
            <a:pPr indent="0" marL="0">
              <a:buNone/>
            </a:pPr>
            <a:r>
              <a:rPr lang="en-US" sz="3400" b="1" dirty="0">
                <a:solidFill>
                  <a:srgbClr val="F5EFE0"/>
                </a:solidFill>
                <a:latin typeface="Georgia" pitchFamily="34" charset="0"/>
                <a:ea typeface="Georgia" pitchFamily="34" charset="-122"/>
                <a:cs typeface="Georgia" pitchFamily="34" charset="-120"/>
              </a:rPr>
              <a:t>Materials, Mortar &amp; Watchtowers</a:t>
            </a:r>
            <a:endParaRPr lang="en-US" sz="3400" dirty="0"/>
          </a:p>
        </p:txBody>
      </p:sp>
      <p:sp>
        <p:nvSpPr>
          <p:cNvPr id="4" name="Shape 2"/>
          <p:cNvSpPr/>
          <p:nvPr/>
        </p:nvSpPr>
        <p:spPr>
          <a:xfrm>
            <a:off x="566928" y="1783080"/>
            <a:ext cx="1463040" cy="41148"/>
          </a:xfrm>
          <a:prstGeom prst="rect">
            <a:avLst/>
          </a:prstGeom>
          <a:solidFill>
            <a:srgbClr val="D4AF37"/>
          </a:solidFill>
          <a:ln/>
        </p:spPr>
      </p:sp>
      <p:sp>
        <p:nvSpPr>
          <p:cNvPr id="5" name="Text 3"/>
          <p:cNvSpPr/>
          <p:nvPr/>
        </p:nvSpPr>
        <p:spPr>
          <a:xfrm>
            <a:off x="640080" y="2103120"/>
            <a:ext cx="6035040" cy="1645920"/>
          </a:xfrm>
          <a:prstGeom prst="rect">
            <a:avLst/>
          </a:prstGeom>
          <a:noFill/>
          <a:ln/>
        </p:spPr>
        <p:txBody>
          <a:bodyPr wrap="square" lIns="0" tIns="0" rIns="0" bIns="0" rtlCol="0" anchor="t"/>
          <a:lstStyle/>
          <a:p>
            <a:pPr indent="0" marL="0">
              <a:lnSpc>
                <a:spcPct val="115000"/>
              </a:lnSpc>
              <a:buNone/>
            </a:pPr>
            <a:r>
              <a:rPr lang="en-US" sz="1300" dirty="0">
                <a:solidFill>
                  <a:srgbClr val="D8CDB4"/>
                </a:solidFill>
                <a:latin typeface="Arial" pitchFamily="34" charset="0"/>
                <a:ea typeface="Arial" pitchFamily="34" charset="-122"/>
                <a:cs typeface="Arial" pitchFamily="34" charset="-120"/>
              </a:rPr>
              <a:t>Before bricks, the wall was built from rammed earth, stones and wood. During the Ming, bricks were used heavily — lighter and easier to work with, they quickened construction and bore more weight. Stone was cut into rectangular blocks for foundations, brims and gateways.</a:t>
            </a:r>
            <a:endParaRPr lang="en-US" sz="1300" dirty="0"/>
          </a:p>
        </p:txBody>
      </p:sp>
      <p:sp>
        <p:nvSpPr>
          <p:cNvPr id="6" name="Text 4"/>
          <p:cNvSpPr/>
          <p:nvPr/>
        </p:nvSpPr>
        <p:spPr>
          <a:xfrm>
            <a:off x="640080" y="3749040"/>
            <a:ext cx="6035040" cy="1645920"/>
          </a:xfrm>
          <a:prstGeom prst="rect">
            <a:avLst/>
          </a:prstGeom>
          <a:noFill/>
          <a:ln/>
        </p:spPr>
        <p:txBody>
          <a:bodyPr wrap="square" lIns="0" tIns="0" rIns="0" bIns="0" rtlCol="0" anchor="t"/>
          <a:lstStyle/>
          <a:p>
            <a:pPr indent="0" marL="0">
              <a:lnSpc>
                <a:spcPct val="115000"/>
              </a:lnSpc>
              <a:buNone/>
            </a:pPr>
            <a:r>
              <a:rPr lang="en-US" sz="1300" dirty="0">
                <a:solidFill>
                  <a:srgbClr val="D8CDB4"/>
                </a:solidFill>
                <a:latin typeface="Arial" pitchFamily="34" charset="0"/>
                <a:ea typeface="Arial" pitchFamily="34" charset="-122"/>
                <a:cs typeface="Arial" pitchFamily="34" charset="-120"/>
              </a:rPr>
              <a:t>Battlements line the top of most of the wall, with defensive gaps about 30 cm tall and 23 cm wide. Sticky-rice mortar — sticky rice soup mixed with slaked lime — held the bricks together. No human bones were ever used, contrary to urban legend.</a:t>
            </a:r>
            <a:endParaRPr lang="en-US" sz="1300" dirty="0"/>
          </a:p>
        </p:txBody>
      </p:sp>
      <p:sp>
        <p:nvSpPr>
          <p:cNvPr id="7" name="Text 5"/>
          <p:cNvSpPr/>
          <p:nvPr/>
        </p:nvSpPr>
        <p:spPr>
          <a:xfrm>
            <a:off x="640080" y="5394960"/>
            <a:ext cx="6035040" cy="914400"/>
          </a:xfrm>
          <a:prstGeom prst="rect">
            <a:avLst/>
          </a:prstGeom>
          <a:noFill/>
          <a:ln/>
        </p:spPr>
        <p:txBody>
          <a:bodyPr wrap="square" lIns="0" tIns="0" rIns="0" bIns="0" rtlCol="0" anchor="t"/>
          <a:lstStyle/>
          <a:p>
            <a:pPr indent="0" marL="0">
              <a:lnSpc>
                <a:spcPct val="115000"/>
              </a:lnSpc>
              <a:buNone/>
            </a:pPr>
            <a:r>
              <a:rPr lang="en-US" sz="1200" dirty="0">
                <a:solidFill>
                  <a:srgbClr val="D8CDB4"/>
                </a:solidFill>
                <a:latin typeface="Arial" pitchFamily="34" charset="0"/>
                <a:ea typeface="Arial" pitchFamily="34" charset="-122"/>
                <a:cs typeface="Arial" pitchFamily="34" charset="-120"/>
              </a:rPr>
              <a:t>Signal towers on hilltops relayed warnings and reinforcements along the wall; wooden gates could trap attackers. Barracks, stables and armories stood near the inner face.</a:t>
            </a:r>
            <a:endParaRPr lang="en-US" sz="1200" dirty="0"/>
          </a:p>
        </p:txBody>
      </p:sp>
      <p:pic>
        <p:nvPicPr>
          <p:cNvPr id="8" name="Image 0" descr="C:\Users\18367\Desktop\test\web-app-test\runtime\artifacts\chat_9a283d290d7d\document-assets\download-Juyongguan_Great_Wall.jpg">    </p:cNvPr>
          <p:cNvPicPr>
            <a:picLocks noChangeAspect="1"/>
          </p:cNvPicPr>
          <p:nvPr/>
        </p:nvPicPr>
        <p:blipFill>
          <a:blip r:embed="rId1"/>
          <a:srcRect l="0" r="0" t="0" b="0"/>
          <a:stretch/>
        </p:blipFill>
        <p:spPr>
          <a:xfrm>
            <a:off x="6949440" y="2103120"/>
            <a:ext cx="3291840" cy="4434840"/>
          </a:xfrm>
          <a:prstGeom prst="rect">
            <a:avLst/>
          </a:prstGeom>
        </p:spPr>
      </p:pic>
      <p:sp>
        <p:nvSpPr>
          <p:cNvPr id="9" name="Shape 6"/>
          <p:cNvSpPr/>
          <p:nvPr/>
        </p:nvSpPr>
        <p:spPr>
          <a:xfrm>
            <a:off x="6949440" y="2103120"/>
            <a:ext cx="3291840" cy="310896"/>
          </a:xfrm>
          <a:prstGeom prst="rect">
            <a:avLst/>
          </a:prstGeom>
          <a:solidFill>
            <a:srgbClr val="1A1410">
              <a:alpha val="75000"/>
            </a:srgbClr>
          </a:solidFill>
          <a:ln/>
        </p:spPr>
      </p:sp>
      <p:sp>
        <p:nvSpPr>
          <p:cNvPr id="10" name="Text 7"/>
          <p:cNvSpPr/>
          <p:nvPr/>
        </p:nvSpPr>
        <p:spPr>
          <a:xfrm>
            <a:off x="7059168" y="6263640"/>
            <a:ext cx="3072384" cy="237744"/>
          </a:xfrm>
          <a:prstGeom prst="rect">
            <a:avLst/>
          </a:prstGeom>
          <a:noFill/>
          <a:ln/>
        </p:spPr>
        <p:txBody>
          <a:bodyPr wrap="square" lIns="0" tIns="0" rIns="0" bIns="0" rtlCol="0" anchor="ctr"/>
          <a:lstStyle/>
          <a:p>
            <a:pPr indent="0" marL="0">
              <a:buNone/>
            </a:pPr>
            <a:r>
              <a:rPr lang="en-US" sz="900" i="1" dirty="0">
                <a:solidFill>
                  <a:srgbClr val="F5EFE0"/>
                </a:solidFill>
                <a:latin typeface="Arial" pitchFamily="34" charset="0"/>
                <a:ea typeface="Arial" pitchFamily="34" charset="-122"/>
                <a:cs typeface="Arial" pitchFamily="34" charset="-120"/>
              </a:rPr>
              <a:t>The Juyongguan area of the Great Wall</a:t>
            </a:r>
            <a:endParaRPr lang="en-US" sz="900" dirty="0"/>
          </a:p>
        </p:txBody>
      </p:sp>
      <p:sp>
        <p:nvSpPr>
          <p:cNvPr id="11" name="Text 8"/>
          <p:cNvSpPr/>
          <p:nvPr/>
        </p:nvSpPr>
        <p:spPr>
          <a:xfrm>
            <a:off x="548640" y="6446520"/>
            <a:ext cx="5486400" cy="274320"/>
          </a:xfrm>
          <a:prstGeom prst="rect">
            <a:avLst/>
          </a:prstGeom>
          <a:noFill/>
          <a:ln/>
        </p:spPr>
        <p:txBody>
          <a:bodyPr wrap="square" rtlCol="0" anchor="ctr"/>
          <a:lstStyle/>
          <a:p>
            <a:pPr indent="0" marL="0">
              <a:buNone/>
            </a:pPr>
            <a:r>
              <a:rPr lang="en-US" sz="800" spc="200" kern="0" dirty="0">
                <a:solidFill>
                  <a:srgbClr val="D8CDB4"/>
                </a:solidFill>
                <a:latin typeface="Arial" pitchFamily="34" charset="0"/>
                <a:ea typeface="Arial" pitchFamily="34" charset="-122"/>
                <a:cs typeface="Arial" pitchFamily="34" charset="-120"/>
              </a:rPr>
              <a:t>THE GREAT WALL OF CHINA</a:t>
            </a:r>
            <a:endParaRPr lang="en-US" sz="800" dirty="0"/>
          </a:p>
        </p:txBody>
      </p:sp>
      <p:sp>
        <p:nvSpPr>
          <p:cNvPr id="12" name="Text 9"/>
          <p:cNvSpPr/>
          <p:nvPr/>
        </p:nvSpPr>
        <p:spPr>
          <a:xfrm>
            <a:off x="11155680" y="6446520"/>
            <a:ext cx="548640" cy="274320"/>
          </a:xfrm>
          <a:prstGeom prst="rect">
            <a:avLst/>
          </a:prstGeom>
          <a:noFill/>
          <a:ln/>
        </p:spPr>
        <p:txBody>
          <a:bodyPr wrap="square" rtlCol="0" anchor="ctr"/>
          <a:lstStyle/>
          <a:p>
            <a:pPr algn="r" indent="0" marL="0">
              <a:buNone/>
            </a:pPr>
            <a:r>
              <a:rPr lang="en-US" sz="900" dirty="0">
                <a:solidFill>
                  <a:srgbClr val="D4AF37"/>
                </a:solidFill>
                <a:latin typeface="Georgia" pitchFamily="34" charset="0"/>
                <a:ea typeface="Georgia" pitchFamily="34" charset="-122"/>
                <a:cs typeface="Georgia"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1410"/>
        </a:solidFill>
      </p:bgPr>
    </p:bg>
    <p:spTree>
      <p:nvGrpSpPr>
        <p:cNvPr id="1" name=""/>
        <p:cNvGrpSpPr/>
        <p:nvPr/>
      </p:nvGrpSpPr>
      <p:grpSpPr>
        <a:xfrm>
          <a:off x="0" y="0"/>
          <a:ext cx="0" cy="0"/>
          <a:chOff x="0" y="0"/>
          <a:chExt cx="0" cy="0"/>
        </a:xfrm>
      </p:grpSpPr>
      <p:sp>
        <p:nvSpPr>
          <p:cNvPr id="2" name="Text 0"/>
          <p:cNvSpPr/>
          <p:nvPr/>
        </p:nvSpPr>
        <p:spPr>
          <a:xfrm>
            <a:off x="548640" y="502920"/>
            <a:ext cx="10972800" cy="320040"/>
          </a:xfrm>
          <a:prstGeom prst="rect">
            <a:avLst/>
          </a:prstGeom>
          <a:noFill/>
          <a:ln/>
        </p:spPr>
        <p:txBody>
          <a:bodyPr wrap="square" rtlCol="0" anchor="ctr"/>
          <a:lstStyle/>
          <a:p>
            <a:pPr indent="0" marL="0">
              <a:buNone/>
            </a:pPr>
            <a:r>
              <a:rPr lang="en-US" sz="1200" b="1" spc="300" kern="0" dirty="0">
                <a:solidFill>
                  <a:srgbClr val="D4AF37"/>
                </a:solidFill>
                <a:latin typeface="Georgia" pitchFamily="34" charset="0"/>
                <a:ea typeface="Georgia" pitchFamily="34" charset="-122"/>
                <a:cs typeface="Georgia" pitchFamily="34" charset="-120"/>
              </a:rPr>
              <a:t>CONDITION &amp; CONSERVATION</a:t>
            </a:r>
            <a:endParaRPr lang="en-US" sz="1200" dirty="0"/>
          </a:p>
        </p:txBody>
      </p:sp>
      <p:sp>
        <p:nvSpPr>
          <p:cNvPr id="3" name="Text 1"/>
          <p:cNvSpPr/>
          <p:nvPr/>
        </p:nvSpPr>
        <p:spPr>
          <a:xfrm>
            <a:off x="548640" y="868680"/>
            <a:ext cx="11064240" cy="822960"/>
          </a:xfrm>
          <a:prstGeom prst="rect">
            <a:avLst/>
          </a:prstGeom>
          <a:noFill/>
          <a:ln/>
        </p:spPr>
        <p:txBody>
          <a:bodyPr wrap="square" lIns="0" tIns="0" rIns="0" bIns="0" rtlCol="0" anchor="ctr"/>
          <a:lstStyle/>
          <a:p>
            <a:pPr indent="0" marL="0">
              <a:buNone/>
            </a:pPr>
            <a:r>
              <a:rPr lang="en-US" sz="3400" b="1" dirty="0">
                <a:solidFill>
                  <a:srgbClr val="F5EFE0"/>
                </a:solidFill>
                <a:latin typeface="Georgia" pitchFamily="34" charset="0"/>
                <a:ea typeface="Georgia" pitchFamily="34" charset="-122"/>
                <a:cs typeface="Georgia" pitchFamily="34" charset="-120"/>
              </a:rPr>
              <a:t>A Wall Under Threat</a:t>
            </a:r>
            <a:endParaRPr lang="en-US" sz="3400" dirty="0"/>
          </a:p>
        </p:txBody>
      </p:sp>
      <p:sp>
        <p:nvSpPr>
          <p:cNvPr id="4" name="Shape 2"/>
          <p:cNvSpPr/>
          <p:nvPr/>
        </p:nvSpPr>
        <p:spPr>
          <a:xfrm>
            <a:off x="566928" y="1783080"/>
            <a:ext cx="1463040" cy="41148"/>
          </a:xfrm>
          <a:prstGeom prst="rect">
            <a:avLst/>
          </a:prstGeom>
          <a:solidFill>
            <a:srgbClr val="D4AF37"/>
          </a:solidFill>
          <a:ln/>
        </p:spPr>
      </p:sp>
      <p:sp>
        <p:nvSpPr>
          <p:cNvPr id="5" name="Text 3"/>
          <p:cNvSpPr/>
          <p:nvPr/>
        </p:nvSpPr>
        <p:spPr>
          <a:xfrm>
            <a:off x="640080" y="2103120"/>
            <a:ext cx="6035040" cy="1554480"/>
          </a:xfrm>
          <a:prstGeom prst="rect">
            <a:avLst/>
          </a:prstGeom>
          <a:noFill/>
          <a:ln/>
        </p:spPr>
        <p:txBody>
          <a:bodyPr wrap="square" lIns="0" tIns="0" rIns="0" bIns="0" rtlCol="0" anchor="t"/>
          <a:lstStyle/>
          <a:p>
            <a:pPr indent="0" marL="0">
              <a:lnSpc>
                <a:spcPct val="115000"/>
              </a:lnSpc>
              <a:buNone/>
            </a:pPr>
            <a:r>
              <a:rPr lang="en-US" sz="1300" dirty="0">
                <a:solidFill>
                  <a:srgbClr val="D8CDB4"/>
                </a:solidFill>
                <a:latin typeface="Arial" pitchFamily="34" charset="0"/>
                <a:ea typeface="Arial" pitchFamily="34" charset="-122"/>
                <a:cs typeface="Arial" pitchFamily="34" charset="-120"/>
              </a:rPr>
              <a:t>While sections north of Beijing and near tourist centres have been preserved and even renovated, much of the wall is in disrepair. It has been a source of stones for houses and roads, and is prone to graffiti, vandalism and the pilfering of inscribed bricks.</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40080" y="3794760"/>
          <a:ext cx="6035040" cy="2377440"/>
        </p:xfrm>
        <a:graphic>
          <a:graphicData uri="http://schemas.openxmlformats.org/drawingml/2006/table">
            <a:tbl>
              <a:tblPr/>
              <a:tblGrid>
                <a:gridCol w="3291840"/>
                <a:gridCol w="2743200"/>
              </a:tblGrid>
              <a:tr h="402336">
                <a:tc>
                  <a:txBody>
                    <a:bodyPr/>
                    <a:lstStyle/>
                    <a:p>
                      <a:pPr indent="0" marL="0">
                        <a:buNone/>
                      </a:pPr>
                      <a:r>
                        <a:rPr lang="en-US" sz="1100" b="1" dirty="0">
                          <a:solidFill>
                            <a:srgbClr val="1A1410"/>
                          </a:solidFill>
                          <a:latin typeface="Arial" pitchFamily="34" charset="0"/>
                          <a:ea typeface="Arial" pitchFamily="34" charset="-122"/>
                          <a:cs typeface="Arial" pitchFamily="34" charset="-120"/>
                        </a:rPr>
                        <a:t>Statistic</a:t>
                      </a:r>
                      <a:endParaRPr lang="en-US" sz="1100" dirty="0">
                        <a:latin typeface="Arial" charset="0"/>
                        <a:ea typeface="Arial" charset="0"/>
                        <a:cs typeface="Arial" charset="0"/>
                      </a:endParaRPr>
                    </a:p>
                  </a:txBody>
                  <a:tcPr marL="91440" marR="91440" marT="45720" marB="45720" anchor="ctr">
                    <a:lnL w="6350" cap="flat" cmpd="sng" algn="ctr">
                      <a:solidFill>
                        <a:srgbClr val="4A3A28"/>
                      </a:solidFill>
                      <a:prstDash val="solid"/>
                      <a:round/>
                      <a:headEnd type="none" w="med" len="med"/>
                      <a:tailEnd type="none" w="med" len="med"/>
                    </a:lnL>
                    <a:lnR w="6350" cap="flat" cmpd="sng" algn="ctr">
                      <a:solidFill>
                        <a:srgbClr val="4A3A28"/>
                      </a:solidFill>
                      <a:prstDash val="solid"/>
                      <a:round/>
                      <a:headEnd type="none" w="med" len="med"/>
                      <a:tailEnd type="none" w="med" len="med"/>
                    </a:lnR>
                    <a:lnT w="6350" cap="flat" cmpd="sng" algn="ctr">
                      <a:solidFill>
                        <a:srgbClr val="4A3A28"/>
                      </a:solidFill>
                      <a:prstDash val="solid"/>
                      <a:round/>
                      <a:headEnd type="none" w="med" len="med"/>
                      <a:tailEnd type="none" w="med" len="med"/>
                    </a:lnT>
                    <a:lnB w="6350" cap="flat" cmpd="sng" algn="ctr">
                      <a:solidFill>
                        <a:srgbClr val="4A3A28"/>
                      </a:solidFill>
                      <a:prstDash val="solid"/>
                      <a:round/>
                      <a:headEnd type="none" w="med" len="med"/>
                      <a:tailEnd type="none" w="med" len="med"/>
                    </a:lnB>
                    <a:solidFill>
                      <a:srgbClr val="D4AF37"/>
                    </a:solidFill>
                  </a:tcPr>
                </a:tc>
                <a:tc>
                  <a:txBody>
                    <a:bodyPr/>
                    <a:lstStyle/>
                    <a:p>
                      <a:pPr indent="0" marL="0">
                        <a:buNone/>
                      </a:pPr>
                      <a:r>
                        <a:rPr lang="en-US" sz="1100" b="1" dirty="0">
                          <a:solidFill>
                            <a:srgbClr val="1A1410"/>
                          </a:solidFill>
                          <a:latin typeface="Arial" pitchFamily="34" charset="0"/>
                          <a:ea typeface="Arial" pitchFamily="34" charset="-122"/>
                          <a:cs typeface="Arial" pitchFamily="34" charset="-120"/>
                        </a:rPr>
                        <a:t>Value</a:t>
                      </a:r>
                      <a:endParaRPr lang="en-US" sz="1100" dirty="0">
                        <a:latin typeface="Arial" charset="0"/>
                        <a:ea typeface="Arial" charset="0"/>
                        <a:cs typeface="Arial" charset="0"/>
                      </a:endParaRPr>
                    </a:p>
                  </a:txBody>
                  <a:tcPr marL="91440" marR="91440" marT="45720" marB="45720" anchor="ctr">
                    <a:lnL w="6350" cap="flat" cmpd="sng" algn="ctr">
                      <a:solidFill>
                        <a:srgbClr val="4A3A28"/>
                      </a:solidFill>
                      <a:prstDash val="solid"/>
                      <a:round/>
                      <a:headEnd type="none" w="med" len="med"/>
                      <a:tailEnd type="none" w="med" len="med"/>
                    </a:lnL>
                    <a:lnR w="6350" cap="flat" cmpd="sng" algn="ctr">
                      <a:solidFill>
                        <a:srgbClr val="4A3A28"/>
                      </a:solidFill>
                      <a:prstDash val="solid"/>
                      <a:round/>
                      <a:headEnd type="none" w="med" len="med"/>
                      <a:tailEnd type="none" w="med" len="med"/>
                    </a:lnR>
                    <a:lnT w="6350" cap="flat" cmpd="sng" algn="ctr">
                      <a:solidFill>
                        <a:srgbClr val="4A3A28"/>
                      </a:solidFill>
                      <a:prstDash val="solid"/>
                      <a:round/>
                      <a:headEnd type="none" w="med" len="med"/>
                      <a:tailEnd type="none" w="med" len="med"/>
                    </a:lnT>
                    <a:lnB w="6350" cap="flat" cmpd="sng" algn="ctr">
                      <a:solidFill>
                        <a:srgbClr val="4A3A28"/>
                      </a:solidFill>
                      <a:prstDash val="solid"/>
                      <a:round/>
                      <a:headEnd type="none" w="med" len="med"/>
                      <a:tailEnd type="none" w="med" len="med"/>
                    </a:lnB>
                    <a:solidFill>
                      <a:srgbClr val="D4AF37"/>
                    </a:solidFill>
                  </a:tcPr>
                </a:tc>
              </a:tr>
              <a:tr h="402336">
                <a:tc>
                  <a:txBody>
                    <a:bodyPr/>
                    <a:lstStyle/>
                    <a:p>
                      <a:pPr indent="0" marL="0">
                        <a:buNone/>
                      </a:pPr>
                      <a:r>
                        <a:rPr lang="en-US" sz="1100" dirty="0">
                          <a:solidFill>
                            <a:srgbClr val="D8CDB4"/>
                          </a:solidFill>
                          <a:latin typeface="Arial" pitchFamily="34" charset="0"/>
                          <a:ea typeface="Arial" pitchFamily="34" charset="-122"/>
                          <a:cs typeface="Arial" pitchFamily="34" charset="-120"/>
                        </a:rPr>
                        <a:t>Ming wall disappeared (2012 report)</a:t>
                      </a:r>
                      <a:endParaRPr lang="en-US" sz="1100" dirty="0">
                        <a:latin typeface="Arial" charset="0"/>
                        <a:ea typeface="Arial" charset="0"/>
                        <a:cs typeface="Arial" charset="0"/>
                      </a:endParaRPr>
                    </a:p>
                  </a:txBody>
                  <a:tcPr marL="91440" marR="91440" marT="45720" marB="45720" anchor="ctr">
                    <a:lnL w="6350" cap="flat" cmpd="sng" algn="ctr">
                      <a:solidFill>
                        <a:srgbClr val="4A3A28"/>
                      </a:solidFill>
                      <a:prstDash val="solid"/>
                      <a:round/>
                      <a:headEnd type="none" w="med" len="med"/>
                      <a:tailEnd type="none" w="med" len="med"/>
                    </a:lnL>
                    <a:lnR w="6350" cap="flat" cmpd="sng" algn="ctr">
                      <a:solidFill>
                        <a:srgbClr val="4A3A28"/>
                      </a:solidFill>
                      <a:prstDash val="solid"/>
                      <a:round/>
                      <a:headEnd type="none" w="med" len="med"/>
                      <a:tailEnd type="none" w="med" len="med"/>
                    </a:lnR>
                    <a:lnT w="6350" cap="flat" cmpd="sng" algn="ctr">
                      <a:solidFill>
                        <a:srgbClr val="4A3A28"/>
                      </a:solidFill>
                      <a:prstDash val="solid"/>
                      <a:round/>
                      <a:headEnd type="none" w="med" len="med"/>
                      <a:tailEnd type="none" w="med" len="med"/>
                    </a:lnT>
                    <a:lnB w="6350" cap="flat" cmpd="sng" algn="ctr">
                      <a:solidFill>
                        <a:srgbClr val="4A3A28"/>
                      </a:solidFill>
                      <a:prstDash val="solid"/>
                      <a:round/>
                      <a:headEnd type="none" w="med" len="med"/>
                      <a:tailEnd type="none" w="med" len="med"/>
                    </a:lnB>
                    <a:solidFill>
                      <a:srgbClr val="241C14"/>
                    </a:solidFill>
                  </a:tcPr>
                </a:tc>
                <a:tc>
                  <a:txBody>
                    <a:bodyPr/>
                    <a:lstStyle/>
                    <a:p>
                      <a:pPr indent="0" marL="0">
                        <a:buNone/>
                      </a:pPr>
                      <a:r>
                        <a:rPr lang="en-US" sz="1100" dirty="0">
                          <a:solidFill>
                            <a:srgbClr val="D8CDB4"/>
                          </a:solidFill>
                          <a:latin typeface="Arial" pitchFamily="34" charset="0"/>
                          <a:ea typeface="Arial" pitchFamily="34" charset="-122"/>
                          <a:cs typeface="Arial" pitchFamily="34" charset="-120"/>
                        </a:rPr>
                        <a:t>22% · 1,961 km</a:t>
                      </a:r>
                      <a:endParaRPr lang="en-US" sz="1100" dirty="0">
                        <a:latin typeface="Arial" charset="0"/>
                        <a:ea typeface="Arial" charset="0"/>
                        <a:cs typeface="Arial" charset="0"/>
                      </a:endParaRPr>
                    </a:p>
                  </a:txBody>
                  <a:tcPr marL="91440" marR="91440" marT="45720" marB="45720" anchor="ctr">
                    <a:lnL w="6350" cap="flat" cmpd="sng" algn="ctr">
                      <a:solidFill>
                        <a:srgbClr val="4A3A28"/>
                      </a:solidFill>
                      <a:prstDash val="solid"/>
                      <a:round/>
                      <a:headEnd type="none" w="med" len="med"/>
                      <a:tailEnd type="none" w="med" len="med"/>
                    </a:lnL>
                    <a:lnR w="6350" cap="flat" cmpd="sng" algn="ctr">
                      <a:solidFill>
                        <a:srgbClr val="4A3A28"/>
                      </a:solidFill>
                      <a:prstDash val="solid"/>
                      <a:round/>
                      <a:headEnd type="none" w="med" len="med"/>
                      <a:tailEnd type="none" w="med" len="med"/>
                    </a:lnR>
                    <a:lnT w="6350" cap="flat" cmpd="sng" algn="ctr">
                      <a:solidFill>
                        <a:srgbClr val="4A3A28"/>
                      </a:solidFill>
                      <a:prstDash val="solid"/>
                      <a:round/>
                      <a:headEnd type="none" w="med" len="med"/>
                      <a:tailEnd type="none" w="med" len="med"/>
                    </a:lnT>
                    <a:lnB w="6350" cap="flat" cmpd="sng" algn="ctr">
                      <a:solidFill>
                        <a:srgbClr val="4A3A28"/>
                      </a:solidFill>
                      <a:prstDash val="solid"/>
                      <a:round/>
                      <a:headEnd type="none" w="med" len="med"/>
                      <a:tailEnd type="none" w="med" len="med"/>
                    </a:lnB>
                    <a:solidFill>
                      <a:srgbClr val="241C14"/>
                    </a:solidFill>
                  </a:tcPr>
                </a:tc>
              </a:tr>
              <a:tr h="402336">
                <a:tc>
                  <a:txBody>
                    <a:bodyPr/>
                    <a:lstStyle/>
                    <a:p>
                      <a:pPr indent="0" marL="0">
                        <a:buNone/>
                      </a:pPr>
                      <a:r>
                        <a:rPr lang="en-US" sz="1100" dirty="0">
                          <a:solidFill>
                            <a:srgbClr val="D8CDB4"/>
                          </a:solidFill>
                          <a:latin typeface="Arial" pitchFamily="34" charset="0"/>
                          <a:ea typeface="Arial" pitchFamily="34" charset="-122"/>
                          <a:cs typeface="Arial" pitchFamily="34" charset="-120"/>
                        </a:rPr>
                        <a:t>Gansu wall at risk (2007 estimate)</a:t>
                      </a:r>
                      <a:endParaRPr lang="en-US" sz="1100" dirty="0">
                        <a:latin typeface="Arial" charset="0"/>
                        <a:ea typeface="Arial" charset="0"/>
                        <a:cs typeface="Arial" charset="0"/>
                      </a:endParaRPr>
                    </a:p>
                  </a:txBody>
                  <a:tcPr marL="91440" marR="91440" marT="45720" marB="45720" anchor="ctr">
                    <a:lnL w="6350" cap="flat" cmpd="sng" algn="ctr">
                      <a:solidFill>
                        <a:srgbClr val="4A3A28"/>
                      </a:solidFill>
                      <a:prstDash val="solid"/>
                      <a:round/>
                      <a:headEnd type="none" w="med" len="med"/>
                      <a:tailEnd type="none" w="med" len="med"/>
                    </a:lnL>
                    <a:lnR w="6350" cap="flat" cmpd="sng" algn="ctr">
                      <a:solidFill>
                        <a:srgbClr val="4A3A28"/>
                      </a:solidFill>
                      <a:prstDash val="solid"/>
                      <a:round/>
                      <a:headEnd type="none" w="med" len="med"/>
                      <a:tailEnd type="none" w="med" len="med"/>
                    </a:lnR>
                    <a:lnT w="6350" cap="flat" cmpd="sng" algn="ctr">
                      <a:solidFill>
                        <a:srgbClr val="4A3A28"/>
                      </a:solidFill>
                      <a:prstDash val="solid"/>
                      <a:round/>
                      <a:headEnd type="none" w="med" len="med"/>
                      <a:tailEnd type="none" w="med" len="med"/>
                    </a:lnT>
                    <a:lnB w="6350" cap="flat" cmpd="sng" algn="ctr">
                      <a:solidFill>
                        <a:srgbClr val="4A3A28"/>
                      </a:solidFill>
                      <a:prstDash val="solid"/>
                      <a:round/>
                      <a:headEnd type="none" w="med" len="med"/>
                      <a:tailEnd type="none" w="med" len="med"/>
                    </a:lnB>
                    <a:solidFill>
                      <a:srgbClr val="241C14"/>
                    </a:solidFill>
                  </a:tcPr>
                </a:tc>
                <a:tc>
                  <a:txBody>
                    <a:bodyPr/>
                    <a:lstStyle/>
                    <a:p>
                      <a:pPr indent="0" marL="0">
                        <a:buNone/>
                      </a:pPr>
                      <a:r>
                        <a:rPr lang="en-US" sz="1100" dirty="0">
                          <a:solidFill>
                            <a:srgbClr val="D8CDB4"/>
                          </a:solidFill>
                          <a:latin typeface="Arial" pitchFamily="34" charset="0"/>
                          <a:ea typeface="Arial" pitchFamily="34" charset="-122"/>
                          <a:cs typeface="Arial" pitchFamily="34" charset="-120"/>
                        </a:rPr>
                        <a:t>&gt; 60 km in 20 years</a:t>
                      </a:r>
                      <a:endParaRPr lang="en-US" sz="1100" dirty="0">
                        <a:latin typeface="Arial" charset="0"/>
                        <a:ea typeface="Arial" charset="0"/>
                        <a:cs typeface="Arial" charset="0"/>
                      </a:endParaRPr>
                    </a:p>
                  </a:txBody>
                  <a:tcPr marL="91440" marR="91440" marT="45720" marB="45720" anchor="ctr">
                    <a:lnL w="6350" cap="flat" cmpd="sng" algn="ctr">
                      <a:solidFill>
                        <a:srgbClr val="4A3A28"/>
                      </a:solidFill>
                      <a:prstDash val="solid"/>
                      <a:round/>
                      <a:headEnd type="none" w="med" len="med"/>
                      <a:tailEnd type="none" w="med" len="med"/>
                    </a:lnL>
                    <a:lnR w="6350" cap="flat" cmpd="sng" algn="ctr">
                      <a:solidFill>
                        <a:srgbClr val="4A3A28"/>
                      </a:solidFill>
                      <a:prstDash val="solid"/>
                      <a:round/>
                      <a:headEnd type="none" w="med" len="med"/>
                      <a:tailEnd type="none" w="med" len="med"/>
                    </a:lnR>
                    <a:lnT w="6350" cap="flat" cmpd="sng" algn="ctr">
                      <a:solidFill>
                        <a:srgbClr val="4A3A28"/>
                      </a:solidFill>
                      <a:prstDash val="solid"/>
                      <a:round/>
                      <a:headEnd type="none" w="med" len="med"/>
                      <a:tailEnd type="none" w="med" len="med"/>
                    </a:lnT>
                    <a:lnB w="6350" cap="flat" cmpd="sng" algn="ctr">
                      <a:solidFill>
                        <a:srgbClr val="4A3A28"/>
                      </a:solidFill>
                      <a:prstDash val="solid"/>
                      <a:round/>
                      <a:headEnd type="none" w="med" len="med"/>
                      <a:tailEnd type="none" w="med" len="med"/>
                    </a:lnB>
                    <a:solidFill>
                      <a:srgbClr val="241C14"/>
                    </a:solidFill>
                  </a:tcPr>
                </a:tc>
              </a:tr>
              <a:tr h="402336">
                <a:tc>
                  <a:txBody>
                    <a:bodyPr/>
                    <a:lstStyle/>
                    <a:p>
                      <a:pPr indent="0" marL="0">
                        <a:buNone/>
                      </a:pPr>
                      <a:r>
                        <a:rPr lang="en-US" sz="1100" dirty="0">
                          <a:solidFill>
                            <a:srgbClr val="D8CDB4"/>
                          </a:solidFill>
                          <a:latin typeface="Arial" pitchFamily="34" charset="0"/>
                          <a:ea typeface="Arial" pitchFamily="34" charset="-122"/>
                          <a:cs typeface="Arial" pitchFamily="34" charset="-120"/>
                        </a:rPr>
                        <a:t>Height reduced in some places</a:t>
                      </a:r>
                      <a:endParaRPr lang="en-US" sz="1100" dirty="0">
                        <a:latin typeface="Arial" charset="0"/>
                        <a:ea typeface="Arial" charset="0"/>
                        <a:cs typeface="Arial" charset="0"/>
                      </a:endParaRPr>
                    </a:p>
                  </a:txBody>
                  <a:tcPr marL="91440" marR="91440" marT="45720" marB="45720" anchor="ctr">
                    <a:lnL w="6350" cap="flat" cmpd="sng" algn="ctr">
                      <a:solidFill>
                        <a:srgbClr val="4A3A28"/>
                      </a:solidFill>
                      <a:prstDash val="solid"/>
                      <a:round/>
                      <a:headEnd type="none" w="med" len="med"/>
                      <a:tailEnd type="none" w="med" len="med"/>
                    </a:lnL>
                    <a:lnR w="6350" cap="flat" cmpd="sng" algn="ctr">
                      <a:solidFill>
                        <a:srgbClr val="4A3A28"/>
                      </a:solidFill>
                      <a:prstDash val="solid"/>
                      <a:round/>
                      <a:headEnd type="none" w="med" len="med"/>
                      <a:tailEnd type="none" w="med" len="med"/>
                    </a:lnR>
                    <a:lnT w="6350" cap="flat" cmpd="sng" algn="ctr">
                      <a:solidFill>
                        <a:srgbClr val="4A3A28"/>
                      </a:solidFill>
                      <a:prstDash val="solid"/>
                      <a:round/>
                      <a:headEnd type="none" w="med" len="med"/>
                      <a:tailEnd type="none" w="med" len="med"/>
                    </a:lnT>
                    <a:lnB w="6350" cap="flat" cmpd="sng" algn="ctr">
                      <a:solidFill>
                        <a:srgbClr val="4A3A28"/>
                      </a:solidFill>
                      <a:prstDash val="solid"/>
                      <a:round/>
                      <a:headEnd type="none" w="med" len="med"/>
                      <a:tailEnd type="none" w="med" len="med"/>
                    </a:lnB>
                    <a:solidFill>
                      <a:srgbClr val="241C14"/>
                    </a:solidFill>
                  </a:tcPr>
                </a:tc>
                <a:tc>
                  <a:txBody>
                    <a:bodyPr/>
                    <a:lstStyle/>
                    <a:p>
                      <a:pPr indent="0" marL="0">
                        <a:buNone/>
                      </a:pPr>
                      <a:r>
                        <a:rPr lang="en-US" sz="1100" dirty="0">
                          <a:solidFill>
                            <a:srgbClr val="D8CDB4"/>
                          </a:solidFill>
                          <a:latin typeface="Arial" pitchFamily="34" charset="0"/>
                          <a:ea typeface="Arial" pitchFamily="34" charset="-122"/>
                          <a:cs typeface="Arial" pitchFamily="34" charset="-120"/>
                        </a:rPr>
                        <a:t>from &gt; 5 m to &lt; 2 m</a:t>
                      </a:r>
                      <a:endParaRPr lang="en-US" sz="1100" dirty="0">
                        <a:latin typeface="Arial" charset="0"/>
                        <a:ea typeface="Arial" charset="0"/>
                        <a:cs typeface="Arial" charset="0"/>
                      </a:endParaRPr>
                    </a:p>
                  </a:txBody>
                  <a:tcPr marL="91440" marR="91440" marT="45720" marB="45720" anchor="ctr">
                    <a:lnL w="6350" cap="flat" cmpd="sng" algn="ctr">
                      <a:solidFill>
                        <a:srgbClr val="4A3A28"/>
                      </a:solidFill>
                      <a:prstDash val="solid"/>
                      <a:round/>
                      <a:headEnd type="none" w="med" len="med"/>
                      <a:tailEnd type="none" w="med" len="med"/>
                    </a:lnL>
                    <a:lnR w="6350" cap="flat" cmpd="sng" algn="ctr">
                      <a:solidFill>
                        <a:srgbClr val="4A3A28"/>
                      </a:solidFill>
                      <a:prstDash val="solid"/>
                      <a:round/>
                      <a:headEnd type="none" w="med" len="med"/>
                      <a:tailEnd type="none" w="med" len="med"/>
                    </a:lnR>
                    <a:lnT w="6350" cap="flat" cmpd="sng" algn="ctr">
                      <a:solidFill>
                        <a:srgbClr val="4A3A28"/>
                      </a:solidFill>
                      <a:prstDash val="solid"/>
                      <a:round/>
                      <a:headEnd type="none" w="med" len="med"/>
                      <a:tailEnd type="none" w="med" len="med"/>
                    </a:lnT>
                    <a:lnB w="6350" cap="flat" cmpd="sng" algn="ctr">
                      <a:solidFill>
                        <a:srgbClr val="4A3A28"/>
                      </a:solidFill>
                      <a:prstDash val="solid"/>
                      <a:round/>
                      <a:headEnd type="none" w="med" len="med"/>
                      <a:tailEnd type="none" w="med" len="med"/>
                    </a:lnB>
                    <a:solidFill>
                      <a:srgbClr val="241C14"/>
                    </a:solidFill>
                  </a:tcPr>
                </a:tc>
              </a:tr>
              <a:tr h="402336">
                <a:tc>
                  <a:txBody>
                    <a:bodyPr/>
                    <a:lstStyle/>
                    <a:p>
                      <a:pPr indent="0" marL="0">
                        <a:buNone/>
                      </a:pPr>
                      <a:r>
                        <a:rPr lang="en-US" sz="1100" dirty="0">
                          <a:solidFill>
                            <a:srgbClr val="D8CDB4"/>
                          </a:solidFill>
                          <a:latin typeface="Arial" pitchFamily="34" charset="0"/>
                          <a:ea typeface="Arial" pitchFamily="34" charset="-122"/>
                          <a:cs typeface="Arial" pitchFamily="34" charset="-120"/>
                        </a:rPr>
                        <a:t>Ming watchtowers (estimate)</a:t>
                      </a:r>
                      <a:endParaRPr lang="en-US" sz="1100" dirty="0">
                        <a:latin typeface="Arial" charset="0"/>
                        <a:ea typeface="Arial" charset="0"/>
                        <a:cs typeface="Arial" charset="0"/>
                      </a:endParaRPr>
                    </a:p>
                  </a:txBody>
                  <a:tcPr marL="91440" marR="91440" marT="45720" marB="45720" anchor="ctr">
                    <a:lnL w="6350" cap="flat" cmpd="sng" algn="ctr">
                      <a:solidFill>
                        <a:srgbClr val="4A3A28"/>
                      </a:solidFill>
                      <a:prstDash val="solid"/>
                      <a:round/>
                      <a:headEnd type="none" w="med" len="med"/>
                      <a:tailEnd type="none" w="med" len="med"/>
                    </a:lnL>
                    <a:lnR w="6350" cap="flat" cmpd="sng" algn="ctr">
                      <a:solidFill>
                        <a:srgbClr val="4A3A28"/>
                      </a:solidFill>
                      <a:prstDash val="solid"/>
                      <a:round/>
                      <a:headEnd type="none" w="med" len="med"/>
                      <a:tailEnd type="none" w="med" len="med"/>
                    </a:lnR>
                    <a:lnT w="6350" cap="flat" cmpd="sng" algn="ctr">
                      <a:solidFill>
                        <a:srgbClr val="4A3A28"/>
                      </a:solidFill>
                      <a:prstDash val="solid"/>
                      <a:round/>
                      <a:headEnd type="none" w="med" len="med"/>
                      <a:tailEnd type="none" w="med" len="med"/>
                    </a:lnT>
                    <a:lnB w="6350" cap="flat" cmpd="sng" algn="ctr">
                      <a:solidFill>
                        <a:srgbClr val="4A3A28"/>
                      </a:solidFill>
                      <a:prstDash val="solid"/>
                      <a:round/>
                      <a:headEnd type="none" w="med" len="med"/>
                      <a:tailEnd type="none" w="med" len="med"/>
                    </a:lnB>
                    <a:solidFill>
                      <a:srgbClr val="241C14"/>
                    </a:solidFill>
                  </a:tcPr>
                </a:tc>
                <a:tc>
                  <a:txBody>
                    <a:bodyPr/>
                    <a:lstStyle/>
                    <a:p>
                      <a:pPr indent="0" marL="0">
                        <a:buNone/>
                      </a:pPr>
                      <a:r>
                        <a:rPr lang="en-US" sz="1100" dirty="0">
                          <a:solidFill>
                            <a:srgbClr val="D8CDB4"/>
                          </a:solidFill>
                          <a:latin typeface="Arial" pitchFamily="34" charset="0"/>
                          <a:ea typeface="Arial" pitchFamily="34" charset="-122"/>
                          <a:cs typeface="Arial" pitchFamily="34" charset="-120"/>
                        </a:rPr>
                        <a:t>up to 25,000</a:t>
                      </a:r>
                      <a:endParaRPr lang="en-US" sz="1100" dirty="0">
                        <a:latin typeface="Arial" charset="0"/>
                        <a:ea typeface="Arial" charset="0"/>
                        <a:cs typeface="Arial" charset="0"/>
                      </a:endParaRPr>
                    </a:p>
                  </a:txBody>
                  <a:tcPr marL="91440" marR="91440" marT="45720" marB="45720" anchor="ctr">
                    <a:lnL w="6350" cap="flat" cmpd="sng" algn="ctr">
                      <a:solidFill>
                        <a:srgbClr val="4A3A28"/>
                      </a:solidFill>
                      <a:prstDash val="solid"/>
                      <a:round/>
                      <a:headEnd type="none" w="med" len="med"/>
                      <a:tailEnd type="none" w="med" len="med"/>
                    </a:lnL>
                    <a:lnR w="6350" cap="flat" cmpd="sng" algn="ctr">
                      <a:solidFill>
                        <a:srgbClr val="4A3A28"/>
                      </a:solidFill>
                      <a:prstDash val="solid"/>
                      <a:round/>
                      <a:headEnd type="none" w="med" len="med"/>
                      <a:tailEnd type="none" w="med" len="med"/>
                    </a:lnR>
                    <a:lnT w="6350" cap="flat" cmpd="sng" algn="ctr">
                      <a:solidFill>
                        <a:srgbClr val="4A3A28"/>
                      </a:solidFill>
                      <a:prstDash val="solid"/>
                      <a:round/>
                      <a:headEnd type="none" w="med" len="med"/>
                      <a:tailEnd type="none" w="med" len="med"/>
                    </a:lnT>
                    <a:lnB w="6350" cap="flat" cmpd="sng" algn="ctr">
                      <a:solidFill>
                        <a:srgbClr val="4A3A28"/>
                      </a:solidFill>
                      <a:prstDash val="solid"/>
                      <a:round/>
                      <a:headEnd type="none" w="med" len="med"/>
                      <a:tailEnd type="none" w="med" len="med"/>
                    </a:lnB>
                    <a:solidFill>
                      <a:srgbClr val="241C14"/>
                    </a:solidFill>
                  </a:tcPr>
                </a:tc>
              </a:tr>
              <a:tr h="402336">
                <a:tc>
                  <a:txBody>
                    <a:bodyPr/>
                    <a:lstStyle/>
                    <a:p>
                      <a:pPr indent="0" marL="0">
                        <a:buNone/>
                      </a:pPr>
                      <a:r>
                        <a:rPr lang="en-US" sz="1100" dirty="0">
                          <a:solidFill>
                            <a:srgbClr val="D8CDB4"/>
                          </a:solidFill>
                          <a:latin typeface="Arial" pitchFamily="34" charset="0"/>
                          <a:ea typeface="Arial" pitchFamily="34" charset="-122"/>
                          <a:cs typeface="Arial" pitchFamily="34" charset="-120"/>
                        </a:rPr>
                        <a:t>2023 Shanxi damage</a:t>
                      </a:r>
                      <a:endParaRPr lang="en-US" sz="1100" dirty="0">
                        <a:latin typeface="Arial" charset="0"/>
                        <a:ea typeface="Arial" charset="0"/>
                        <a:cs typeface="Arial" charset="0"/>
                      </a:endParaRPr>
                    </a:p>
                  </a:txBody>
                  <a:tcPr marL="91440" marR="91440" marT="45720" marB="45720" anchor="ctr">
                    <a:lnL w="6350" cap="flat" cmpd="sng" algn="ctr">
                      <a:solidFill>
                        <a:srgbClr val="4A3A28"/>
                      </a:solidFill>
                      <a:prstDash val="solid"/>
                      <a:round/>
                      <a:headEnd type="none" w="med" len="med"/>
                      <a:tailEnd type="none" w="med" len="med"/>
                    </a:lnL>
                    <a:lnR w="6350" cap="flat" cmpd="sng" algn="ctr">
                      <a:solidFill>
                        <a:srgbClr val="4A3A28"/>
                      </a:solidFill>
                      <a:prstDash val="solid"/>
                      <a:round/>
                      <a:headEnd type="none" w="med" len="med"/>
                      <a:tailEnd type="none" w="med" len="med"/>
                    </a:lnR>
                    <a:lnT w="6350" cap="flat" cmpd="sng" algn="ctr">
                      <a:solidFill>
                        <a:srgbClr val="4A3A28"/>
                      </a:solidFill>
                      <a:prstDash val="solid"/>
                      <a:round/>
                      <a:headEnd type="none" w="med" len="med"/>
                      <a:tailEnd type="none" w="med" len="med"/>
                    </a:lnT>
                    <a:lnB w="6350" cap="flat" cmpd="sng" algn="ctr">
                      <a:solidFill>
                        <a:srgbClr val="4A3A28"/>
                      </a:solidFill>
                      <a:prstDash val="solid"/>
                      <a:round/>
                      <a:headEnd type="none" w="med" len="med"/>
                      <a:tailEnd type="none" w="med" len="med"/>
                    </a:lnB>
                    <a:solidFill>
                      <a:srgbClr val="241C14"/>
                    </a:solidFill>
                  </a:tcPr>
                </a:tc>
                <a:tc>
                  <a:txBody>
                    <a:bodyPr/>
                    <a:lstStyle/>
                    <a:p>
                      <a:pPr indent="0" marL="0">
                        <a:buNone/>
                      </a:pPr>
                      <a:r>
                        <a:rPr lang="en-US" sz="1100" dirty="0">
                          <a:solidFill>
                            <a:srgbClr val="D8CDB4"/>
                          </a:solidFill>
                          <a:latin typeface="Arial" pitchFamily="34" charset="0"/>
                          <a:ea typeface="Arial" pitchFamily="34" charset="-122"/>
                          <a:cs typeface="Arial" pitchFamily="34" charset="-120"/>
                        </a:rPr>
                        <a:t>gap widened by excavator</a:t>
                      </a:r>
                      <a:endParaRPr lang="en-US" sz="1100" dirty="0">
                        <a:latin typeface="Arial" charset="0"/>
                        <a:ea typeface="Arial" charset="0"/>
                        <a:cs typeface="Arial" charset="0"/>
                      </a:endParaRPr>
                    </a:p>
                  </a:txBody>
                  <a:tcPr marL="91440" marR="91440" marT="45720" marB="45720" anchor="ctr">
                    <a:lnL w="6350" cap="flat" cmpd="sng" algn="ctr">
                      <a:solidFill>
                        <a:srgbClr val="4A3A28"/>
                      </a:solidFill>
                      <a:prstDash val="solid"/>
                      <a:round/>
                      <a:headEnd type="none" w="med" len="med"/>
                      <a:tailEnd type="none" w="med" len="med"/>
                    </a:lnL>
                    <a:lnR w="6350" cap="flat" cmpd="sng" algn="ctr">
                      <a:solidFill>
                        <a:srgbClr val="4A3A28"/>
                      </a:solidFill>
                      <a:prstDash val="solid"/>
                      <a:round/>
                      <a:headEnd type="none" w="med" len="med"/>
                      <a:tailEnd type="none" w="med" len="med"/>
                    </a:lnR>
                    <a:lnT w="6350" cap="flat" cmpd="sng" algn="ctr">
                      <a:solidFill>
                        <a:srgbClr val="4A3A28"/>
                      </a:solidFill>
                      <a:prstDash val="solid"/>
                      <a:round/>
                      <a:headEnd type="none" w="med" len="med"/>
                      <a:tailEnd type="none" w="med" len="med"/>
                    </a:lnT>
                    <a:lnB w="6350" cap="flat" cmpd="sng" algn="ctr">
                      <a:solidFill>
                        <a:srgbClr val="4A3A28"/>
                      </a:solidFill>
                      <a:prstDash val="solid"/>
                      <a:round/>
                      <a:headEnd type="none" w="med" len="med"/>
                      <a:tailEnd type="none" w="med" len="med"/>
                    </a:lnB>
                    <a:solidFill>
                      <a:srgbClr val="241C14"/>
                    </a:solidFill>
                  </a:tcPr>
                </a:tc>
              </a:tr>
            </a:tbl>
          </a:graphicData>
        </a:graphic>
      </p:graphicFrame>
      <p:pic>
        <p:nvPicPr>
          <p:cNvPr id="7" name="Image 0" descr="C:\Users\18367\Desktop\test\web-app-test\runtime\artifacts\chat_9a283d290d7d\document-assets\download-Great_Wall_of_China_view_1.jpg">    </p:cNvPr>
          <p:cNvPicPr>
            <a:picLocks noChangeAspect="1"/>
          </p:cNvPicPr>
          <p:nvPr/>
        </p:nvPicPr>
        <p:blipFill>
          <a:blip r:embed="rId1"/>
          <a:srcRect l="0" r="0" t="0" b="0"/>
          <a:stretch/>
        </p:blipFill>
        <p:spPr>
          <a:xfrm>
            <a:off x="6949440" y="2103120"/>
            <a:ext cx="4572000" cy="4297680"/>
          </a:xfrm>
          <a:prstGeom prst="rect">
            <a:avLst/>
          </a:prstGeom>
        </p:spPr>
      </p:pic>
      <p:sp>
        <p:nvSpPr>
          <p:cNvPr id="8" name="Shape 4"/>
          <p:cNvSpPr/>
          <p:nvPr/>
        </p:nvSpPr>
        <p:spPr>
          <a:xfrm>
            <a:off x="6949440" y="2103120"/>
            <a:ext cx="4572000" cy="310896"/>
          </a:xfrm>
          <a:prstGeom prst="rect">
            <a:avLst/>
          </a:prstGeom>
          <a:solidFill>
            <a:srgbClr val="1A1410">
              <a:alpha val="75000"/>
            </a:srgbClr>
          </a:solidFill>
          <a:ln/>
        </p:spPr>
      </p:sp>
      <p:sp>
        <p:nvSpPr>
          <p:cNvPr id="9" name="Text 5"/>
          <p:cNvSpPr/>
          <p:nvPr/>
        </p:nvSpPr>
        <p:spPr>
          <a:xfrm>
            <a:off x="7059168" y="6126480"/>
            <a:ext cx="4352544" cy="237744"/>
          </a:xfrm>
          <a:prstGeom prst="rect">
            <a:avLst/>
          </a:prstGeom>
          <a:noFill/>
          <a:ln/>
        </p:spPr>
        <p:txBody>
          <a:bodyPr wrap="square" lIns="0" tIns="0" rIns="0" bIns="0" rtlCol="0" anchor="ctr"/>
          <a:lstStyle/>
          <a:p>
            <a:pPr indent="0" marL="0">
              <a:buNone/>
            </a:pPr>
            <a:r>
              <a:rPr lang="en-US" sz="900" i="1" dirty="0">
                <a:solidFill>
                  <a:srgbClr val="F5EFE0"/>
                </a:solidFill>
                <a:latin typeface="Arial" pitchFamily="34" charset="0"/>
                <a:ea typeface="Arial" pitchFamily="34" charset="-122"/>
                <a:cs typeface="Arial" pitchFamily="34" charset="-120"/>
              </a:rPr>
              <a:t>Badaling Great Wall during winter</a:t>
            </a:r>
            <a:endParaRPr lang="en-US" sz="900" dirty="0"/>
          </a:p>
        </p:txBody>
      </p:sp>
      <p:sp>
        <p:nvSpPr>
          <p:cNvPr id="10" name="Text 6"/>
          <p:cNvSpPr/>
          <p:nvPr/>
        </p:nvSpPr>
        <p:spPr>
          <a:xfrm>
            <a:off x="548640" y="6446520"/>
            <a:ext cx="5486400" cy="274320"/>
          </a:xfrm>
          <a:prstGeom prst="rect">
            <a:avLst/>
          </a:prstGeom>
          <a:noFill/>
          <a:ln/>
        </p:spPr>
        <p:txBody>
          <a:bodyPr wrap="square" rtlCol="0" anchor="ctr"/>
          <a:lstStyle/>
          <a:p>
            <a:pPr indent="0" marL="0">
              <a:buNone/>
            </a:pPr>
            <a:r>
              <a:rPr lang="en-US" sz="800" spc="200" kern="0" dirty="0">
                <a:solidFill>
                  <a:srgbClr val="D8CDB4"/>
                </a:solidFill>
                <a:latin typeface="Arial" pitchFamily="34" charset="0"/>
                <a:ea typeface="Arial" pitchFamily="34" charset="-122"/>
                <a:cs typeface="Arial" pitchFamily="34" charset="-120"/>
              </a:rPr>
              <a:t>THE GREAT WALL OF CHINA</a:t>
            </a:r>
            <a:endParaRPr lang="en-US" sz="800" dirty="0"/>
          </a:p>
        </p:txBody>
      </p:sp>
      <p:sp>
        <p:nvSpPr>
          <p:cNvPr id="11" name="Text 7"/>
          <p:cNvSpPr/>
          <p:nvPr/>
        </p:nvSpPr>
        <p:spPr>
          <a:xfrm>
            <a:off x="11155680" y="6446520"/>
            <a:ext cx="548640" cy="274320"/>
          </a:xfrm>
          <a:prstGeom prst="rect">
            <a:avLst/>
          </a:prstGeom>
          <a:noFill/>
          <a:ln/>
        </p:spPr>
        <p:txBody>
          <a:bodyPr wrap="square" rtlCol="0" anchor="ctr"/>
          <a:lstStyle/>
          <a:p>
            <a:pPr algn="r" indent="0" marL="0">
              <a:buNone/>
            </a:pPr>
            <a:r>
              <a:rPr lang="en-US" sz="900" dirty="0">
                <a:solidFill>
                  <a:srgbClr val="D4AF37"/>
                </a:solidFill>
                <a:latin typeface="Georgia" pitchFamily="34" charset="0"/>
                <a:ea typeface="Georgia" pitchFamily="34" charset="-122"/>
                <a:cs typeface="Georgia"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1410"/>
        </a:solidFill>
      </p:bgPr>
    </p:bg>
    <p:spTree>
      <p:nvGrpSpPr>
        <p:cNvPr id="1" name=""/>
        <p:cNvGrpSpPr/>
        <p:nvPr/>
      </p:nvGrpSpPr>
      <p:grpSpPr>
        <a:xfrm>
          <a:off x="0" y="0"/>
          <a:ext cx="0" cy="0"/>
          <a:chOff x="0" y="0"/>
          <a:chExt cx="0" cy="0"/>
        </a:xfrm>
      </p:grpSpPr>
      <p:sp>
        <p:nvSpPr>
          <p:cNvPr id="2" name="Text 0"/>
          <p:cNvSpPr/>
          <p:nvPr/>
        </p:nvSpPr>
        <p:spPr>
          <a:xfrm>
            <a:off x="548640" y="502920"/>
            <a:ext cx="10972800" cy="320040"/>
          </a:xfrm>
          <a:prstGeom prst="rect">
            <a:avLst/>
          </a:prstGeom>
          <a:noFill/>
          <a:ln/>
        </p:spPr>
        <p:txBody>
          <a:bodyPr wrap="square" rtlCol="0" anchor="ctr"/>
          <a:lstStyle/>
          <a:p>
            <a:pPr indent="0" marL="0">
              <a:buNone/>
            </a:pPr>
            <a:r>
              <a:rPr lang="en-US" sz="1200" b="1" spc="300" kern="0" dirty="0">
                <a:solidFill>
                  <a:srgbClr val="D4AF37"/>
                </a:solidFill>
                <a:latin typeface="Georgia" pitchFamily="34" charset="0"/>
                <a:ea typeface="Georgia" pitchFamily="34" charset="-122"/>
                <a:cs typeface="Georgia" pitchFamily="34" charset="-120"/>
              </a:rPr>
              <a:t>MYTH &amp; REALITY</a:t>
            </a:r>
            <a:endParaRPr lang="en-US" sz="1200" dirty="0"/>
          </a:p>
        </p:txBody>
      </p:sp>
      <p:sp>
        <p:nvSpPr>
          <p:cNvPr id="3" name="Text 1"/>
          <p:cNvSpPr/>
          <p:nvPr/>
        </p:nvSpPr>
        <p:spPr>
          <a:xfrm>
            <a:off x="548640" y="868680"/>
            <a:ext cx="11064240" cy="822960"/>
          </a:xfrm>
          <a:prstGeom prst="rect">
            <a:avLst/>
          </a:prstGeom>
          <a:noFill/>
          <a:ln/>
        </p:spPr>
        <p:txBody>
          <a:bodyPr wrap="square" lIns="0" tIns="0" rIns="0" bIns="0" rtlCol="0" anchor="ctr"/>
          <a:lstStyle/>
          <a:p>
            <a:pPr indent="0" marL="0">
              <a:buNone/>
            </a:pPr>
            <a:r>
              <a:rPr lang="en-US" sz="3400" b="1" dirty="0">
                <a:solidFill>
                  <a:srgbClr val="F5EFE0"/>
                </a:solidFill>
                <a:latin typeface="Georgia" pitchFamily="34" charset="0"/>
                <a:ea typeface="Georgia" pitchFamily="34" charset="-122"/>
                <a:cs typeface="Georgia" pitchFamily="34" charset="-120"/>
              </a:rPr>
              <a:t>Can You See the Wall from Space?</a:t>
            </a:r>
            <a:endParaRPr lang="en-US" sz="3400" dirty="0"/>
          </a:p>
        </p:txBody>
      </p:sp>
      <p:sp>
        <p:nvSpPr>
          <p:cNvPr id="4" name="Shape 2"/>
          <p:cNvSpPr/>
          <p:nvPr/>
        </p:nvSpPr>
        <p:spPr>
          <a:xfrm>
            <a:off x="566928" y="1783080"/>
            <a:ext cx="1463040" cy="41148"/>
          </a:xfrm>
          <a:prstGeom prst="rect">
            <a:avLst/>
          </a:prstGeom>
          <a:solidFill>
            <a:srgbClr val="D4AF37"/>
          </a:solidFill>
          <a:ln/>
        </p:spPr>
      </p:sp>
      <p:sp>
        <p:nvSpPr>
          <p:cNvPr id="5" name="Text 3"/>
          <p:cNvSpPr/>
          <p:nvPr/>
        </p:nvSpPr>
        <p:spPr>
          <a:xfrm>
            <a:off x="640080" y="2194560"/>
            <a:ext cx="6035040" cy="1828800"/>
          </a:xfrm>
          <a:prstGeom prst="rect">
            <a:avLst/>
          </a:prstGeom>
          <a:noFill/>
          <a:ln/>
        </p:spPr>
        <p:txBody>
          <a:bodyPr wrap="square" lIns="0" tIns="0" rIns="0" bIns="0" rtlCol="0" anchor="t"/>
          <a:lstStyle/>
          <a:p>
            <a:pPr indent="0" marL="0">
              <a:lnSpc>
                <a:spcPct val="115000"/>
              </a:lnSpc>
              <a:buNone/>
            </a:pPr>
            <a:r>
              <a:rPr lang="en-US" sz="1400" dirty="0">
                <a:solidFill>
                  <a:srgbClr val="D8CDB4"/>
                </a:solidFill>
                <a:latin typeface="Arial" pitchFamily="34" charset="0"/>
                <a:ea typeface="Arial" pitchFamily="34" charset="-122"/>
                <a:cs typeface="Arial" pitchFamily="34" charset="-120"/>
              </a:rPr>
              <a:t>Popular culture claims the Great Wall can be seen from space with the naked eye — but the truth is more subtle. Although the wall is long enough, it is far too narrow. Astronauts report that, being made of local materials, the wall blends into its surroundings in a natural camouflage effect.</a:t>
            </a:r>
            <a:endParaRPr lang="en-US" sz="1400" dirty="0"/>
          </a:p>
        </p:txBody>
      </p:sp>
      <p:sp>
        <p:nvSpPr>
          <p:cNvPr id="6" name="Text 4"/>
          <p:cNvSpPr/>
          <p:nvPr/>
        </p:nvSpPr>
        <p:spPr>
          <a:xfrm>
            <a:off x="640080" y="4114800"/>
            <a:ext cx="6035040" cy="1463040"/>
          </a:xfrm>
          <a:prstGeom prst="rect">
            <a:avLst/>
          </a:prstGeom>
          <a:noFill/>
          <a:ln/>
        </p:spPr>
        <p:txBody>
          <a:bodyPr wrap="square" lIns="0" tIns="0" rIns="0" bIns="0" rtlCol="0" anchor="t"/>
          <a:lstStyle/>
          <a:p>
            <a:pPr indent="0" marL="0">
              <a:lnSpc>
                <a:spcPct val="115000"/>
              </a:lnSpc>
              <a:buNone/>
            </a:pPr>
            <a:r>
              <a:rPr lang="en-US" sz="1400" dirty="0">
                <a:solidFill>
                  <a:srgbClr val="D8CDB4"/>
                </a:solidFill>
                <a:latin typeface="Arial" pitchFamily="34" charset="0"/>
                <a:ea typeface="Arial" pitchFamily="34" charset="-122"/>
                <a:cs typeface="Arial" pitchFamily="34" charset="-120"/>
              </a:rPr>
              <a:t>From the Moon, the wall is far beyond the limit of human vision. From low Earth orbit, it is only occasionally visible under ideal conditions — and even then it is not the distinctive ribbon of legend.</a:t>
            </a:r>
            <a:endParaRPr lang="en-US" sz="1400" dirty="0"/>
          </a:p>
        </p:txBody>
      </p:sp>
      <p:sp>
        <p:nvSpPr>
          <p:cNvPr id="7" name="Text 5"/>
          <p:cNvSpPr/>
          <p:nvPr/>
        </p:nvSpPr>
        <p:spPr>
          <a:xfrm>
            <a:off x="640080" y="5577840"/>
            <a:ext cx="6035040" cy="822960"/>
          </a:xfrm>
          <a:prstGeom prst="rect">
            <a:avLst/>
          </a:prstGeom>
          <a:noFill/>
          <a:ln/>
        </p:spPr>
        <p:txBody>
          <a:bodyPr wrap="square" lIns="0" tIns="0" rIns="0" bIns="0" rtlCol="0" anchor="t"/>
          <a:lstStyle/>
          <a:p>
            <a:pPr indent="0" marL="0">
              <a:lnSpc>
                <a:spcPct val="115000"/>
              </a:lnSpc>
              <a:buNone/>
            </a:pPr>
            <a:r>
              <a:rPr lang="en-US" sz="1200" dirty="0">
                <a:solidFill>
                  <a:srgbClr val="D8CDB4"/>
                </a:solidFill>
                <a:latin typeface="Arial" pitchFamily="34" charset="0"/>
                <a:ea typeface="Arial" pitchFamily="34" charset="-122"/>
                <a:cs typeface="Arial" pitchFamily="34" charset="-120"/>
              </a:rPr>
              <a:t>The myth endures, but the wall’s true wonder lies in its scale: 21,196 km of human engineering across mountains, deserts and steppe.</a:t>
            </a:r>
            <a:endParaRPr lang="en-US" sz="1200" dirty="0"/>
          </a:p>
        </p:txBody>
      </p:sp>
      <p:pic>
        <p:nvPicPr>
          <p:cNvPr id="8" name="Image 0" descr="C:\Users\18367\Desktop\test\web-app-test\runtime\artifacts\chat_9a283d290d7d\document-assets\download-The_Great_wall_-_by_Hao_Wei.jpg">    </p:cNvPr>
          <p:cNvPicPr>
            <a:picLocks noChangeAspect="1"/>
          </p:cNvPicPr>
          <p:nvPr/>
        </p:nvPicPr>
        <p:blipFill>
          <a:blip r:embed="rId1"/>
          <a:srcRect l="0" r="0" t="0" b="0"/>
          <a:stretch/>
        </p:blipFill>
        <p:spPr>
          <a:xfrm>
            <a:off x="6949440" y="2103120"/>
            <a:ext cx="4572000" cy="4297680"/>
          </a:xfrm>
          <a:prstGeom prst="rect">
            <a:avLst/>
          </a:prstGeom>
        </p:spPr>
      </p:pic>
      <p:sp>
        <p:nvSpPr>
          <p:cNvPr id="9" name="Shape 6"/>
          <p:cNvSpPr/>
          <p:nvPr/>
        </p:nvSpPr>
        <p:spPr>
          <a:xfrm>
            <a:off x="6949440" y="2103120"/>
            <a:ext cx="4572000" cy="310896"/>
          </a:xfrm>
          <a:prstGeom prst="rect">
            <a:avLst/>
          </a:prstGeom>
          <a:solidFill>
            <a:srgbClr val="1A1410">
              <a:alpha val="75000"/>
            </a:srgbClr>
          </a:solidFill>
          <a:ln/>
        </p:spPr>
      </p:sp>
      <p:sp>
        <p:nvSpPr>
          <p:cNvPr id="10" name="Text 7"/>
          <p:cNvSpPr/>
          <p:nvPr/>
        </p:nvSpPr>
        <p:spPr>
          <a:xfrm>
            <a:off x="7059168" y="6126480"/>
            <a:ext cx="4352544" cy="237744"/>
          </a:xfrm>
          <a:prstGeom prst="rect">
            <a:avLst/>
          </a:prstGeom>
          <a:noFill/>
          <a:ln/>
        </p:spPr>
        <p:txBody>
          <a:bodyPr wrap="square" lIns="0" tIns="0" rIns="0" bIns="0" rtlCol="0" anchor="ctr"/>
          <a:lstStyle/>
          <a:p>
            <a:pPr indent="0" marL="0">
              <a:buNone/>
            </a:pPr>
            <a:r>
              <a:rPr lang="en-US" sz="900" i="1" dirty="0">
                <a:solidFill>
                  <a:srgbClr val="F5EFE0"/>
                </a:solidFill>
                <a:latin typeface="Arial" pitchFamily="34" charset="0"/>
                <a:ea typeface="Arial" pitchFamily="34" charset="-122"/>
                <a:cs typeface="Arial" pitchFamily="34" charset="-120"/>
              </a:rPr>
              <a:t>The Great Wall at dawn — by Hao Wei</a:t>
            </a:r>
            <a:endParaRPr lang="en-US" sz="900" dirty="0"/>
          </a:p>
        </p:txBody>
      </p:sp>
      <p:sp>
        <p:nvSpPr>
          <p:cNvPr id="11" name="Text 8"/>
          <p:cNvSpPr/>
          <p:nvPr/>
        </p:nvSpPr>
        <p:spPr>
          <a:xfrm>
            <a:off x="548640" y="6446520"/>
            <a:ext cx="5486400" cy="274320"/>
          </a:xfrm>
          <a:prstGeom prst="rect">
            <a:avLst/>
          </a:prstGeom>
          <a:noFill/>
          <a:ln/>
        </p:spPr>
        <p:txBody>
          <a:bodyPr wrap="square" rtlCol="0" anchor="ctr"/>
          <a:lstStyle/>
          <a:p>
            <a:pPr indent="0" marL="0">
              <a:buNone/>
            </a:pPr>
            <a:r>
              <a:rPr lang="en-US" sz="800" spc="200" kern="0" dirty="0">
                <a:solidFill>
                  <a:srgbClr val="D8CDB4"/>
                </a:solidFill>
                <a:latin typeface="Arial" pitchFamily="34" charset="0"/>
                <a:ea typeface="Arial" pitchFamily="34" charset="-122"/>
                <a:cs typeface="Arial" pitchFamily="34" charset="-120"/>
              </a:rPr>
              <a:t>THE GREAT WALL OF CHINA</a:t>
            </a:r>
            <a:endParaRPr lang="en-US" sz="800" dirty="0"/>
          </a:p>
        </p:txBody>
      </p:sp>
      <p:sp>
        <p:nvSpPr>
          <p:cNvPr id="12" name="Text 9"/>
          <p:cNvSpPr/>
          <p:nvPr/>
        </p:nvSpPr>
        <p:spPr>
          <a:xfrm>
            <a:off x="11155680" y="6446520"/>
            <a:ext cx="548640" cy="274320"/>
          </a:xfrm>
          <a:prstGeom prst="rect">
            <a:avLst/>
          </a:prstGeom>
          <a:noFill/>
          <a:ln/>
        </p:spPr>
        <p:txBody>
          <a:bodyPr wrap="square" rtlCol="0" anchor="ctr"/>
          <a:lstStyle/>
          <a:p>
            <a:pPr algn="r" indent="0" marL="0">
              <a:buNone/>
            </a:pPr>
            <a:r>
              <a:rPr lang="en-US" sz="900" dirty="0">
                <a:solidFill>
                  <a:srgbClr val="D4AF37"/>
                </a:solidFill>
                <a:latin typeface="Georgia" pitchFamily="34" charset="0"/>
                <a:ea typeface="Georgia" pitchFamily="34" charset="-122"/>
                <a:cs typeface="Georgia"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1410"/>
        </a:solidFill>
      </p:bgPr>
    </p:bg>
    <p:spTree>
      <p:nvGrpSpPr>
        <p:cNvPr id="1" name=""/>
        <p:cNvGrpSpPr/>
        <p:nvPr/>
      </p:nvGrpSpPr>
      <p:grpSpPr>
        <a:xfrm>
          <a:off x="0" y="0"/>
          <a:ext cx="0" cy="0"/>
          <a:chOff x="0" y="0"/>
          <a:chExt cx="0" cy="0"/>
        </a:xfrm>
      </p:grpSpPr>
      <p:sp>
        <p:nvSpPr>
          <p:cNvPr id="2" name="Text 0"/>
          <p:cNvSpPr/>
          <p:nvPr/>
        </p:nvSpPr>
        <p:spPr>
          <a:xfrm>
            <a:off x="548640" y="502920"/>
            <a:ext cx="10972800" cy="320040"/>
          </a:xfrm>
          <a:prstGeom prst="rect">
            <a:avLst/>
          </a:prstGeom>
          <a:noFill/>
          <a:ln/>
        </p:spPr>
        <p:txBody>
          <a:bodyPr wrap="square" rtlCol="0" anchor="ctr"/>
          <a:lstStyle/>
          <a:p>
            <a:pPr indent="0" marL="0">
              <a:buNone/>
            </a:pPr>
            <a:r>
              <a:rPr lang="en-US" sz="1200" b="1" spc="300" kern="0" dirty="0">
                <a:solidFill>
                  <a:srgbClr val="D4AF37"/>
                </a:solidFill>
                <a:latin typeface="Georgia" pitchFamily="34" charset="0"/>
                <a:ea typeface="Georgia" pitchFamily="34" charset="-122"/>
                <a:cs typeface="Georgia" pitchFamily="34" charset="-120"/>
              </a:rPr>
              <a:t>TIMELINE</a:t>
            </a:r>
            <a:endParaRPr lang="en-US" sz="1200" dirty="0"/>
          </a:p>
        </p:txBody>
      </p:sp>
      <p:sp>
        <p:nvSpPr>
          <p:cNvPr id="3" name="Text 1"/>
          <p:cNvSpPr/>
          <p:nvPr/>
        </p:nvSpPr>
        <p:spPr>
          <a:xfrm>
            <a:off x="548640" y="868680"/>
            <a:ext cx="11064240" cy="822960"/>
          </a:xfrm>
          <a:prstGeom prst="rect">
            <a:avLst/>
          </a:prstGeom>
          <a:noFill/>
          <a:ln/>
        </p:spPr>
        <p:txBody>
          <a:bodyPr wrap="square" lIns="0" tIns="0" rIns="0" bIns="0" rtlCol="0" anchor="ctr"/>
          <a:lstStyle/>
          <a:p>
            <a:pPr indent="0" marL="0">
              <a:buNone/>
            </a:pPr>
            <a:r>
              <a:rPr lang="en-US" sz="3400" b="1" dirty="0">
                <a:solidFill>
                  <a:srgbClr val="F5EFE0"/>
                </a:solidFill>
                <a:latin typeface="Georgia" pitchFamily="34" charset="0"/>
                <a:ea typeface="Georgia" pitchFamily="34" charset="-122"/>
                <a:cs typeface="Georgia" pitchFamily="34" charset="-120"/>
              </a:rPr>
              <a:t>Two Thousand Years of Building</a:t>
            </a:r>
            <a:endParaRPr lang="en-US" sz="3400" dirty="0"/>
          </a:p>
        </p:txBody>
      </p:sp>
      <p:sp>
        <p:nvSpPr>
          <p:cNvPr id="4" name="Shape 2"/>
          <p:cNvSpPr/>
          <p:nvPr/>
        </p:nvSpPr>
        <p:spPr>
          <a:xfrm>
            <a:off x="566928" y="1783080"/>
            <a:ext cx="1463040" cy="41148"/>
          </a:xfrm>
          <a:prstGeom prst="rect">
            <a:avLst/>
          </a:prstGeom>
          <a:solidFill>
            <a:srgbClr val="D4AF37"/>
          </a:solidFill>
          <a:ln/>
        </p:spPr>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40080" y="2103120"/>
          <a:ext cx="10881360" cy="4023360"/>
        </p:xfrm>
        <a:graphic>
          <a:graphicData uri="http://schemas.openxmlformats.org/drawingml/2006/table">
            <a:tbl>
              <a:tblPr/>
              <a:tblGrid>
                <a:gridCol w="2011680"/>
                <a:gridCol w="3108960"/>
                <a:gridCol w="5760720"/>
              </a:tblGrid>
              <a:tr h="502920">
                <a:tc>
                  <a:txBody>
                    <a:bodyPr/>
                    <a:lstStyle/>
                    <a:p>
                      <a:pPr indent="0" marL="0">
                        <a:buNone/>
                      </a:pPr>
                      <a:r>
                        <a:rPr lang="en-US" sz="1200" b="1" dirty="0">
                          <a:solidFill>
                            <a:srgbClr val="1A1410"/>
                          </a:solidFill>
                          <a:latin typeface="Arial" pitchFamily="34" charset="0"/>
                          <a:ea typeface="Arial" pitchFamily="34" charset="-122"/>
                          <a:cs typeface="Arial" pitchFamily="34" charset="-120"/>
                        </a:rPr>
                        <a:t>Period</a:t>
                      </a:r>
                      <a:endParaRPr lang="en-US" sz="1200" dirty="0">
                        <a:latin typeface="Arial" charset="0"/>
                        <a:ea typeface="Arial" charset="0"/>
                        <a:cs typeface="Arial" charset="0"/>
                      </a:endParaRPr>
                    </a:p>
                  </a:txBody>
                  <a:tcPr marL="91440" marR="91440" marT="45720" marB="45720" anchor="ctr">
                    <a:lnL w="6350" cap="flat" cmpd="sng" algn="ctr">
                      <a:solidFill>
                        <a:srgbClr val="4A3A28"/>
                      </a:solidFill>
                      <a:prstDash val="solid"/>
                      <a:round/>
                      <a:headEnd type="none" w="med" len="med"/>
                      <a:tailEnd type="none" w="med" len="med"/>
                    </a:lnL>
                    <a:lnR w="6350" cap="flat" cmpd="sng" algn="ctr">
                      <a:solidFill>
                        <a:srgbClr val="4A3A28"/>
                      </a:solidFill>
                      <a:prstDash val="solid"/>
                      <a:round/>
                      <a:headEnd type="none" w="med" len="med"/>
                      <a:tailEnd type="none" w="med" len="med"/>
                    </a:lnR>
                    <a:lnT w="6350" cap="flat" cmpd="sng" algn="ctr">
                      <a:solidFill>
                        <a:srgbClr val="4A3A28"/>
                      </a:solidFill>
                      <a:prstDash val="solid"/>
                      <a:round/>
                      <a:headEnd type="none" w="med" len="med"/>
                      <a:tailEnd type="none" w="med" len="med"/>
                    </a:lnT>
                    <a:lnB w="6350" cap="flat" cmpd="sng" algn="ctr">
                      <a:solidFill>
                        <a:srgbClr val="4A3A28"/>
                      </a:solidFill>
                      <a:prstDash val="solid"/>
                      <a:round/>
                      <a:headEnd type="none" w="med" len="med"/>
                      <a:tailEnd type="none" w="med" len="med"/>
                    </a:lnB>
                    <a:solidFill>
                      <a:srgbClr val="D4AF37"/>
                    </a:solidFill>
                  </a:tcPr>
                </a:tc>
                <a:tc>
                  <a:txBody>
                    <a:bodyPr/>
                    <a:lstStyle/>
                    <a:p>
                      <a:pPr indent="0" marL="0">
                        <a:buNone/>
                      </a:pPr>
                      <a:r>
                        <a:rPr lang="en-US" sz="1200" b="1" dirty="0">
                          <a:solidFill>
                            <a:srgbClr val="1A1410"/>
                          </a:solidFill>
                          <a:latin typeface="Arial" pitchFamily="34" charset="0"/>
                          <a:ea typeface="Arial" pitchFamily="34" charset="-122"/>
                          <a:cs typeface="Arial" pitchFamily="34" charset="-120"/>
                        </a:rPr>
                        <a:t>Era</a:t>
                      </a:r>
                      <a:endParaRPr lang="en-US" sz="1200" dirty="0">
                        <a:latin typeface="Arial" charset="0"/>
                        <a:ea typeface="Arial" charset="0"/>
                        <a:cs typeface="Arial" charset="0"/>
                      </a:endParaRPr>
                    </a:p>
                  </a:txBody>
                  <a:tcPr marL="91440" marR="91440" marT="45720" marB="45720" anchor="ctr">
                    <a:lnL w="6350" cap="flat" cmpd="sng" algn="ctr">
                      <a:solidFill>
                        <a:srgbClr val="4A3A28"/>
                      </a:solidFill>
                      <a:prstDash val="solid"/>
                      <a:round/>
                      <a:headEnd type="none" w="med" len="med"/>
                      <a:tailEnd type="none" w="med" len="med"/>
                    </a:lnL>
                    <a:lnR w="6350" cap="flat" cmpd="sng" algn="ctr">
                      <a:solidFill>
                        <a:srgbClr val="4A3A28"/>
                      </a:solidFill>
                      <a:prstDash val="solid"/>
                      <a:round/>
                      <a:headEnd type="none" w="med" len="med"/>
                      <a:tailEnd type="none" w="med" len="med"/>
                    </a:lnR>
                    <a:lnT w="6350" cap="flat" cmpd="sng" algn="ctr">
                      <a:solidFill>
                        <a:srgbClr val="4A3A28"/>
                      </a:solidFill>
                      <a:prstDash val="solid"/>
                      <a:round/>
                      <a:headEnd type="none" w="med" len="med"/>
                      <a:tailEnd type="none" w="med" len="med"/>
                    </a:lnT>
                    <a:lnB w="6350" cap="flat" cmpd="sng" algn="ctr">
                      <a:solidFill>
                        <a:srgbClr val="4A3A28"/>
                      </a:solidFill>
                      <a:prstDash val="solid"/>
                      <a:round/>
                      <a:headEnd type="none" w="med" len="med"/>
                      <a:tailEnd type="none" w="med" len="med"/>
                    </a:lnB>
                    <a:solidFill>
                      <a:srgbClr val="D4AF37"/>
                    </a:solidFill>
                  </a:tcPr>
                </a:tc>
                <a:tc>
                  <a:txBody>
                    <a:bodyPr/>
                    <a:lstStyle/>
                    <a:p>
                      <a:pPr indent="0" marL="0">
                        <a:buNone/>
                      </a:pPr>
                      <a:r>
                        <a:rPr lang="en-US" sz="1200" b="1" dirty="0">
                          <a:solidFill>
                            <a:srgbClr val="1A1410"/>
                          </a:solidFill>
                          <a:latin typeface="Arial" pitchFamily="34" charset="0"/>
                          <a:ea typeface="Arial" pitchFamily="34" charset="-122"/>
                          <a:cs typeface="Arial" pitchFamily="34" charset="-120"/>
                        </a:rPr>
                        <a:t>Contribution</a:t>
                      </a:r>
                      <a:endParaRPr lang="en-US" sz="1200" dirty="0">
                        <a:latin typeface="Arial" charset="0"/>
                        <a:ea typeface="Arial" charset="0"/>
                        <a:cs typeface="Arial" charset="0"/>
                      </a:endParaRPr>
                    </a:p>
                  </a:txBody>
                  <a:tcPr marL="91440" marR="91440" marT="45720" marB="45720" anchor="ctr">
                    <a:lnL w="6350" cap="flat" cmpd="sng" algn="ctr">
                      <a:solidFill>
                        <a:srgbClr val="4A3A28"/>
                      </a:solidFill>
                      <a:prstDash val="solid"/>
                      <a:round/>
                      <a:headEnd type="none" w="med" len="med"/>
                      <a:tailEnd type="none" w="med" len="med"/>
                    </a:lnL>
                    <a:lnR w="6350" cap="flat" cmpd="sng" algn="ctr">
                      <a:solidFill>
                        <a:srgbClr val="4A3A28"/>
                      </a:solidFill>
                      <a:prstDash val="solid"/>
                      <a:round/>
                      <a:headEnd type="none" w="med" len="med"/>
                      <a:tailEnd type="none" w="med" len="med"/>
                    </a:lnR>
                    <a:lnT w="6350" cap="flat" cmpd="sng" algn="ctr">
                      <a:solidFill>
                        <a:srgbClr val="4A3A28"/>
                      </a:solidFill>
                      <a:prstDash val="solid"/>
                      <a:round/>
                      <a:headEnd type="none" w="med" len="med"/>
                      <a:tailEnd type="none" w="med" len="med"/>
                    </a:lnT>
                    <a:lnB w="6350" cap="flat" cmpd="sng" algn="ctr">
                      <a:solidFill>
                        <a:srgbClr val="4A3A28"/>
                      </a:solidFill>
                      <a:prstDash val="solid"/>
                      <a:round/>
                      <a:headEnd type="none" w="med" len="med"/>
                      <a:tailEnd type="none" w="med" len="med"/>
                    </a:lnB>
                    <a:solidFill>
                      <a:srgbClr val="D4AF37"/>
                    </a:solidFill>
                  </a:tcPr>
                </a:tc>
              </a:tr>
              <a:tr h="502920">
                <a:tc>
                  <a:txBody>
                    <a:bodyPr/>
                    <a:lstStyle/>
                    <a:p>
                      <a:pPr indent="0" marL="0">
                        <a:buNone/>
                      </a:pPr>
                      <a:r>
                        <a:rPr lang="en-US" sz="1200" dirty="0">
                          <a:solidFill>
                            <a:srgbClr val="D8CDB4"/>
                          </a:solidFill>
                          <a:latin typeface="Arial" pitchFamily="34" charset="0"/>
                          <a:ea typeface="Arial" pitchFamily="34" charset="-122"/>
                          <a:cs typeface="Arial" pitchFamily="34" charset="-120"/>
                        </a:rPr>
                        <a:t>8th–5th c. BC</a:t>
                      </a:r>
                      <a:endParaRPr lang="en-US" sz="1200" dirty="0">
                        <a:latin typeface="Arial" charset="0"/>
                        <a:ea typeface="Arial" charset="0"/>
                        <a:cs typeface="Arial" charset="0"/>
                      </a:endParaRPr>
                    </a:p>
                  </a:txBody>
                  <a:tcPr marL="91440" marR="91440" marT="45720" marB="45720" anchor="ctr">
                    <a:lnL w="6350" cap="flat" cmpd="sng" algn="ctr">
                      <a:solidFill>
                        <a:srgbClr val="4A3A28"/>
                      </a:solidFill>
                      <a:prstDash val="solid"/>
                      <a:round/>
                      <a:headEnd type="none" w="med" len="med"/>
                      <a:tailEnd type="none" w="med" len="med"/>
                    </a:lnL>
                    <a:lnR w="6350" cap="flat" cmpd="sng" algn="ctr">
                      <a:solidFill>
                        <a:srgbClr val="4A3A28"/>
                      </a:solidFill>
                      <a:prstDash val="solid"/>
                      <a:round/>
                      <a:headEnd type="none" w="med" len="med"/>
                      <a:tailEnd type="none" w="med" len="med"/>
                    </a:lnR>
                    <a:lnT w="6350" cap="flat" cmpd="sng" algn="ctr">
                      <a:solidFill>
                        <a:srgbClr val="4A3A28"/>
                      </a:solidFill>
                      <a:prstDash val="solid"/>
                      <a:round/>
                      <a:headEnd type="none" w="med" len="med"/>
                      <a:tailEnd type="none" w="med" len="med"/>
                    </a:lnT>
                    <a:lnB w="6350" cap="flat" cmpd="sng" algn="ctr">
                      <a:solidFill>
                        <a:srgbClr val="4A3A28"/>
                      </a:solidFill>
                      <a:prstDash val="solid"/>
                      <a:round/>
                      <a:headEnd type="none" w="med" len="med"/>
                      <a:tailEnd type="none" w="med" len="med"/>
                    </a:lnB>
                    <a:solidFill>
                      <a:srgbClr val="241C14"/>
                    </a:solidFill>
                  </a:tcPr>
                </a:tc>
                <a:tc>
                  <a:txBody>
                    <a:bodyPr/>
                    <a:lstStyle/>
                    <a:p>
                      <a:pPr indent="0" marL="0">
                        <a:buNone/>
                      </a:pPr>
                      <a:r>
                        <a:rPr lang="en-US" sz="1200" dirty="0">
                          <a:solidFill>
                            <a:srgbClr val="D8CDB4"/>
                          </a:solidFill>
                          <a:latin typeface="Arial" pitchFamily="34" charset="0"/>
                          <a:ea typeface="Arial" pitchFamily="34" charset="-122"/>
                          <a:cs typeface="Arial" pitchFamily="34" charset="-120"/>
                        </a:rPr>
                        <a:t>Spring &amp; Autumn</a:t>
                      </a:r>
                      <a:endParaRPr lang="en-US" sz="1200" dirty="0">
                        <a:latin typeface="Arial" charset="0"/>
                        <a:ea typeface="Arial" charset="0"/>
                        <a:cs typeface="Arial" charset="0"/>
                      </a:endParaRPr>
                    </a:p>
                  </a:txBody>
                  <a:tcPr marL="91440" marR="91440" marT="45720" marB="45720" anchor="ctr">
                    <a:lnL w="6350" cap="flat" cmpd="sng" algn="ctr">
                      <a:solidFill>
                        <a:srgbClr val="4A3A28"/>
                      </a:solidFill>
                      <a:prstDash val="solid"/>
                      <a:round/>
                      <a:headEnd type="none" w="med" len="med"/>
                      <a:tailEnd type="none" w="med" len="med"/>
                    </a:lnL>
                    <a:lnR w="6350" cap="flat" cmpd="sng" algn="ctr">
                      <a:solidFill>
                        <a:srgbClr val="4A3A28"/>
                      </a:solidFill>
                      <a:prstDash val="solid"/>
                      <a:round/>
                      <a:headEnd type="none" w="med" len="med"/>
                      <a:tailEnd type="none" w="med" len="med"/>
                    </a:lnR>
                    <a:lnT w="6350" cap="flat" cmpd="sng" algn="ctr">
                      <a:solidFill>
                        <a:srgbClr val="4A3A28"/>
                      </a:solidFill>
                      <a:prstDash val="solid"/>
                      <a:round/>
                      <a:headEnd type="none" w="med" len="med"/>
                      <a:tailEnd type="none" w="med" len="med"/>
                    </a:lnT>
                    <a:lnB w="6350" cap="flat" cmpd="sng" algn="ctr">
                      <a:solidFill>
                        <a:srgbClr val="4A3A28"/>
                      </a:solidFill>
                      <a:prstDash val="solid"/>
                      <a:round/>
                      <a:headEnd type="none" w="med" len="med"/>
                      <a:tailEnd type="none" w="med" len="med"/>
                    </a:lnB>
                    <a:solidFill>
                      <a:srgbClr val="241C14"/>
                    </a:solidFill>
                  </a:tcPr>
                </a:tc>
                <a:tc>
                  <a:txBody>
                    <a:bodyPr/>
                    <a:lstStyle/>
                    <a:p>
                      <a:pPr indent="0" marL="0">
                        <a:buNone/>
                      </a:pPr>
                      <a:r>
                        <a:rPr lang="en-US" sz="1200" dirty="0">
                          <a:solidFill>
                            <a:srgbClr val="D8CDB4"/>
                          </a:solidFill>
                          <a:latin typeface="Arial" pitchFamily="34" charset="0"/>
                          <a:ea typeface="Arial" pitchFamily="34" charset="-122"/>
                          <a:cs typeface="Arial" pitchFamily="34" charset="-120"/>
                        </a:rPr>
                        <a:t>First state fortifications built</a:t>
                      </a:r>
                      <a:endParaRPr lang="en-US" sz="1200" dirty="0">
                        <a:latin typeface="Arial" charset="0"/>
                        <a:ea typeface="Arial" charset="0"/>
                        <a:cs typeface="Arial" charset="0"/>
                      </a:endParaRPr>
                    </a:p>
                  </a:txBody>
                  <a:tcPr marL="91440" marR="91440" marT="45720" marB="45720" anchor="ctr">
                    <a:lnL w="6350" cap="flat" cmpd="sng" algn="ctr">
                      <a:solidFill>
                        <a:srgbClr val="4A3A28"/>
                      </a:solidFill>
                      <a:prstDash val="solid"/>
                      <a:round/>
                      <a:headEnd type="none" w="med" len="med"/>
                      <a:tailEnd type="none" w="med" len="med"/>
                    </a:lnL>
                    <a:lnR w="6350" cap="flat" cmpd="sng" algn="ctr">
                      <a:solidFill>
                        <a:srgbClr val="4A3A28"/>
                      </a:solidFill>
                      <a:prstDash val="solid"/>
                      <a:round/>
                      <a:headEnd type="none" w="med" len="med"/>
                      <a:tailEnd type="none" w="med" len="med"/>
                    </a:lnR>
                    <a:lnT w="6350" cap="flat" cmpd="sng" algn="ctr">
                      <a:solidFill>
                        <a:srgbClr val="4A3A28"/>
                      </a:solidFill>
                      <a:prstDash val="solid"/>
                      <a:round/>
                      <a:headEnd type="none" w="med" len="med"/>
                      <a:tailEnd type="none" w="med" len="med"/>
                    </a:lnT>
                    <a:lnB w="6350" cap="flat" cmpd="sng" algn="ctr">
                      <a:solidFill>
                        <a:srgbClr val="4A3A28"/>
                      </a:solidFill>
                      <a:prstDash val="solid"/>
                      <a:round/>
                      <a:headEnd type="none" w="med" len="med"/>
                      <a:tailEnd type="none" w="med" len="med"/>
                    </a:lnB>
                    <a:solidFill>
                      <a:srgbClr val="241C14"/>
                    </a:solidFill>
                  </a:tcPr>
                </a:tc>
              </a:tr>
              <a:tr h="502920">
                <a:tc>
                  <a:txBody>
                    <a:bodyPr/>
                    <a:lstStyle/>
                    <a:p>
                      <a:pPr indent="0" marL="0">
                        <a:buNone/>
                      </a:pPr>
                      <a:r>
                        <a:rPr lang="en-US" sz="1200" dirty="0">
                          <a:solidFill>
                            <a:srgbClr val="D8CDB4"/>
                          </a:solidFill>
                          <a:latin typeface="Arial" pitchFamily="34" charset="0"/>
                          <a:ea typeface="Arial" pitchFamily="34" charset="-122"/>
                          <a:cs typeface="Arial" pitchFamily="34" charset="-120"/>
                        </a:rPr>
                        <a:t>221 BC</a:t>
                      </a:r>
                      <a:endParaRPr lang="en-US" sz="1200" dirty="0">
                        <a:latin typeface="Arial" charset="0"/>
                        <a:ea typeface="Arial" charset="0"/>
                        <a:cs typeface="Arial" charset="0"/>
                      </a:endParaRPr>
                    </a:p>
                  </a:txBody>
                  <a:tcPr marL="91440" marR="91440" marT="45720" marB="45720" anchor="ctr">
                    <a:lnL w="6350" cap="flat" cmpd="sng" algn="ctr">
                      <a:solidFill>
                        <a:srgbClr val="4A3A28"/>
                      </a:solidFill>
                      <a:prstDash val="solid"/>
                      <a:round/>
                      <a:headEnd type="none" w="med" len="med"/>
                      <a:tailEnd type="none" w="med" len="med"/>
                    </a:lnL>
                    <a:lnR w="6350" cap="flat" cmpd="sng" algn="ctr">
                      <a:solidFill>
                        <a:srgbClr val="4A3A28"/>
                      </a:solidFill>
                      <a:prstDash val="solid"/>
                      <a:round/>
                      <a:headEnd type="none" w="med" len="med"/>
                      <a:tailEnd type="none" w="med" len="med"/>
                    </a:lnR>
                    <a:lnT w="6350" cap="flat" cmpd="sng" algn="ctr">
                      <a:solidFill>
                        <a:srgbClr val="4A3A28"/>
                      </a:solidFill>
                      <a:prstDash val="solid"/>
                      <a:round/>
                      <a:headEnd type="none" w="med" len="med"/>
                      <a:tailEnd type="none" w="med" len="med"/>
                    </a:lnT>
                    <a:lnB w="6350" cap="flat" cmpd="sng" algn="ctr">
                      <a:solidFill>
                        <a:srgbClr val="4A3A28"/>
                      </a:solidFill>
                      <a:prstDash val="solid"/>
                      <a:round/>
                      <a:headEnd type="none" w="med" len="med"/>
                      <a:tailEnd type="none" w="med" len="med"/>
                    </a:lnB>
                    <a:solidFill>
                      <a:srgbClr val="241C14"/>
                    </a:solidFill>
                  </a:tcPr>
                </a:tc>
                <a:tc>
                  <a:txBody>
                    <a:bodyPr/>
                    <a:lstStyle/>
                    <a:p>
                      <a:pPr indent="0" marL="0">
                        <a:buNone/>
                      </a:pPr>
                      <a:r>
                        <a:rPr lang="en-US" sz="1200" dirty="0">
                          <a:solidFill>
                            <a:srgbClr val="D8CDB4"/>
                          </a:solidFill>
                          <a:latin typeface="Arial" pitchFamily="34" charset="0"/>
                          <a:ea typeface="Arial" pitchFamily="34" charset="-122"/>
                          <a:cs typeface="Arial" pitchFamily="34" charset="-120"/>
                        </a:rPr>
                        <a:t>Qin dynasty</a:t>
                      </a:r>
                      <a:endParaRPr lang="en-US" sz="1200" dirty="0">
                        <a:latin typeface="Arial" charset="0"/>
                        <a:ea typeface="Arial" charset="0"/>
                        <a:cs typeface="Arial" charset="0"/>
                      </a:endParaRPr>
                    </a:p>
                  </a:txBody>
                  <a:tcPr marL="91440" marR="91440" marT="45720" marB="45720" anchor="ctr">
                    <a:lnL w="6350" cap="flat" cmpd="sng" algn="ctr">
                      <a:solidFill>
                        <a:srgbClr val="4A3A28"/>
                      </a:solidFill>
                      <a:prstDash val="solid"/>
                      <a:round/>
                      <a:headEnd type="none" w="med" len="med"/>
                      <a:tailEnd type="none" w="med" len="med"/>
                    </a:lnL>
                    <a:lnR w="6350" cap="flat" cmpd="sng" algn="ctr">
                      <a:solidFill>
                        <a:srgbClr val="4A3A28"/>
                      </a:solidFill>
                      <a:prstDash val="solid"/>
                      <a:round/>
                      <a:headEnd type="none" w="med" len="med"/>
                      <a:tailEnd type="none" w="med" len="med"/>
                    </a:lnR>
                    <a:lnT w="6350" cap="flat" cmpd="sng" algn="ctr">
                      <a:solidFill>
                        <a:srgbClr val="4A3A28"/>
                      </a:solidFill>
                      <a:prstDash val="solid"/>
                      <a:round/>
                      <a:headEnd type="none" w="med" len="med"/>
                      <a:tailEnd type="none" w="med" len="med"/>
                    </a:lnT>
                    <a:lnB w="6350" cap="flat" cmpd="sng" algn="ctr">
                      <a:solidFill>
                        <a:srgbClr val="4A3A28"/>
                      </a:solidFill>
                      <a:prstDash val="solid"/>
                      <a:round/>
                      <a:headEnd type="none" w="med" len="med"/>
                      <a:tailEnd type="none" w="med" len="med"/>
                    </a:lnB>
                    <a:solidFill>
                      <a:srgbClr val="241C14"/>
                    </a:solidFill>
                  </a:tcPr>
                </a:tc>
                <a:tc>
                  <a:txBody>
                    <a:bodyPr/>
                    <a:lstStyle/>
                    <a:p>
                      <a:pPr indent="0" marL="0">
                        <a:buNone/>
                      </a:pPr>
                      <a:r>
                        <a:rPr lang="en-US" sz="1200" dirty="0">
                          <a:solidFill>
                            <a:srgbClr val="D8CDB4"/>
                          </a:solidFill>
                          <a:latin typeface="Arial" pitchFamily="34" charset="0"/>
                          <a:ea typeface="Arial" pitchFamily="34" charset="-122"/>
                          <a:cs typeface="Arial" pitchFamily="34" charset="-120"/>
                        </a:rPr>
                        <a:t>Walls joined under the First Emperor</a:t>
                      </a:r>
                      <a:endParaRPr lang="en-US" sz="1200" dirty="0">
                        <a:latin typeface="Arial" charset="0"/>
                        <a:ea typeface="Arial" charset="0"/>
                        <a:cs typeface="Arial" charset="0"/>
                      </a:endParaRPr>
                    </a:p>
                  </a:txBody>
                  <a:tcPr marL="91440" marR="91440" marT="45720" marB="45720" anchor="ctr">
                    <a:lnL w="6350" cap="flat" cmpd="sng" algn="ctr">
                      <a:solidFill>
                        <a:srgbClr val="4A3A28"/>
                      </a:solidFill>
                      <a:prstDash val="solid"/>
                      <a:round/>
                      <a:headEnd type="none" w="med" len="med"/>
                      <a:tailEnd type="none" w="med" len="med"/>
                    </a:lnL>
                    <a:lnR w="6350" cap="flat" cmpd="sng" algn="ctr">
                      <a:solidFill>
                        <a:srgbClr val="4A3A28"/>
                      </a:solidFill>
                      <a:prstDash val="solid"/>
                      <a:round/>
                      <a:headEnd type="none" w="med" len="med"/>
                      <a:tailEnd type="none" w="med" len="med"/>
                    </a:lnR>
                    <a:lnT w="6350" cap="flat" cmpd="sng" algn="ctr">
                      <a:solidFill>
                        <a:srgbClr val="4A3A28"/>
                      </a:solidFill>
                      <a:prstDash val="solid"/>
                      <a:round/>
                      <a:headEnd type="none" w="med" len="med"/>
                      <a:tailEnd type="none" w="med" len="med"/>
                    </a:lnT>
                    <a:lnB w="6350" cap="flat" cmpd="sng" algn="ctr">
                      <a:solidFill>
                        <a:srgbClr val="4A3A28"/>
                      </a:solidFill>
                      <a:prstDash val="solid"/>
                      <a:round/>
                      <a:headEnd type="none" w="med" len="med"/>
                      <a:tailEnd type="none" w="med" len="med"/>
                    </a:lnB>
                    <a:solidFill>
                      <a:srgbClr val="241C14"/>
                    </a:solidFill>
                  </a:tcPr>
                </a:tc>
              </a:tr>
              <a:tr h="502920">
                <a:tc>
                  <a:txBody>
                    <a:bodyPr/>
                    <a:lstStyle/>
                    <a:p>
                      <a:pPr indent="0" marL="0">
                        <a:buNone/>
                      </a:pPr>
                      <a:r>
                        <a:rPr lang="en-US" sz="1200" dirty="0">
                          <a:solidFill>
                            <a:srgbClr val="D8CDB4"/>
                          </a:solidFill>
                          <a:latin typeface="Arial" pitchFamily="34" charset="0"/>
                          <a:ea typeface="Arial" pitchFamily="34" charset="-122"/>
                          <a:cs typeface="Arial" pitchFamily="34" charset="-120"/>
                        </a:rPr>
                        <a:t>206 BC–220 AD</a:t>
                      </a:r>
                      <a:endParaRPr lang="en-US" sz="1200" dirty="0">
                        <a:latin typeface="Arial" charset="0"/>
                        <a:ea typeface="Arial" charset="0"/>
                        <a:cs typeface="Arial" charset="0"/>
                      </a:endParaRPr>
                    </a:p>
                  </a:txBody>
                  <a:tcPr marL="91440" marR="91440" marT="45720" marB="45720" anchor="ctr">
                    <a:lnL w="6350" cap="flat" cmpd="sng" algn="ctr">
                      <a:solidFill>
                        <a:srgbClr val="4A3A28"/>
                      </a:solidFill>
                      <a:prstDash val="solid"/>
                      <a:round/>
                      <a:headEnd type="none" w="med" len="med"/>
                      <a:tailEnd type="none" w="med" len="med"/>
                    </a:lnL>
                    <a:lnR w="6350" cap="flat" cmpd="sng" algn="ctr">
                      <a:solidFill>
                        <a:srgbClr val="4A3A28"/>
                      </a:solidFill>
                      <a:prstDash val="solid"/>
                      <a:round/>
                      <a:headEnd type="none" w="med" len="med"/>
                      <a:tailEnd type="none" w="med" len="med"/>
                    </a:lnR>
                    <a:lnT w="6350" cap="flat" cmpd="sng" algn="ctr">
                      <a:solidFill>
                        <a:srgbClr val="4A3A28"/>
                      </a:solidFill>
                      <a:prstDash val="solid"/>
                      <a:round/>
                      <a:headEnd type="none" w="med" len="med"/>
                      <a:tailEnd type="none" w="med" len="med"/>
                    </a:lnT>
                    <a:lnB w="6350" cap="flat" cmpd="sng" algn="ctr">
                      <a:solidFill>
                        <a:srgbClr val="4A3A28"/>
                      </a:solidFill>
                      <a:prstDash val="solid"/>
                      <a:round/>
                      <a:headEnd type="none" w="med" len="med"/>
                      <a:tailEnd type="none" w="med" len="med"/>
                    </a:lnB>
                    <a:solidFill>
                      <a:srgbClr val="241C14"/>
                    </a:solidFill>
                  </a:tcPr>
                </a:tc>
                <a:tc>
                  <a:txBody>
                    <a:bodyPr/>
                    <a:lstStyle/>
                    <a:p>
                      <a:pPr indent="0" marL="0">
                        <a:buNone/>
                      </a:pPr>
                      <a:r>
                        <a:rPr lang="en-US" sz="1200" dirty="0">
                          <a:solidFill>
                            <a:srgbClr val="D8CDB4"/>
                          </a:solidFill>
                          <a:latin typeface="Arial" pitchFamily="34" charset="0"/>
                          <a:ea typeface="Arial" pitchFamily="34" charset="-122"/>
                          <a:cs typeface="Arial" pitchFamily="34" charset="-120"/>
                        </a:rPr>
                        <a:t>Han dynasty</a:t>
                      </a:r>
                      <a:endParaRPr lang="en-US" sz="1200" dirty="0">
                        <a:latin typeface="Arial" charset="0"/>
                        <a:ea typeface="Arial" charset="0"/>
                        <a:cs typeface="Arial" charset="0"/>
                      </a:endParaRPr>
                    </a:p>
                  </a:txBody>
                  <a:tcPr marL="91440" marR="91440" marT="45720" marB="45720" anchor="ctr">
                    <a:lnL w="6350" cap="flat" cmpd="sng" algn="ctr">
                      <a:solidFill>
                        <a:srgbClr val="4A3A28"/>
                      </a:solidFill>
                      <a:prstDash val="solid"/>
                      <a:round/>
                      <a:headEnd type="none" w="med" len="med"/>
                      <a:tailEnd type="none" w="med" len="med"/>
                    </a:lnL>
                    <a:lnR w="6350" cap="flat" cmpd="sng" algn="ctr">
                      <a:solidFill>
                        <a:srgbClr val="4A3A28"/>
                      </a:solidFill>
                      <a:prstDash val="solid"/>
                      <a:round/>
                      <a:headEnd type="none" w="med" len="med"/>
                      <a:tailEnd type="none" w="med" len="med"/>
                    </a:lnR>
                    <a:lnT w="6350" cap="flat" cmpd="sng" algn="ctr">
                      <a:solidFill>
                        <a:srgbClr val="4A3A28"/>
                      </a:solidFill>
                      <a:prstDash val="solid"/>
                      <a:round/>
                      <a:headEnd type="none" w="med" len="med"/>
                      <a:tailEnd type="none" w="med" len="med"/>
                    </a:lnT>
                    <a:lnB w="6350" cap="flat" cmpd="sng" algn="ctr">
                      <a:solidFill>
                        <a:srgbClr val="4A3A28"/>
                      </a:solidFill>
                      <a:prstDash val="solid"/>
                      <a:round/>
                      <a:headEnd type="none" w="med" len="med"/>
                      <a:tailEnd type="none" w="med" len="med"/>
                    </a:lnB>
                    <a:solidFill>
                      <a:srgbClr val="241C14"/>
                    </a:solidFill>
                  </a:tcPr>
                </a:tc>
                <a:tc>
                  <a:txBody>
                    <a:bodyPr/>
                    <a:lstStyle/>
                    <a:p>
                      <a:pPr indent="0" marL="0">
                        <a:buNone/>
                      </a:pPr>
                      <a:r>
                        <a:rPr lang="en-US" sz="1200" dirty="0">
                          <a:solidFill>
                            <a:srgbClr val="D8CDB4"/>
                          </a:solidFill>
                          <a:latin typeface="Arial" pitchFamily="34" charset="0"/>
                          <a:ea typeface="Arial" pitchFamily="34" charset="-122"/>
                          <a:cs typeface="Arial" pitchFamily="34" charset="-120"/>
                        </a:rPr>
                        <a:t>Expansion along the Silk Road frontier</a:t>
                      </a:r>
                      <a:endParaRPr lang="en-US" sz="1200" dirty="0">
                        <a:latin typeface="Arial" charset="0"/>
                        <a:ea typeface="Arial" charset="0"/>
                        <a:cs typeface="Arial" charset="0"/>
                      </a:endParaRPr>
                    </a:p>
                  </a:txBody>
                  <a:tcPr marL="91440" marR="91440" marT="45720" marB="45720" anchor="ctr">
                    <a:lnL w="6350" cap="flat" cmpd="sng" algn="ctr">
                      <a:solidFill>
                        <a:srgbClr val="4A3A28"/>
                      </a:solidFill>
                      <a:prstDash val="solid"/>
                      <a:round/>
                      <a:headEnd type="none" w="med" len="med"/>
                      <a:tailEnd type="none" w="med" len="med"/>
                    </a:lnL>
                    <a:lnR w="6350" cap="flat" cmpd="sng" algn="ctr">
                      <a:solidFill>
                        <a:srgbClr val="4A3A28"/>
                      </a:solidFill>
                      <a:prstDash val="solid"/>
                      <a:round/>
                      <a:headEnd type="none" w="med" len="med"/>
                      <a:tailEnd type="none" w="med" len="med"/>
                    </a:lnR>
                    <a:lnT w="6350" cap="flat" cmpd="sng" algn="ctr">
                      <a:solidFill>
                        <a:srgbClr val="4A3A28"/>
                      </a:solidFill>
                      <a:prstDash val="solid"/>
                      <a:round/>
                      <a:headEnd type="none" w="med" len="med"/>
                      <a:tailEnd type="none" w="med" len="med"/>
                    </a:lnT>
                    <a:lnB w="6350" cap="flat" cmpd="sng" algn="ctr">
                      <a:solidFill>
                        <a:srgbClr val="4A3A28"/>
                      </a:solidFill>
                      <a:prstDash val="solid"/>
                      <a:round/>
                      <a:headEnd type="none" w="med" len="med"/>
                      <a:tailEnd type="none" w="med" len="med"/>
                    </a:lnB>
                    <a:solidFill>
                      <a:srgbClr val="241C14"/>
                    </a:solidFill>
                  </a:tcPr>
                </a:tc>
              </a:tr>
              <a:tr h="502920">
                <a:tc>
                  <a:txBody>
                    <a:bodyPr/>
                    <a:lstStyle/>
                    <a:p>
                      <a:pPr indent="0" marL="0">
                        <a:buNone/>
                      </a:pPr>
                      <a:r>
                        <a:rPr lang="en-US" sz="1200" dirty="0">
                          <a:solidFill>
                            <a:srgbClr val="D8CDB4"/>
                          </a:solidFill>
                          <a:latin typeface="Arial" pitchFamily="34" charset="0"/>
                          <a:ea typeface="Arial" pitchFamily="34" charset="-122"/>
                          <a:cs typeface="Arial" pitchFamily="34" charset="-120"/>
                        </a:rPr>
                        <a:t>1368–1644</a:t>
                      </a:r>
                      <a:endParaRPr lang="en-US" sz="1200" dirty="0">
                        <a:latin typeface="Arial" charset="0"/>
                        <a:ea typeface="Arial" charset="0"/>
                        <a:cs typeface="Arial" charset="0"/>
                      </a:endParaRPr>
                    </a:p>
                  </a:txBody>
                  <a:tcPr marL="91440" marR="91440" marT="45720" marB="45720" anchor="ctr">
                    <a:lnL w="6350" cap="flat" cmpd="sng" algn="ctr">
                      <a:solidFill>
                        <a:srgbClr val="4A3A28"/>
                      </a:solidFill>
                      <a:prstDash val="solid"/>
                      <a:round/>
                      <a:headEnd type="none" w="med" len="med"/>
                      <a:tailEnd type="none" w="med" len="med"/>
                    </a:lnL>
                    <a:lnR w="6350" cap="flat" cmpd="sng" algn="ctr">
                      <a:solidFill>
                        <a:srgbClr val="4A3A28"/>
                      </a:solidFill>
                      <a:prstDash val="solid"/>
                      <a:round/>
                      <a:headEnd type="none" w="med" len="med"/>
                      <a:tailEnd type="none" w="med" len="med"/>
                    </a:lnR>
                    <a:lnT w="6350" cap="flat" cmpd="sng" algn="ctr">
                      <a:solidFill>
                        <a:srgbClr val="4A3A28"/>
                      </a:solidFill>
                      <a:prstDash val="solid"/>
                      <a:round/>
                      <a:headEnd type="none" w="med" len="med"/>
                      <a:tailEnd type="none" w="med" len="med"/>
                    </a:lnT>
                    <a:lnB w="6350" cap="flat" cmpd="sng" algn="ctr">
                      <a:solidFill>
                        <a:srgbClr val="4A3A28"/>
                      </a:solidFill>
                      <a:prstDash val="solid"/>
                      <a:round/>
                      <a:headEnd type="none" w="med" len="med"/>
                      <a:tailEnd type="none" w="med" len="med"/>
                    </a:lnB>
                    <a:solidFill>
                      <a:srgbClr val="241C14"/>
                    </a:solidFill>
                  </a:tcPr>
                </a:tc>
                <a:tc>
                  <a:txBody>
                    <a:bodyPr/>
                    <a:lstStyle/>
                    <a:p>
                      <a:pPr indent="0" marL="0">
                        <a:buNone/>
                      </a:pPr>
                      <a:r>
                        <a:rPr lang="en-US" sz="1200" dirty="0">
                          <a:solidFill>
                            <a:srgbClr val="D8CDB4"/>
                          </a:solidFill>
                          <a:latin typeface="Arial" pitchFamily="34" charset="0"/>
                          <a:ea typeface="Arial" pitchFamily="34" charset="-122"/>
                          <a:cs typeface="Arial" pitchFamily="34" charset="-120"/>
                        </a:rPr>
                        <a:t>Ming dynasty</a:t>
                      </a:r>
                      <a:endParaRPr lang="en-US" sz="1200" dirty="0">
                        <a:latin typeface="Arial" charset="0"/>
                        <a:ea typeface="Arial" charset="0"/>
                        <a:cs typeface="Arial" charset="0"/>
                      </a:endParaRPr>
                    </a:p>
                  </a:txBody>
                  <a:tcPr marL="91440" marR="91440" marT="45720" marB="45720" anchor="ctr">
                    <a:lnL w="6350" cap="flat" cmpd="sng" algn="ctr">
                      <a:solidFill>
                        <a:srgbClr val="4A3A28"/>
                      </a:solidFill>
                      <a:prstDash val="solid"/>
                      <a:round/>
                      <a:headEnd type="none" w="med" len="med"/>
                      <a:tailEnd type="none" w="med" len="med"/>
                    </a:lnL>
                    <a:lnR w="6350" cap="flat" cmpd="sng" algn="ctr">
                      <a:solidFill>
                        <a:srgbClr val="4A3A28"/>
                      </a:solidFill>
                      <a:prstDash val="solid"/>
                      <a:round/>
                      <a:headEnd type="none" w="med" len="med"/>
                      <a:tailEnd type="none" w="med" len="med"/>
                    </a:lnR>
                    <a:lnT w="6350" cap="flat" cmpd="sng" algn="ctr">
                      <a:solidFill>
                        <a:srgbClr val="4A3A28"/>
                      </a:solidFill>
                      <a:prstDash val="solid"/>
                      <a:round/>
                      <a:headEnd type="none" w="med" len="med"/>
                      <a:tailEnd type="none" w="med" len="med"/>
                    </a:lnT>
                    <a:lnB w="6350" cap="flat" cmpd="sng" algn="ctr">
                      <a:solidFill>
                        <a:srgbClr val="4A3A28"/>
                      </a:solidFill>
                      <a:prstDash val="solid"/>
                      <a:round/>
                      <a:headEnd type="none" w="med" len="med"/>
                      <a:tailEnd type="none" w="med" len="med"/>
                    </a:lnB>
                    <a:solidFill>
                      <a:srgbClr val="241C14"/>
                    </a:solidFill>
                  </a:tcPr>
                </a:tc>
                <a:tc>
                  <a:txBody>
                    <a:bodyPr/>
                    <a:lstStyle/>
                    <a:p>
                      <a:pPr indent="0" marL="0">
                        <a:buNone/>
                      </a:pPr>
                      <a:r>
                        <a:rPr lang="en-US" sz="1200" dirty="0">
                          <a:solidFill>
                            <a:srgbClr val="D8CDB4"/>
                          </a:solidFill>
                          <a:latin typeface="Arial" pitchFamily="34" charset="0"/>
                          <a:ea typeface="Arial" pitchFamily="34" charset="-122"/>
                          <a:cs typeface="Arial" pitchFamily="34" charset="-120"/>
                        </a:rPr>
                        <a:t>Brick &amp; stone; the best-known sections</a:t>
                      </a:r>
                      <a:endParaRPr lang="en-US" sz="1200" dirty="0">
                        <a:latin typeface="Arial" charset="0"/>
                        <a:ea typeface="Arial" charset="0"/>
                        <a:cs typeface="Arial" charset="0"/>
                      </a:endParaRPr>
                    </a:p>
                  </a:txBody>
                  <a:tcPr marL="91440" marR="91440" marT="45720" marB="45720" anchor="ctr">
                    <a:lnL w="6350" cap="flat" cmpd="sng" algn="ctr">
                      <a:solidFill>
                        <a:srgbClr val="4A3A28"/>
                      </a:solidFill>
                      <a:prstDash val="solid"/>
                      <a:round/>
                      <a:headEnd type="none" w="med" len="med"/>
                      <a:tailEnd type="none" w="med" len="med"/>
                    </a:lnL>
                    <a:lnR w="6350" cap="flat" cmpd="sng" algn="ctr">
                      <a:solidFill>
                        <a:srgbClr val="4A3A28"/>
                      </a:solidFill>
                      <a:prstDash val="solid"/>
                      <a:round/>
                      <a:headEnd type="none" w="med" len="med"/>
                      <a:tailEnd type="none" w="med" len="med"/>
                    </a:lnR>
                    <a:lnT w="6350" cap="flat" cmpd="sng" algn="ctr">
                      <a:solidFill>
                        <a:srgbClr val="4A3A28"/>
                      </a:solidFill>
                      <a:prstDash val="solid"/>
                      <a:round/>
                      <a:headEnd type="none" w="med" len="med"/>
                      <a:tailEnd type="none" w="med" len="med"/>
                    </a:lnT>
                    <a:lnB w="6350" cap="flat" cmpd="sng" algn="ctr">
                      <a:solidFill>
                        <a:srgbClr val="4A3A28"/>
                      </a:solidFill>
                      <a:prstDash val="solid"/>
                      <a:round/>
                      <a:headEnd type="none" w="med" len="med"/>
                      <a:tailEnd type="none" w="med" len="med"/>
                    </a:lnB>
                    <a:solidFill>
                      <a:srgbClr val="241C14"/>
                    </a:solidFill>
                  </a:tcPr>
                </a:tc>
              </a:tr>
              <a:tr h="502920">
                <a:tc>
                  <a:txBody>
                    <a:bodyPr/>
                    <a:lstStyle/>
                    <a:p>
                      <a:pPr indent="0" marL="0">
                        <a:buNone/>
                      </a:pPr>
                      <a:r>
                        <a:rPr lang="en-US" sz="1200" dirty="0">
                          <a:solidFill>
                            <a:srgbClr val="D8CDB4"/>
                          </a:solidFill>
                          <a:latin typeface="Arial" pitchFamily="34" charset="0"/>
                          <a:ea typeface="Arial" pitchFamily="34" charset="-122"/>
                          <a:cs typeface="Arial" pitchFamily="34" charset="-120"/>
                        </a:rPr>
                        <a:t>1644–1912</a:t>
                      </a:r>
                      <a:endParaRPr lang="en-US" sz="1200" dirty="0">
                        <a:latin typeface="Arial" charset="0"/>
                        <a:ea typeface="Arial" charset="0"/>
                        <a:cs typeface="Arial" charset="0"/>
                      </a:endParaRPr>
                    </a:p>
                  </a:txBody>
                  <a:tcPr marL="91440" marR="91440" marT="45720" marB="45720" anchor="ctr">
                    <a:lnL w="6350" cap="flat" cmpd="sng" algn="ctr">
                      <a:solidFill>
                        <a:srgbClr val="4A3A28"/>
                      </a:solidFill>
                      <a:prstDash val="solid"/>
                      <a:round/>
                      <a:headEnd type="none" w="med" len="med"/>
                      <a:tailEnd type="none" w="med" len="med"/>
                    </a:lnL>
                    <a:lnR w="6350" cap="flat" cmpd="sng" algn="ctr">
                      <a:solidFill>
                        <a:srgbClr val="4A3A28"/>
                      </a:solidFill>
                      <a:prstDash val="solid"/>
                      <a:round/>
                      <a:headEnd type="none" w="med" len="med"/>
                      <a:tailEnd type="none" w="med" len="med"/>
                    </a:lnR>
                    <a:lnT w="6350" cap="flat" cmpd="sng" algn="ctr">
                      <a:solidFill>
                        <a:srgbClr val="4A3A28"/>
                      </a:solidFill>
                      <a:prstDash val="solid"/>
                      <a:round/>
                      <a:headEnd type="none" w="med" len="med"/>
                      <a:tailEnd type="none" w="med" len="med"/>
                    </a:lnT>
                    <a:lnB w="6350" cap="flat" cmpd="sng" algn="ctr">
                      <a:solidFill>
                        <a:srgbClr val="4A3A28"/>
                      </a:solidFill>
                      <a:prstDash val="solid"/>
                      <a:round/>
                      <a:headEnd type="none" w="med" len="med"/>
                      <a:tailEnd type="none" w="med" len="med"/>
                    </a:lnB>
                    <a:solidFill>
                      <a:srgbClr val="241C14"/>
                    </a:solidFill>
                  </a:tcPr>
                </a:tc>
                <a:tc>
                  <a:txBody>
                    <a:bodyPr/>
                    <a:lstStyle/>
                    <a:p>
                      <a:pPr indent="0" marL="0">
                        <a:buNone/>
                      </a:pPr>
                      <a:r>
                        <a:rPr lang="en-US" sz="1200" dirty="0">
                          <a:solidFill>
                            <a:srgbClr val="D8CDB4"/>
                          </a:solidFill>
                          <a:latin typeface="Arial" pitchFamily="34" charset="0"/>
                          <a:ea typeface="Arial" pitchFamily="34" charset="-122"/>
                          <a:cs typeface="Arial" pitchFamily="34" charset="-120"/>
                        </a:rPr>
                        <a:t>Qing dynasty</a:t>
                      </a:r>
                      <a:endParaRPr lang="en-US" sz="1200" dirty="0">
                        <a:latin typeface="Arial" charset="0"/>
                        <a:ea typeface="Arial" charset="0"/>
                        <a:cs typeface="Arial" charset="0"/>
                      </a:endParaRPr>
                    </a:p>
                  </a:txBody>
                  <a:tcPr marL="91440" marR="91440" marT="45720" marB="45720" anchor="ctr">
                    <a:lnL w="6350" cap="flat" cmpd="sng" algn="ctr">
                      <a:solidFill>
                        <a:srgbClr val="4A3A28"/>
                      </a:solidFill>
                      <a:prstDash val="solid"/>
                      <a:round/>
                      <a:headEnd type="none" w="med" len="med"/>
                      <a:tailEnd type="none" w="med" len="med"/>
                    </a:lnL>
                    <a:lnR w="6350" cap="flat" cmpd="sng" algn="ctr">
                      <a:solidFill>
                        <a:srgbClr val="4A3A28"/>
                      </a:solidFill>
                      <a:prstDash val="solid"/>
                      <a:round/>
                      <a:headEnd type="none" w="med" len="med"/>
                      <a:tailEnd type="none" w="med" len="med"/>
                    </a:lnR>
                    <a:lnT w="6350" cap="flat" cmpd="sng" algn="ctr">
                      <a:solidFill>
                        <a:srgbClr val="4A3A28"/>
                      </a:solidFill>
                      <a:prstDash val="solid"/>
                      <a:round/>
                      <a:headEnd type="none" w="med" len="med"/>
                      <a:tailEnd type="none" w="med" len="med"/>
                    </a:lnT>
                    <a:lnB w="6350" cap="flat" cmpd="sng" algn="ctr">
                      <a:solidFill>
                        <a:srgbClr val="4A3A28"/>
                      </a:solidFill>
                      <a:prstDash val="solid"/>
                      <a:round/>
                      <a:headEnd type="none" w="med" len="med"/>
                      <a:tailEnd type="none" w="med" len="med"/>
                    </a:lnB>
                    <a:solidFill>
                      <a:srgbClr val="241C14"/>
                    </a:solidFill>
                  </a:tcPr>
                </a:tc>
                <a:tc>
                  <a:txBody>
                    <a:bodyPr/>
                    <a:lstStyle/>
                    <a:p>
                      <a:pPr indent="0" marL="0">
                        <a:buNone/>
                      </a:pPr>
                      <a:r>
                        <a:rPr lang="en-US" sz="1200" dirty="0">
                          <a:solidFill>
                            <a:srgbClr val="D8CDB4"/>
                          </a:solidFill>
                          <a:latin typeface="Arial" pitchFamily="34" charset="0"/>
                          <a:ea typeface="Arial" pitchFamily="34" charset="-122"/>
                          <a:cs typeface="Arial" pitchFamily="34" charset="-120"/>
                        </a:rPr>
                        <a:t>Maintenance; the wall loses its role</a:t>
                      </a:r>
                      <a:endParaRPr lang="en-US" sz="1200" dirty="0">
                        <a:latin typeface="Arial" charset="0"/>
                        <a:ea typeface="Arial" charset="0"/>
                        <a:cs typeface="Arial" charset="0"/>
                      </a:endParaRPr>
                    </a:p>
                  </a:txBody>
                  <a:tcPr marL="91440" marR="91440" marT="45720" marB="45720" anchor="ctr">
                    <a:lnL w="6350" cap="flat" cmpd="sng" algn="ctr">
                      <a:solidFill>
                        <a:srgbClr val="4A3A28"/>
                      </a:solidFill>
                      <a:prstDash val="solid"/>
                      <a:round/>
                      <a:headEnd type="none" w="med" len="med"/>
                      <a:tailEnd type="none" w="med" len="med"/>
                    </a:lnL>
                    <a:lnR w="6350" cap="flat" cmpd="sng" algn="ctr">
                      <a:solidFill>
                        <a:srgbClr val="4A3A28"/>
                      </a:solidFill>
                      <a:prstDash val="solid"/>
                      <a:round/>
                      <a:headEnd type="none" w="med" len="med"/>
                      <a:tailEnd type="none" w="med" len="med"/>
                    </a:lnR>
                    <a:lnT w="6350" cap="flat" cmpd="sng" algn="ctr">
                      <a:solidFill>
                        <a:srgbClr val="4A3A28"/>
                      </a:solidFill>
                      <a:prstDash val="solid"/>
                      <a:round/>
                      <a:headEnd type="none" w="med" len="med"/>
                      <a:tailEnd type="none" w="med" len="med"/>
                    </a:lnT>
                    <a:lnB w="6350" cap="flat" cmpd="sng" algn="ctr">
                      <a:solidFill>
                        <a:srgbClr val="4A3A28"/>
                      </a:solidFill>
                      <a:prstDash val="solid"/>
                      <a:round/>
                      <a:headEnd type="none" w="med" len="med"/>
                      <a:tailEnd type="none" w="med" len="med"/>
                    </a:lnB>
                    <a:solidFill>
                      <a:srgbClr val="241C14"/>
                    </a:solidFill>
                  </a:tcPr>
                </a:tc>
              </a:tr>
              <a:tr h="502920">
                <a:tc>
                  <a:txBody>
                    <a:bodyPr/>
                    <a:lstStyle/>
                    <a:p>
                      <a:pPr indent="0" marL="0">
                        <a:buNone/>
                      </a:pPr>
                      <a:r>
                        <a:rPr lang="en-US" sz="1200" dirty="0">
                          <a:solidFill>
                            <a:srgbClr val="D8CDB4"/>
                          </a:solidFill>
                          <a:latin typeface="Arial" pitchFamily="34" charset="0"/>
                          <a:ea typeface="Arial" pitchFamily="34" charset="-122"/>
                          <a:cs typeface="Arial" pitchFamily="34" charset="-120"/>
                        </a:rPr>
                        <a:t>1987</a:t>
                      </a:r>
                      <a:endParaRPr lang="en-US" sz="1200" dirty="0">
                        <a:latin typeface="Arial" charset="0"/>
                        <a:ea typeface="Arial" charset="0"/>
                        <a:cs typeface="Arial" charset="0"/>
                      </a:endParaRPr>
                    </a:p>
                  </a:txBody>
                  <a:tcPr marL="91440" marR="91440" marT="45720" marB="45720" anchor="ctr">
                    <a:lnL w="6350" cap="flat" cmpd="sng" algn="ctr">
                      <a:solidFill>
                        <a:srgbClr val="4A3A28"/>
                      </a:solidFill>
                      <a:prstDash val="solid"/>
                      <a:round/>
                      <a:headEnd type="none" w="med" len="med"/>
                      <a:tailEnd type="none" w="med" len="med"/>
                    </a:lnL>
                    <a:lnR w="6350" cap="flat" cmpd="sng" algn="ctr">
                      <a:solidFill>
                        <a:srgbClr val="4A3A28"/>
                      </a:solidFill>
                      <a:prstDash val="solid"/>
                      <a:round/>
                      <a:headEnd type="none" w="med" len="med"/>
                      <a:tailEnd type="none" w="med" len="med"/>
                    </a:lnR>
                    <a:lnT w="6350" cap="flat" cmpd="sng" algn="ctr">
                      <a:solidFill>
                        <a:srgbClr val="4A3A28"/>
                      </a:solidFill>
                      <a:prstDash val="solid"/>
                      <a:round/>
                      <a:headEnd type="none" w="med" len="med"/>
                      <a:tailEnd type="none" w="med" len="med"/>
                    </a:lnT>
                    <a:lnB w="6350" cap="flat" cmpd="sng" algn="ctr">
                      <a:solidFill>
                        <a:srgbClr val="4A3A28"/>
                      </a:solidFill>
                      <a:prstDash val="solid"/>
                      <a:round/>
                      <a:headEnd type="none" w="med" len="med"/>
                      <a:tailEnd type="none" w="med" len="med"/>
                    </a:lnB>
                    <a:solidFill>
                      <a:srgbClr val="241C14"/>
                    </a:solidFill>
                  </a:tcPr>
                </a:tc>
                <a:tc>
                  <a:txBody>
                    <a:bodyPr/>
                    <a:lstStyle/>
                    <a:p>
                      <a:pPr indent="0" marL="0">
                        <a:buNone/>
                      </a:pPr>
                      <a:r>
                        <a:rPr lang="en-US" sz="1200" dirty="0">
                          <a:solidFill>
                            <a:srgbClr val="D8CDB4"/>
                          </a:solidFill>
                          <a:latin typeface="Arial" pitchFamily="34" charset="0"/>
                          <a:ea typeface="Arial" pitchFamily="34" charset="-122"/>
                          <a:cs typeface="Arial" pitchFamily="34" charset="-120"/>
                        </a:rPr>
                        <a:t>Modern era</a:t>
                      </a:r>
                      <a:endParaRPr lang="en-US" sz="1200" dirty="0">
                        <a:latin typeface="Arial" charset="0"/>
                        <a:ea typeface="Arial" charset="0"/>
                        <a:cs typeface="Arial" charset="0"/>
                      </a:endParaRPr>
                    </a:p>
                  </a:txBody>
                  <a:tcPr marL="91440" marR="91440" marT="45720" marB="45720" anchor="ctr">
                    <a:lnL w="6350" cap="flat" cmpd="sng" algn="ctr">
                      <a:solidFill>
                        <a:srgbClr val="4A3A28"/>
                      </a:solidFill>
                      <a:prstDash val="solid"/>
                      <a:round/>
                      <a:headEnd type="none" w="med" len="med"/>
                      <a:tailEnd type="none" w="med" len="med"/>
                    </a:lnL>
                    <a:lnR w="6350" cap="flat" cmpd="sng" algn="ctr">
                      <a:solidFill>
                        <a:srgbClr val="4A3A28"/>
                      </a:solidFill>
                      <a:prstDash val="solid"/>
                      <a:round/>
                      <a:headEnd type="none" w="med" len="med"/>
                      <a:tailEnd type="none" w="med" len="med"/>
                    </a:lnR>
                    <a:lnT w="6350" cap="flat" cmpd="sng" algn="ctr">
                      <a:solidFill>
                        <a:srgbClr val="4A3A28"/>
                      </a:solidFill>
                      <a:prstDash val="solid"/>
                      <a:round/>
                      <a:headEnd type="none" w="med" len="med"/>
                      <a:tailEnd type="none" w="med" len="med"/>
                    </a:lnT>
                    <a:lnB w="6350" cap="flat" cmpd="sng" algn="ctr">
                      <a:solidFill>
                        <a:srgbClr val="4A3A28"/>
                      </a:solidFill>
                      <a:prstDash val="solid"/>
                      <a:round/>
                      <a:headEnd type="none" w="med" len="med"/>
                      <a:tailEnd type="none" w="med" len="med"/>
                    </a:lnB>
                    <a:solidFill>
                      <a:srgbClr val="241C14"/>
                    </a:solidFill>
                  </a:tcPr>
                </a:tc>
                <a:tc>
                  <a:txBody>
                    <a:bodyPr/>
                    <a:lstStyle/>
                    <a:p>
                      <a:pPr indent="0" marL="0">
                        <a:buNone/>
                      </a:pPr>
                      <a:r>
                        <a:rPr lang="en-US" sz="1200" dirty="0">
                          <a:solidFill>
                            <a:srgbClr val="D8CDB4"/>
                          </a:solidFill>
                          <a:latin typeface="Arial" pitchFamily="34" charset="0"/>
                          <a:ea typeface="Arial" pitchFamily="34" charset="-122"/>
                          <a:cs typeface="Arial" pitchFamily="34" charset="-120"/>
                        </a:rPr>
                        <a:t>UNESCO World Heritage inscription</a:t>
                      </a:r>
                      <a:endParaRPr lang="en-US" sz="1200" dirty="0">
                        <a:latin typeface="Arial" charset="0"/>
                        <a:ea typeface="Arial" charset="0"/>
                        <a:cs typeface="Arial" charset="0"/>
                      </a:endParaRPr>
                    </a:p>
                  </a:txBody>
                  <a:tcPr marL="91440" marR="91440" marT="45720" marB="45720" anchor="ctr">
                    <a:lnL w="6350" cap="flat" cmpd="sng" algn="ctr">
                      <a:solidFill>
                        <a:srgbClr val="4A3A28"/>
                      </a:solidFill>
                      <a:prstDash val="solid"/>
                      <a:round/>
                      <a:headEnd type="none" w="med" len="med"/>
                      <a:tailEnd type="none" w="med" len="med"/>
                    </a:lnL>
                    <a:lnR w="6350" cap="flat" cmpd="sng" algn="ctr">
                      <a:solidFill>
                        <a:srgbClr val="4A3A28"/>
                      </a:solidFill>
                      <a:prstDash val="solid"/>
                      <a:round/>
                      <a:headEnd type="none" w="med" len="med"/>
                      <a:tailEnd type="none" w="med" len="med"/>
                    </a:lnR>
                    <a:lnT w="6350" cap="flat" cmpd="sng" algn="ctr">
                      <a:solidFill>
                        <a:srgbClr val="4A3A28"/>
                      </a:solidFill>
                      <a:prstDash val="solid"/>
                      <a:round/>
                      <a:headEnd type="none" w="med" len="med"/>
                      <a:tailEnd type="none" w="med" len="med"/>
                    </a:lnT>
                    <a:lnB w="6350" cap="flat" cmpd="sng" algn="ctr">
                      <a:solidFill>
                        <a:srgbClr val="4A3A28"/>
                      </a:solidFill>
                      <a:prstDash val="solid"/>
                      <a:round/>
                      <a:headEnd type="none" w="med" len="med"/>
                      <a:tailEnd type="none" w="med" len="med"/>
                    </a:lnB>
                    <a:solidFill>
                      <a:srgbClr val="241C14"/>
                    </a:solidFill>
                  </a:tcPr>
                </a:tc>
              </a:tr>
              <a:tr h="502920">
                <a:tc>
                  <a:txBody>
                    <a:bodyPr/>
                    <a:lstStyle/>
                    <a:p>
                      <a:pPr indent="0" marL="0">
                        <a:buNone/>
                      </a:pPr>
                      <a:r>
                        <a:rPr lang="en-US" sz="1200" dirty="0">
                          <a:solidFill>
                            <a:srgbClr val="D8CDB4"/>
                          </a:solidFill>
                          <a:latin typeface="Arial" pitchFamily="34" charset="0"/>
                          <a:ea typeface="Arial" pitchFamily="34" charset="-122"/>
                          <a:cs typeface="Arial" pitchFamily="34" charset="-120"/>
                        </a:rPr>
                        <a:t>2007</a:t>
                      </a:r>
                      <a:endParaRPr lang="en-US" sz="1200" dirty="0">
                        <a:latin typeface="Arial" charset="0"/>
                        <a:ea typeface="Arial" charset="0"/>
                        <a:cs typeface="Arial" charset="0"/>
                      </a:endParaRPr>
                    </a:p>
                  </a:txBody>
                  <a:tcPr marL="91440" marR="91440" marT="45720" marB="45720" anchor="ctr">
                    <a:lnL w="6350" cap="flat" cmpd="sng" algn="ctr">
                      <a:solidFill>
                        <a:srgbClr val="4A3A28"/>
                      </a:solidFill>
                      <a:prstDash val="solid"/>
                      <a:round/>
                      <a:headEnd type="none" w="med" len="med"/>
                      <a:tailEnd type="none" w="med" len="med"/>
                    </a:lnL>
                    <a:lnR w="6350" cap="flat" cmpd="sng" algn="ctr">
                      <a:solidFill>
                        <a:srgbClr val="4A3A28"/>
                      </a:solidFill>
                      <a:prstDash val="solid"/>
                      <a:round/>
                      <a:headEnd type="none" w="med" len="med"/>
                      <a:tailEnd type="none" w="med" len="med"/>
                    </a:lnR>
                    <a:lnT w="6350" cap="flat" cmpd="sng" algn="ctr">
                      <a:solidFill>
                        <a:srgbClr val="4A3A28"/>
                      </a:solidFill>
                      <a:prstDash val="solid"/>
                      <a:round/>
                      <a:headEnd type="none" w="med" len="med"/>
                      <a:tailEnd type="none" w="med" len="med"/>
                    </a:lnT>
                    <a:lnB w="6350" cap="flat" cmpd="sng" algn="ctr">
                      <a:solidFill>
                        <a:srgbClr val="4A3A28"/>
                      </a:solidFill>
                      <a:prstDash val="solid"/>
                      <a:round/>
                      <a:headEnd type="none" w="med" len="med"/>
                      <a:tailEnd type="none" w="med" len="med"/>
                    </a:lnB>
                    <a:solidFill>
                      <a:srgbClr val="241C14"/>
                    </a:solidFill>
                  </a:tcPr>
                </a:tc>
                <a:tc>
                  <a:txBody>
                    <a:bodyPr/>
                    <a:lstStyle/>
                    <a:p>
                      <a:pPr indent="0" marL="0">
                        <a:buNone/>
                      </a:pPr>
                      <a:r>
                        <a:rPr lang="en-US" sz="1200" dirty="0">
                          <a:solidFill>
                            <a:srgbClr val="D8CDB4"/>
                          </a:solidFill>
                          <a:latin typeface="Arial" pitchFamily="34" charset="0"/>
                          <a:ea typeface="Arial" pitchFamily="34" charset="-122"/>
                          <a:cs typeface="Arial" pitchFamily="34" charset="-120"/>
                        </a:rPr>
                        <a:t>Modern era</a:t>
                      </a:r>
                      <a:endParaRPr lang="en-US" sz="1200" dirty="0">
                        <a:latin typeface="Arial" charset="0"/>
                        <a:ea typeface="Arial" charset="0"/>
                        <a:cs typeface="Arial" charset="0"/>
                      </a:endParaRPr>
                    </a:p>
                  </a:txBody>
                  <a:tcPr marL="91440" marR="91440" marT="45720" marB="45720" anchor="ctr">
                    <a:lnL w="6350" cap="flat" cmpd="sng" algn="ctr">
                      <a:solidFill>
                        <a:srgbClr val="4A3A28"/>
                      </a:solidFill>
                      <a:prstDash val="solid"/>
                      <a:round/>
                      <a:headEnd type="none" w="med" len="med"/>
                      <a:tailEnd type="none" w="med" len="med"/>
                    </a:lnL>
                    <a:lnR w="6350" cap="flat" cmpd="sng" algn="ctr">
                      <a:solidFill>
                        <a:srgbClr val="4A3A28"/>
                      </a:solidFill>
                      <a:prstDash val="solid"/>
                      <a:round/>
                      <a:headEnd type="none" w="med" len="med"/>
                      <a:tailEnd type="none" w="med" len="med"/>
                    </a:lnR>
                    <a:lnT w="6350" cap="flat" cmpd="sng" algn="ctr">
                      <a:solidFill>
                        <a:srgbClr val="4A3A28"/>
                      </a:solidFill>
                      <a:prstDash val="solid"/>
                      <a:round/>
                      <a:headEnd type="none" w="med" len="med"/>
                      <a:tailEnd type="none" w="med" len="med"/>
                    </a:lnT>
                    <a:lnB w="6350" cap="flat" cmpd="sng" algn="ctr">
                      <a:solidFill>
                        <a:srgbClr val="4A3A28"/>
                      </a:solidFill>
                      <a:prstDash val="solid"/>
                      <a:round/>
                      <a:headEnd type="none" w="med" len="med"/>
                      <a:tailEnd type="none" w="med" len="med"/>
                    </a:lnB>
                    <a:solidFill>
                      <a:srgbClr val="241C14"/>
                    </a:solidFill>
                  </a:tcPr>
                </a:tc>
                <a:tc>
                  <a:txBody>
                    <a:bodyPr/>
                    <a:lstStyle/>
                    <a:p>
                      <a:pPr indent="0" marL="0">
                        <a:buNone/>
                      </a:pPr>
                      <a:r>
                        <a:rPr lang="en-US" sz="1200" dirty="0">
                          <a:solidFill>
                            <a:srgbClr val="D8CDB4"/>
                          </a:solidFill>
                          <a:latin typeface="Arial" pitchFamily="34" charset="0"/>
                          <a:ea typeface="Arial" pitchFamily="34" charset="-122"/>
                          <a:cs typeface="Arial" pitchFamily="34" charset="-120"/>
                        </a:rPr>
                        <a:t>Voted one of the New 7 Wonders</a:t>
                      </a:r>
                      <a:endParaRPr lang="en-US" sz="1200" dirty="0">
                        <a:latin typeface="Arial" charset="0"/>
                        <a:ea typeface="Arial" charset="0"/>
                        <a:cs typeface="Arial" charset="0"/>
                      </a:endParaRPr>
                    </a:p>
                  </a:txBody>
                  <a:tcPr marL="91440" marR="91440" marT="45720" marB="45720" anchor="ctr">
                    <a:lnL w="6350" cap="flat" cmpd="sng" algn="ctr">
                      <a:solidFill>
                        <a:srgbClr val="4A3A28"/>
                      </a:solidFill>
                      <a:prstDash val="solid"/>
                      <a:round/>
                      <a:headEnd type="none" w="med" len="med"/>
                      <a:tailEnd type="none" w="med" len="med"/>
                    </a:lnL>
                    <a:lnR w="6350" cap="flat" cmpd="sng" algn="ctr">
                      <a:solidFill>
                        <a:srgbClr val="4A3A28"/>
                      </a:solidFill>
                      <a:prstDash val="solid"/>
                      <a:round/>
                      <a:headEnd type="none" w="med" len="med"/>
                      <a:tailEnd type="none" w="med" len="med"/>
                    </a:lnR>
                    <a:lnT w="6350" cap="flat" cmpd="sng" algn="ctr">
                      <a:solidFill>
                        <a:srgbClr val="4A3A28"/>
                      </a:solidFill>
                      <a:prstDash val="solid"/>
                      <a:round/>
                      <a:headEnd type="none" w="med" len="med"/>
                      <a:tailEnd type="none" w="med" len="med"/>
                    </a:lnT>
                    <a:lnB w="6350" cap="flat" cmpd="sng" algn="ctr">
                      <a:solidFill>
                        <a:srgbClr val="4A3A28"/>
                      </a:solidFill>
                      <a:prstDash val="solid"/>
                      <a:round/>
                      <a:headEnd type="none" w="med" len="med"/>
                      <a:tailEnd type="none" w="med" len="med"/>
                    </a:lnB>
                    <a:solidFill>
                      <a:srgbClr val="241C14"/>
                    </a:solidFill>
                  </a:tcPr>
                </a:tc>
              </a:tr>
            </a:tbl>
          </a:graphicData>
        </a:graphic>
      </p:graphicFrame>
      <p:sp>
        <p:nvSpPr>
          <p:cNvPr id="6" name="Text 3"/>
          <p:cNvSpPr/>
          <p:nvPr/>
        </p:nvSpPr>
        <p:spPr>
          <a:xfrm>
            <a:off x="548640" y="6446520"/>
            <a:ext cx="5486400" cy="274320"/>
          </a:xfrm>
          <a:prstGeom prst="rect">
            <a:avLst/>
          </a:prstGeom>
          <a:noFill/>
          <a:ln/>
        </p:spPr>
        <p:txBody>
          <a:bodyPr wrap="square" rtlCol="0" anchor="ctr"/>
          <a:lstStyle/>
          <a:p>
            <a:pPr indent="0" marL="0">
              <a:buNone/>
            </a:pPr>
            <a:r>
              <a:rPr lang="en-US" sz="800" spc="200" kern="0" dirty="0">
                <a:solidFill>
                  <a:srgbClr val="D8CDB4"/>
                </a:solidFill>
                <a:latin typeface="Arial" pitchFamily="34" charset="0"/>
                <a:ea typeface="Arial" pitchFamily="34" charset="-122"/>
                <a:cs typeface="Arial" pitchFamily="34" charset="-120"/>
              </a:rPr>
              <a:t>THE GREAT WALL OF CHINA</a:t>
            </a:r>
            <a:endParaRPr lang="en-US" sz="800" dirty="0"/>
          </a:p>
        </p:txBody>
      </p:sp>
      <p:sp>
        <p:nvSpPr>
          <p:cNvPr id="7" name="Text 4"/>
          <p:cNvSpPr/>
          <p:nvPr/>
        </p:nvSpPr>
        <p:spPr>
          <a:xfrm>
            <a:off x="11155680" y="6446520"/>
            <a:ext cx="548640" cy="274320"/>
          </a:xfrm>
          <a:prstGeom prst="rect">
            <a:avLst/>
          </a:prstGeom>
          <a:noFill/>
          <a:ln/>
        </p:spPr>
        <p:txBody>
          <a:bodyPr wrap="square" rtlCol="0" anchor="ctr"/>
          <a:lstStyle/>
          <a:p>
            <a:pPr algn="r" indent="0" marL="0">
              <a:buNone/>
            </a:pPr>
            <a:r>
              <a:rPr lang="en-US" sz="900" dirty="0">
                <a:solidFill>
                  <a:srgbClr val="D4AF37"/>
                </a:solidFill>
                <a:latin typeface="Georgia" pitchFamily="34" charset="0"/>
                <a:ea typeface="Georgia" pitchFamily="34" charset="-122"/>
                <a:cs typeface="Georgia"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1410"/>
        </a:solidFill>
      </p:bgPr>
    </p:bg>
    <p:spTree>
      <p:nvGrpSpPr>
        <p:cNvPr id="1" name=""/>
        <p:cNvGrpSpPr/>
        <p:nvPr/>
      </p:nvGrpSpPr>
      <p:grpSpPr>
        <a:xfrm>
          <a:off x="0" y="0"/>
          <a:ext cx="0" cy="0"/>
          <a:chOff x="0" y="0"/>
          <a:chExt cx="0" cy="0"/>
        </a:xfrm>
      </p:grpSpPr>
      <p:sp>
        <p:nvSpPr>
          <p:cNvPr id="2" name="Text 0"/>
          <p:cNvSpPr/>
          <p:nvPr/>
        </p:nvSpPr>
        <p:spPr>
          <a:xfrm>
            <a:off x="548640" y="502920"/>
            <a:ext cx="10972800" cy="320040"/>
          </a:xfrm>
          <a:prstGeom prst="rect">
            <a:avLst/>
          </a:prstGeom>
          <a:noFill/>
          <a:ln/>
        </p:spPr>
        <p:txBody>
          <a:bodyPr wrap="square" rtlCol="0" anchor="ctr"/>
          <a:lstStyle/>
          <a:p>
            <a:pPr indent="0" marL="0">
              <a:buNone/>
            </a:pPr>
            <a:r>
              <a:rPr lang="en-US" sz="1200" b="1" spc="300" kern="0" dirty="0">
                <a:solidFill>
                  <a:srgbClr val="D4AF37"/>
                </a:solidFill>
                <a:latin typeface="Georgia" pitchFamily="34" charset="0"/>
                <a:ea typeface="Georgia" pitchFamily="34" charset="-122"/>
                <a:cs typeface="Georgia" pitchFamily="34" charset="-120"/>
              </a:rPr>
              <a:t>GALLERY</a:t>
            </a:r>
            <a:endParaRPr lang="en-US" sz="1200" dirty="0"/>
          </a:p>
        </p:txBody>
      </p:sp>
      <p:sp>
        <p:nvSpPr>
          <p:cNvPr id="3" name="Text 1"/>
          <p:cNvSpPr/>
          <p:nvPr/>
        </p:nvSpPr>
        <p:spPr>
          <a:xfrm>
            <a:off x="548640" y="868680"/>
            <a:ext cx="11064240" cy="822960"/>
          </a:xfrm>
          <a:prstGeom prst="rect">
            <a:avLst/>
          </a:prstGeom>
          <a:noFill/>
          <a:ln/>
        </p:spPr>
        <p:txBody>
          <a:bodyPr wrap="square" lIns="0" tIns="0" rIns="0" bIns="0" rtlCol="0" anchor="ctr"/>
          <a:lstStyle/>
          <a:p>
            <a:pPr indent="0" marL="0">
              <a:buNone/>
            </a:pPr>
            <a:r>
              <a:rPr lang="en-US" sz="3400" b="1" dirty="0">
                <a:solidFill>
                  <a:srgbClr val="F5EFE0"/>
                </a:solidFill>
                <a:latin typeface="Georgia" pitchFamily="34" charset="0"/>
                <a:ea typeface="Georgia" pitchFamily="34" charset="-122"/>
                <a:cs typeface="Georgia" pitchFamily="34" charset="-120"/>
              </a:rPr>
              <a:t>Faces of the Great Wall</a:t>
            </a:r>
            <a:endParaRPr lang="en-US" sz="3400" dirty="0"/>
          </a:p>
        </p:txBody>
      </p:sp>
      <p:sp>
        <p:nvSpPr>
          <p:cNvPr id="4" name="Shape 2"/>
          <p:cNvSpPr/>
          <p:nvPr/>
        </p:nvSpPr>
        <p:spPr>
          <a:xfrm>
            <a:off x="566928" y="1783080"/>
            <a:ext cx="1463040" cy="41148"/>
          </a:xfrm>
          <a:prstGeom prst="rect">
            <a:avLst/>
          </a:prstGeom>
          <a:solidFill>
            <a:srgbClr val="D4AF37"/>
          </a:solidFill>
          <a:ln/>
        </p:spPr>
      </p:sp>
      <p:pic>
        <p:nvPicPr>
          <p:cNvPr id="5" name="Image 0" descr="C:\Users\18367\Desktop\test\web-app-test\runtime\artifacts\chat_9a283d290d7d\document-assets\download-GreatWall_2004_Summer_1A.jpg">    </p:cNvPr>
          <p:cNvPicPr>
            <a:picLocks noChangeAspect="1"/>
          </p:cNvPicPr>
          <p:nvPr/>
        </p:nvPicPr>
        <p:blipFill>
          <a:blip r:embed="rId1"/>
          <a:srcRect l="0" r="0" t="0" b="0"/>
          <a:stretch/>
        </p:blipFill>
        <p:spPr>
          <a:xfrm>
            <a:off x="640080" y="2103120"/>
            <a:ext cx="3520440" cy="2057400"/>
          </a:xfrm>
          <a:prstGeom prst="rect">
            <a:avLst/>
          </a:prstGeom>
        </p:spPr>
      </p:pic>
      <p:sp>
        <p:nvSpPr>
          <p:cNvPr id="6" name="Shape 3"/>
          <p:cNvSpPr/>
          <p:nvPr/>
        </p:nvSpPr>
        <p:spPr>
          <a:xfrm>
            <a:off x="640080" y="2103120"/>
            <a:ext cx="3520440" cy="310896"/>
          </a:xfrm>
          <a:prstGeom prst="rect">
            <a:avLst/>
          </a:prstGeom>
          <a:solidFill>
            <a:srgbClr val="1A1410">
              <a:alpha val="75000"/>
            </a:srgbClr>
          </a:solidFill>
          <a:ln/>
        </p:spPr>
      </p:sp>
      <p:sp>
        <p:nvSpPr>
          <p:cNvPr id="7" name="Text 4"/>
          <p:cNvSpPr/>
          <p:nvPr/>
        </p:nvSpPr>
        <p:spPr>
          <a:xfrm>
            <a:off x="749808" y="3886200"/>
            <a:ext cx="3300984" cy="237744"/>
          </a:xfrm>
          <a:prstGeom prst="rect">
            <a:avLst/>
          </a:prstGeom>
          <a:noFill/>
          <a:ln/>
        </p:spPr>
        <p:txBody>
          <a:bodyPr wrap="square" lIns="0" tIns="0" rIns="0" bIns="0" rtlCol="0" anchor="ctr"/>
          <a:lstStyle/>
          <a:p>
            <a:pPr indent="0" marL="0">
              <a:buNone/>
            </a:pPr>
            <a:r>
              <a:rPr lang="en-US" sz="900" i="1" dirty="0">
                <a:solidFill>
                  <a:srgbClr val="F5EFE0"/>
                </a:solidFill>
                <a:latin typeface="Arial" pitchFamily="34" charset="0"/>
                <a:ea typeface="Arial" pitchFamily="34" charset="-122"/>
                <a:cs typeface="Arial" pitchFamily="34" charset="-120"/>
              </a:rPr>
              <a:t>Badaling — the most visited section</a:t>
            </a:r>
            <a:endParaRPr lang="en-US" sz="900" dirty="0"/>
          </a:p>
        </p:txBody>
      </p:sp>
      <p:pic>
        <p:nvPicPr>
          <p:cNvPr id="8" name="Image 1" descr="C:\Users\18367\Desktop\test\web-app-test\runtime\artifacts\chat_9a283d290d7d\document-assets\download-Great_Wall_at_Simatai_overlooking_gorge.jpg">    </p:cNvPr>
          <p:cNvPicPr>
            <a:picLocks noChangeAspect="1"/>
          </p:cNvPicPr>
          <p:nvPr/>
        </p:nvPicPr>
        <p:blipFill>
          <a:blip r:embed="rId2"/>
          <a:srcRect l="0" r="0" t="0" b="0"/>
          <a:stretch/>
        </p:blipFill>
        <p:spPr>
          <a:xfrm>
            <a:off x="4325112" y="2103120"/>
            <a:ext cx="3520440" cy="2057400"/>
          </a:xfrm>
          <a:prstGeom prst="rect">
            <a:avLst/>
          </a:prstGeom>
        </p:spPr>
      </p:pic>
      <p:sp>
        <p:nvSpPr>
          <p:cNvPr id="9" name="Shape 5"/>
          <p:cNvSpPr/>
          <p:nvPr/>
        </p:nvSpPr>
        <p:spPr>
          <a:xfrm>
            <a:off x="4325112" y="2103120"/>
            <a:ext cx="3520440" cy="310896"/>
          </a:xfrm>
          <a:prstGeom prst="rect">
            <a:avLst/>
          </a:prstGeom>
          <a:solidFill>
            <a:srgbClr val="1A1410">
              <a:alpha val="75000"/>
            </a:srgbClr>
          </a:solidFill>
          <a:ln/>
        </p:spPr>
      </p:sp>
      <p:sp>
        <p:nvSpPr>
          <p:cNvPr id="10" name="Text 6"/>
          <p:cNvSpPr/>
          <p:nvPr/>
        </p:nvSpPr>
        <p:spPr>
          <a:xfrm>
            <a:off x="4434840" y="3886200"/>
            <a:ext cx="3300984" cy="237744"/>
          </a:xfrm>
          <a:prstGeom prst="rect">
            <a:avLst/>
          </a:prstGeom>
          <a:noFill/>
          <a:ln/>
        </p:spPr>
        <p:txBody>
          <a:bodyPr wrap="square" lIns="0" tIns="0" rIns="0" bIns="0" rtlCol="0" anchor="ctr"/>
          <a:lstStyle/>
          <a:p>
            <a:pPr indent="0" marL="0">
              <a:buNone/>
            </a:pPr>
            <a:r>
              <a:rPr lang="en-US" sz="900" i="1" dirty="0">
                <a:solidFill>
                  <a:srgbClr val="F5EFE0"/>
                </a:solidFill>
                <a:latin typeface="Arial" pitchFamily="34" charset="0"/>
                <a:ea typeface="Arial" pitchFamily="34" charset="-122"/>
                <a:cs typeface="Arial" pitchFamily="34" charset="-120"/>
              </a:rPr>
              <a:t>Simatai — over the gorge</a:t>
            </a:r>
            <a:endParaRPr lang="en-US" sz="900" dirty="0"/>
          </a:p>
        </p:txBody>
      </p:sp>
      <p:pic>
        <p:nvPicPr>
          <p:cNvPr id="11" name="Image 2" descr="C:\Users\18367\Desktop\test\web-app-test\runtime\artifacts\chat_9a283d290d7d\document-assets\download-MutianyuGreatWallWildSection.JPG">    </p:cNvPr>
          <p:cNvPicPr>
            <a:picLocks noChangeAspect="1"/>
          </p:cNvPicPr>
          <p:nvPr/>
        </p:nvPicPr>
        <p:blipFill>
          <a:blip r:embed="rId3"/>
          <a:srcRect l="0" r="0" t="0" b="0"/>
          <a:stretch/>
        </p:blipFill>
        <p:spPr>
          <a:xfrm>
            <a:off x="8010144" y="2103120"/>
            <a:ext cx="3520440" cy="2057400"/>
          </a:xfrm>
          <a:prstGeom prst="rect">
            <a:avLst/>
          </a:prstGeom>
        </p:spPr>
      </p:pic>
      <p:sp>
        <p:nvSpPr>
          <p:cNvPr id="12" name="Shape 7"/>
          <p:cNvSpPr/>
          <p:nvPr/>
        </p:nvSpPr>
        <p:spPr>
          <a:xfrm>
            <a:off x="8010144" y="2103120"/>
            <a:ext cx="3520440" cy="310896"/>
          </a:xfrm>
          <a:prstGeom prst="rect">
            <a:avLst/>
          </a:prstGeom>
          <a:solidFill>
            <a:srgbClr val="1A1410">
              <a:alpha val="75000"/>
            </a:srgbClr>
          </a:solidFill>
          <a:ln/>
        </p:spPr>
      </p:sp>
      <p:sp>
        <p:nvSpPr>
          <p:cNvPr id="13" name="Text 8"/>
          <p:cNvSpPr/>
          <p:nvPr/>
        </p:nvSpPr>
        <p:spPr>
          <a:xfrm>
            <a:off x="8119872" y="3886200"/>
            <a:ext cx="3300984" cy="237744"/>
          </a:xfrm>
          <a:prstGeom prst="rect">
            <a:avLst/>
          </a:prstGeom>
          <a:noFill/>
          <a:ln/>
        </p:spPr>
        <p:txBody>
          <a:bodyPr wrap="square" lIns="0" tIns="0" rIns="0" bIns="0" rtlCol="0" anchor="ctr"/>
          <a:lstStyle/>
          <a:p>
            <a:pPr indent="0" marL="0">
              <a:buNone/>
            </a:pPr>
            <a:r>
              <a:rPr lang="en-US" sz="900" i="1" dirty="0">
                <a:solidFill>
                  <a:srgbClr val="F5EFE0"/>
                </a:solidFill>
                <a:latin typeface="Arial" pitchFamily="34" charset="0"/>
                <a:ea typeface="Arial" pitchFamily="34" charset="-122"/>
                <a:cs typeface="Arial" pitchFamily="34" charset="-120"/>
              </a:rPr>
              <a:t>Mutianyu — wild section</a:t>
            </a:r>
            <a:endParaRPr lang="en-US" sz="900" dirty="0"/>
          </a:p>
        </p:txBody>
      </p:sp>
      <p:pic>
        <p:nvPicPr>
          <p:cNvPr id="14" name="Image 3" descr="C:\Users\18367\Desktop\test\web-app-test\runtime\artifacts\chat_9a283d290d7d\document-assets\download-Great_wall_stops_in_see.jpg">    </p:cNvPr>
          <p:cNvPicPr>
            <a:picLocks noChangeAspect="1"/>
          </p:cNvPicPr>
          <p:nvPr/>
        </p:nvPicPr>
        <p:blipFill>
          <a:blip r:embed="rId4"/>
          <a:srcRect l="0" r="0" t="0" b="0"/>
          <a:stretch/>
        </p:blipFill>
        <p:spPr>
          <a:xfrm>
            <a:off x="640080" y="4325112"/>
            <a:ext cx="3520440" cy="2057400"/>
          </a:xfrm>
          <a:prstGeom prst="rect">
            <a:avLst/>
          </a:prstGeom>
        </p:spPr>
      </p:pic>
      <p:sp>
        <p:nvSpPr>
          <p:cNvPr id="15" name="Shape 9"/>
          <p:cNvSpPr/>
          <p:nvPr/>
        </p:nvSpPr>
        <p:spPr>
          <a:xfrm>
            <a:off x="640080" y="4325112"/>
            <a:ext cx="3520440" cy="310896"/>
          </a:xfrm>
          <a:prstGeom prst="rect">
            <a:avLst/>
          </a:prstGeom>
          <a:solidFill>
            <a:srgbClr val="1A1410">
              <a:alpha val="75000"/>
            </a:srgbClr>
          </a:solidFill>
          <a:ln/>
        </p:spPr>
      </p:sp>
      <p:sp>
        <p:nvSpPr>
          <p:cNvPr id="16" name="Text 10"/>
          <p:cNvSpPr/>
          <p:nvPr/>
        </p:nvSpPr>
        <p:spPr>
          <a:xfrm>
            <a:off x="749808" y="6108192"/>
            <a:ext cx="3300984" cy="237744"/>
          </a:xfrm>
          <a:prstGeom prst="rect">
            <a:avLst/>
          </a:prstGeom>
          <a:noFill/>
          <a:ln/>
        </p:spPr>
        <p:txBody>
          <a:bodyPr wrap="square" lIns="0" tIns="0" rIns="0" bIns="0" rtlCol="0" anchor="ctr"/>
          <a:lstStyle/>
          <a:p>
            <a:pPr indent="0" marL="0">
              <a:buNone/>
            </a:pPr>
            <a:r>
              <a:rPr lang="en-US" sz="900" i="1" dirty="0">
                <a:solidFill>
                  <a:srgbClr val="F5EFE0"/>
                </a:solidFill>
                <a:latin typeface="Arial" pitchFamily="34" charset="0"/>
                <a:ea typeface="Arial" pitchFamily="34" charset="-122"/>
                <a:cs typeface="Arial" pitchFamily="34" charset="-120"/>
              </a:rPr>
              <a:t>Old Dragon Head — meets the sea</a:t>
            </a:r>
            <a:endParaRPr lang="en-US" sz="900" dirty="0"/>
          </a:p>
        </p:txBody>
      </p:sp>
      <p:pic>
        <p:nvPicPr>
          <p:cNvPr id="17" name="Image 4" descr="C:\Users\18367\Desktop\test\web-app-test\runtime\artifacts\chat_9a283d290d7d\document-assets\download-Remains_of_Beacon_tower_near_Yumenguan._2011.jpg">    </p:cNvPr>
          <p:cNvPicPr>
            <a:picLocks noChangeAspect="1"/>
          </p:cNvPicPr>
          <p:nvPr/>
        </p:nvPicPr>
        <p:blipFill>
          <a:blip r:embed="rId5"/>
          <a:srcRect l="0" r="0" t="0" b="0"/>
          <a:stretch/>
        </p:blipFill>
        <p:spPr>
          <a:xfrm>
            <a:off x="4325112" y="4325112"/>
            <a:ext cx="3520440" cy="2057400"/>
          </a:xfrm>
          <a:prstGeom prst="rect">
            <a:avLst/>
          </a:prstGeom>
        </p:spPr>
      </p:pic>
      <p:sp>
        <p:nvSpPr>
          <p:cNvPr id="18" name="Shape 11"/>
          <p:cNvSpPr/>
          <p:nvPr/>
        </p:nvSpPr>
        <p:spPr>
          <a:xfrm>
            <a:off x="4325112" y="4325112"/>
            <a:ext cx="3520440" cy="310896"/>
          </a:xfrm>
          <a:prstGeom prst="rect">
            <a:avLst/>
          </a:prstGeom>
          <a:solidFill>
            <a:srgbClr val="1A1410">
              <a:alpha val="75000"/>
            </a:srgbClr>
          </a:solidFill>
          <a:ln/>
        </p:spPr>
      </p:sp>
      <p:sp>
        <p:nvSpPr>
          <p:cNvPr id="19" name="Text 12"/>
          <p:cNvSpPr/>
          <p:nvPr/>
        </p:nvSpPr>
        <p:spPr>
          <a:xfrm>
            <a:off x="4434840" y="6108192"/>
            <a:ext cx="3300984" cy="237744"/>
          </a:xfrm>
          <a:prstGeom prst="rect">
            <a:avLst/>
          </a:prstGeom>
          <a:noFill/>
          <a:ln/>
        </p:spPr>
        <p:txBody>
          <a:bodyPr wrap="square" lIns="0" tIns="0" rIns="0" bIns="0" rtlCol="0" anchor="ctr"/>
          <a:lstStyle/>
          <a:p>
            <a:pPr indent="0" marL="0">
              <a:buNone/>
            </a:pPr>
            <a:r>
              <a:rPr lang="en-US" sz="900" i="1" dirty="0">
                <a:solidFill>
                  <a:srgbClr val="F5EFE0"/>
                </a:solidFill>
                <a:latin typeface="Arial" pitchFamily="34" charset="0"/>
                <a:ea typeface="Arial" pitchFamily="34" charset="-122"/>
                <a:cs typeface="Arial" pitchFamily="34" charset="-120"/>
              </a:rPr>
              <a:t>Beacon tower near Yumenguan</a:t>
            </a:r>
            <a:endParaRPr lang="en-US" sz="900" dirty="0"/>
          </a:p>
        </p:txBody>
      </p:sp>
      <p:pic>
        <p:nvPicPr>
          <p:cNvPr id="20" name="Image 5" descr="C:\Users\18367\Desktop\test\web-app-test\runtime\artifacts\chat_9a283d290d7d\document-assets\download-Great_Wall_of_China_view_1.jpg">    </p:cNvPr>
          <p:cNvPicPr>
            <a:picLocks noChangeAspect="1"/>
          </p:cNvPicPr>
          <p:nvPr/>
        </p:nvPicPr>
        <p:blipFill>
          <a:blip r:embed="rId6"/>
          <a:srcRect l="0" r="0" t="0" b="0"/>
          <a:stretch/>
        </p:blipFill>
        <p:spPr>
          <a:xfrm>
            <a:off x="8010144" y="4325112"/>
            <a:ext cx="3520440" cy="2057400"/>
          </a:xfrm>
          <a:prstGeom prst="rect">
            <a:avLst/>
          </a:prstGeom>
        </p:spPr>
      </p:pic>
      <p:sp>
        <p:nvSpPr>
          <p:cNvPr id="21" name="Shape 13"/>
          <p:cNvSpPr/>
          <p:nvPr/>
        </p:nvSpPr>
        <p:spPr>
          <a:xfrm>
            <a:off x="8010144" y="4325112"/>
            <a:ext cx="3520440" cy="310896"/>
          </a:xfrm>
          <a:prstGeom prst="rect">
            <a:avLst/>
          </a:prstGeom>
          <a:solidFill>
            <a:srgbClr val="1A1410">
              <a:alpha val="75000"/>
            </a:srgbClr>
          </a:solidFill>
          <a:ln/>
        </p:spPr>
      </p:sp>
      <p:sp>
        <p:nvSpPr>
          <p:cNvPr id="22" name="Text 14"/>
          <p:cNvSpPr/>
          <p:nvPr/>
        </p:nvSpPr>
        <p:spPr>
          <a:xfrm>
            <a:off x="8119872" y="6108192"/>
            <a:ext cx="3300984" cy="237744"/>
          </a:xfrm>
          <a:prstGeom prst="rect">
            <a:avLst/>
          </a:prstGeom>
          <a:noFill/>
          <a:ln/>
        </p:spPr>
        <p:txBody>
          <a:bodyPr wrap="square" lIns="0" tIns="0" rIns="0" bIns="0" rtlCol="0" anchor="ctr"/>
          <a:lstStyle/>
          <a:p>
            <a:pPr indent="0" marL="0">
              <a:buNone/>
            </a:pPr>
            <a:r>
              <a:rPr lang="en-US" sz="900" i="1" dirty="0">
                <a:solidFill>
                  <a:srgbClr val="F5EFE0"/>
                </a:solidFill>
                <a:latin typeface="Arial" pitchFamily="34" charset="0"/>
                <a:ea typeface="Arial" pitchFamily="34" charset="-122"/>
                <a:cs typeface="Arial" pitchFamily="34" charset="-120"/>
              </a:rPr>
              <a:t>Badaling in winter</a:t>
            </a:r>
            <a:endParaRPr lang="en-US" sz="900" dirty="0"/>
          </a:p>
        </p:txBody>
      </p:sp>
      <p:sp>
        <p:nvSpPr>
          <p:cNvPr id="23" name="Text 15"/>
          <p:cNvSpPr/>
          <p:nvPr/>
        </p:nvSpPr>
        <p:spPr>
          <a:xfrm>
            <a:off x="548640" y="6446520"/>
            <a:ext cx="5486400" cy="274320"/>
          </a:xfrm>
          <a:prstGeom prst="rect">
            <a:avLst/>
          </a:prstGeom>
          <a:noFill/>
          <a:ln/>
        </p:spPr>
        <p:txBody>
          <a:bodyPr wrap="square" rtlCol="0" anchor="ctr"/>
          <a:lstStyle/>
          <a:p>
            <a:pPr indent="0" marL="0">
              <a:buNone/>
            </a:pPr>
            <a:r>
              <a:rPr lang="en-US" sz="800" spc="200" kern="0" dirty="0">
                <a:solidFill>
                  <a:srgbClr val="D8CDB4"/>
                </a:solidFill>
                <a:latin typeface="Arial" pitchFamily="34" charset="0"/>
                <a:ea typeface="Arial" pitchFamily="34" charset="-122"/>
                <a:cs typeface="Arial" pitchFamily="34" charset="-120"/>
              </a:rPr>
              <a:t>THE GREAT WALL OF CHINA</a:t>
            </a:r>
            <a:endParaRPr lang="en-US" sz="800" dirty="0"/>
          </a:p>
        </p:txBody>
      </p:sp>
      <p:sp>
        <p:nvSpPr>
          <p:cNvPr id="24" name="Text 16"/>
          <p:cNvSpPr/>
          <p:nvPr/>
        </p:nvSpPr>
        <p:spPr>
          <a:xfrm>
            <a:off x="11155680" y="6446520"/>
            <a:ext cx="548640" cy="274320"/>
          </a:xfrm>
          <a:prstGeom prst="rect">
            <a:avLst/>
          </a:prstGeom>
          <a:noFill/>
          <a:ln/>
        </p:spPr>
        <p:txBody>
          <a:bodyPr wrap="square" rtlCol="0" anchor="ctr"/>
          <a:lstStyle/>
          <a:p>
            <a:pPr algn="r" indent="0" marL="0">
              <a:buNone/>
            </a:pPr>
            <a:r>
              <a:rPr lang="en-US" sz="900" dirty="0">
                <a:solidFill>
                  <a:srgbClr val="D4AF37"/>
                </a:solidFill>
                <a:latin typeface="Georgia" pitchFamily="34" charset="0"/>
                <a:ea typeface="Georgia" pitchFamily="34" charset="-122"/>
                <a:cs typeface="Georgia"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C:\Users\18367\Desktop\test\web-app-test\runtime\artifacts\chat_9a283d290d7d\document-assets\download-Juyongguan_Great_Wall.jpg">    </p:cNvPr>
          <p:cNvPicPr>
            <a:picLocks noChangeAspect="1"/>
          </p:cNvPicPr>
          <p:nvPr/>
        </p:nvPicPr>
        <p:blipFill>
          <a:blip r:embed="rId1"/>
          <a:srcRect l="0" r="0" t="0" b="0"/>
          <a:stretch/>
        </p:blipFill>
        <p:spPr>
          <a:xfrm>
            <a:off x="0" y="0"/>
            <a:ext cx="12188952" cy="6858000"/>
          </a:xfrm>
          <a:prstGeom prst="rect">
            <a:avLst/>
          </a:prstGeom>
        </p:spPr>
      </p:pic>
      <p:sp>
        <p:nvSpPr>
          <p:cNvPr id="3" name="Shape 0"/>
          <p:cNvSpPr/>
          <p:nvPr/>
        </p:nvSpPr>
        <p:spPr>
          <a:xfrm>
            <a:off x="0" y="0"/>
            <a:ext cx="12188952" cy="6858000"/>
          </a:xfrm>
          <a:prstGeom prst="rect">
            <a:avLst/>
          </a:prstGeom>
          <a:solidFill>
            <a:srgbClr val="1A1410">
              <a:alpha val="55000"/>
            </a:srgbClr>
          </a:solidFill>
          <a:ln w="12700">
            <a:solidFill>
              <a:srgbClr val="FFFFFF">
                <a:alpha val="0"/>
              </a:srgbClr>
            </a:solidFill>
            <a:prstDash val="solid"/>
          </a:ln>
        </p:spPr>
      </p:sp>
      <p:sp>
        <p:nvSpPr>
          <p:cNvPr id="4" name="Shape 1"/>
          <p:cNvSpPr/>
          <p:nvPr/>
        </p:nvSpPr>
        <p:spPr>
          <a:xfrm>
            <a:off x="0" y="0"/>
            <a:ext cx="164592" cy="6858000"/>
          </a:xfrm>
          <a:prstGeom prst="rect">
            <a:avLst/>
          </a:prstGeom>
          <a:solidFill>
            <a:srgbClr val="D4AF37"/>
          </a:solidFill>
          <a:ln/>
        </p:spPr>
      </p:sp>
      <p:sp>
        <p:nvSpPr>
          <p:cNvPr id="5" name="Text 2"/>
          <p:cNvSpPr/>
          <p:nvPr/>
        </p:nvSpPr>
        <p:spPr>
          <a:xfrm>
            <a:off x="1097280" y="2103120"/>
            <a:ext cx="9966960" cy="1280160"/>
          </a:xfrm>
          <a:prstGeom prst="rect">
            <a:avLst/>
          </a:prstGeom>
          <a:noFill/>
          <a:ln/>
        </p:spPr>
        <p:txBody>
          <a:bodyPr wrap="square" rtlCol="0" anchor="ctr"/>
          <a:lstStyle/>
          <a:p>
            <a:pPr algn="ctr" indent="0" marL="0">
              <a:buNone/>
            </a:pPr>
            <a:r>
              <a:rPr lang="en-US" sz="2600" i="1" dirty="0">
                <a:solidFill>
                  <a:srgbClr val="F5EFE0"/>
                </a:solidFill>
                <a:latin typeface="Georgia" pitchFamily="34" charset="0"/>
                <a:ea typeface="Georgia" pitchFamily="34" charset="-122"/>
                <a:cs typeface="Georgia" pitchFamily="34" charset="-120"/>
              </a:rPr>
              <a:t>“The Great Wall is one of the most impressive architectural feats in history.”</a:t>
            </a:r>
            <a:endParaRPr lang="en-US" sz="2600" dirty="0"/>
          </a:p>
        </p:txBody>
      </p:sp>
      <p:sp>
        <p:nvSpPr>
          <p:cNvPr id="6" name="Text 3"/>
          <p:cNvSpPr/>
          <p:nvPr/>
        </p:nvSpPr>
        <p:spPr>
          <a:xfrm>
            <a:off x="1097280" y="3383280"/>
            <a:ext cx="9966960" cy="457200"/>
          </a:xfrm>
          <a:prstGeom prst="rect">
            <a:avLst/>
          </a:prstGeom>
          <a:noFill/>
          <a:ln/>
        </p:spPr>
        <p:txBody>
          <a:bodyPr wrap="square" rtlCol="0" anchor="ctr"/>
          <a:lstStyle/>
          <a:p>
            <a:pPr algn="ctr" indent="0" marL="0">
              <a:buNone/>
            </a:pPr>
            <a:r>
              <a:rPr lang="en-US" sz="1400" dirty="0">
                <a:solidFill>
                  <a:srgbClr val="E8C96A"/>
                </a:solidFill>
                <a:latin typeface="Arial" pitchFamily="34" charset="0"/>
                <a:ea typeface="Arial" pitchFamily="34" charset="-122"/>
                <a:cs typeface="Arial" pitchFamily="34" charset="-120"/>
              </a:rPr>
              <a:t>— UNESCO World Heritage Centre</a:t>
            </a:r>
            <a:endParaRPr lang="en-US" sz="1400" dirty="0"/>
          </a:p>
        </p:txBody>
      </p:sp>
      <p:sp>
        <p:nvSpPr>
          <p:cNvPr id="7" name="Shape 4"/>
          <p:cNvSpPr/>
          <p:nvPr/>
        </p:nvSpPr>
        <p:spPr>
          <a:xfrm>
            <a:off x="5394960" y="4114800"/>
            <a:ext cx="1371600" cy="45720"/>
          </a:xfrm>
          <a:prstGeom prst="rect">
            <a:avLst/>
          </a:prstGeom>
          <a:solidFill>
            <a:srgbClr val="D4AF37"/>
          </a:solidFill>
          <a:ln/>
        </p:spPr>
      </p:sp>
      <p:sp>
        <p:nvSpPr>
          <p:cNvPr id="8" name="Text 5"/>
          <p:cNvSpPr/>
          <p:nvPr/>
        </p:nvSpPr>
        <p:spPr>
          <a:xfrm>
            <a:off x="1097280" y="4480560"/>
            <a:ext cx="9966960" cy="822960"/>
          </a:xfrm>
          <a:prstGeom prst="rect">
            <a:avLst/>
          </a:prstGeom>
          <a:noFill/>
          <a:ln/>
        </p:spPr>
        <p:txBody>
          <a:bodyPr wrap="square" rtlCol="0" anchor="ctr"/>
          <a:lstStyle/>
          <a:p>
            <a:pPr algn="ctr" indent="0" marL="0">
              <a:buNone/>
            </a:pPr>
            <a:r>
              <a:rPr lang="en-US" sz="4000" b="1" dirty="0">
                <a:solidFill>
                  <a:srgbClr val="F5EFE0"/>
                </a:solidFill>
                <a:latin typeface="Georgia" pitchFamily="34" charset="0"/>
                <a:ea typeface="Georgia" pitchFamily="34" charset="-122"/>
                <a:cs typeface="Georgia" pitchFamily="34" charset="-120"/>
              </a:rPr>
              <a:t>Thank You</a:t>
            </a:r>
            <a:endParaRPr lang="en-US" sz="4000" dirty="0"/>
          </a:p>
        </p:txBody>
      </p:sp>
      <p:sp>
        <p:nvSpPr>
          <p:cNvPr id="9" name="Text 6"/>
          <p:cNvSpPr/>
          <p:nvPr/>
        </p:nvSpPr>
        <p:spPr>
          <a:xfrm>
            <a:off x="1097280" y="6035040"/>
            <a:ext cx="9966960" cy="365760"/>
          </a:xfrm>
          <a:prstGeom prst="rect">
            <a:avLst/>
          </a:prstGeom>
          <a:noFill/>
          <a:ln/>
        </p:spPr>
        <p:txBody>
          <a:bodyPr wrap="square" rtlCol="0" anchor="ctr"/>
          <a:lstStyle/>
          <a:p>
            <a:pPr algn="ctr" indent="0" marL="0">
              <a:buNone/>
            </a:pPr>
            <a:r>
              <a:rPr lang="en-US" sz="1000" dirty="0">
                <a:solidFill>
                  <a:srgbClr val="D8CDB4"/>
                </a:solidFill>
                <a:latin typeface="Arial" pitchFamily="34" charset="0"/>
                <a:ea typeface="Arial" pitchFamily="34" charset="-122"/>
                <a:cs typeface="Arial" pitchFamily="34" charset="-120"/>
              </a:rPr>
              <a:t>Content extracted from Wikipedia · Images © their respective authors (Wikimedia Commons)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Wikipedia Research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Great Wall of China</dc:title>
  <dc:subject>A UNESCO World Heritage Journey</dc:subject>
  <dc:creator>WebPilot</dc:creator>
  <cp:lastModifiedBy>WebPilot</cp:lastModifiedBy>
  <cp:revision>1</cp:revision>
  <dcterms:created xsi:type="dcterms:W3CDTF">2026-08-23T13:23:45Z</dcterms:created>
  <dcterms:modified xsi:type="dcterms:W3CDTF">2026-08-23T13:23:45Z</dcterms:modified>
</cp:coreProperties>
</file>