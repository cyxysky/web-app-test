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0"/>
            <a:ext cx="54864" cy="6858000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4" name="Image 0" descr="C:\Users\18367\Desktop\test\web-app-test\runtime\artifacts\chat_cd13c4a14938\document-assets\download-pyramids_giz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21424" y="0"/>
            <a:ext cx="5370271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21424" y="0"/>
            <a:ext cx="5370271" cy="6858000"/>
          </a:xfrm>
          <a:prstGeom prst="rect">
            <a:avLst/>
          </a:prstGeom>
          <a:solidFill>
            <a:srgbClr val="0F2238">
              <a:alpha val="3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821424" y="0"/>
            <a:ext cx="5370271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8" name="Image 1" descr="C:\Users\18367\Desktop\test\web-app-test\runtime\artifacts\chat_cd13c4a14938\document-assets\download-pyramids_giz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93408"/>
            <a:ext cx="6583680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12344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3000-YEAR JOURNEY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15087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c.3100 BCE — 30 BCE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18745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Ancient</a:t>
            </a:r>
            <a:endParaRPr lang="en-US" sz="8600" dirty="0"/>
          </a:p>
        </p:txBody>
      </p:sp>
      <p:sp>
        <p:nvSpPr>
          <p:cNvPr id="13" name="Text 9"/>
          <p:cNvSpPr/>
          <p:nvPr/>
        </p:nvSpPr>
        <p:spPr>
          <a:xfrm>
            <a:off x="640080" y="29718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Egypt</a:t>
            </a:r>
            <a:endParaRPr lang="en-US" sz="8600" dirty="0"/>
          </a:p>
        </p:txBody>
      </p:sp>
      <p:sp>
        <p:nvSpPr>
          <p:cNvPr id="14" name="Text 10"/>
          <p:cNvSpPr/>
          <p:nvPr/>
        </p:nvSpPr>
        <p:spPr>
          <a:xfrm>
            <a:off x="640080" y="42062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Civilization</a:t>
            </a:r>
            <a:endParaRPr lang="en-US" sz="3600" dirty="0"/>
          </a:p>
        </p:txBody>
      </p:sp>
      <p:sp>
        <p:nvSpPr>
          <p:cNvPr id="15" name="Shape 11"/>
          <p:cNvSpPr/>
          <p:nvPr/>
        </p:nvSpPr>
        <p:spPr>
          <a:xfrm>
            <a:off x="640080" y="4892040"/>
            <a:ext cx="9144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" y="5029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尼罗河畔的永恒文明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0080" y="54132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7C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神祇、王权与不朽艺术 · 一份世界古文明巡礼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0080" y="6217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EDITIONS · 2026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200400" y="6217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STUDIO · CHAPTER 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·  6 个章节 · 15 张幻灯片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 AGENDA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1417320"/>
            <a:ext cx="35204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417320"/>
            <a:ext cx="164592" cy="18745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5819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0584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of the Nile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5146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尼罗河的赠礼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7157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地理、人口与文明的摇篮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1417320"/>
            <a:ext cx="35204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1417320"/>
            <a:ext cx="164592" cy="18745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5819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75488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 &amp; Unification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25146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起源与统一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27157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前王朝与第一王朝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83880" y="1417320"/>
            <a:ext cx="35204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417320"/>
            <a:ext cx="164592" cy="18745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15819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50392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Old Kingdom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03920" y="25146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古王国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03920" y="27157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金字塔时代 · c.2686–2181 BCE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3520440"/>
            <a:ext cx="35204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3520440"/>
            <a:ext cx="164592" cy="18745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36850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1005840" y="4206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Middle Kingdom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05840" y="46177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中王国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48188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文艺复兴 · c.2055–1650 BCE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34840" y="3520440"/>
            <a:ext cx="35204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34840" y="3520440"/>
            <a:ext cx="164592" cy="18745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6850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4754880" y="4206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Kingdom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754880" y="46177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新王国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54880" y="48188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帝国盛世 · c.1550–1069 BCE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83880" y="3520440"/>
            <a:ext cx="35204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83880" y="3520440"/>
            <a:ext cx="164592" cy="18745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36850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8503920" y="4206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 &amp; Heritage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503920" y="46177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晚期与遗产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503920" y="48188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希腊罗马 · 解读 · 影响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22960" y="5852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Nile rises and falls, the seasons turn, but Egypt endures.”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 · 地理与文明摇篮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尼罗河的赠礼   LAND OF THE NILE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1426464"/>
            <a:ext cx="3913632" cy="4882896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14" name="Image 0" descr="C:\Users\18367\Desktop\test\web-app-test\runtime\artifacts\chat_cd13c4a14938\document-assets\download-egypt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3840480" cy="4800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1463040"/>
            <a:ext cx="128016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463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46320" y="1463040"/>
            <a:ext cx="6675120" cy="109728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8" name="Shape 15"/>
          <p:cNvSpPr/>
          <p:nvPr/>
        </p:nvSpPr>
        <p:spPr>
          <a:xfrm>
            <a:off x="4846320" y="1463040"/>
            <a:ext cx="164592" cy="10972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1508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约 7,000 公里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5120640" y="1965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尼罗河是世界第一长河，每年泛滥留下黑色沃土，孕育了上下埃及的统一。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46320" y="2743200"/>
            <a:ext cx="320040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46320" y="2743200"/>
            <a:ext cx="73152" cy="7132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0" y="27980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~300 万 km²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02920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古埃及疆域峰值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183880" y="2743200"/>
            <a:ext cx="320040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83880" y="2743200"/>
            <a:ext cx="73152" cy="7132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Text 24"/>
          <p:cNvSpPr/>
          <p:nvPr/>
        </p:nvSpPr>
        <p:spPr>
          <a:xfrm>
            <a:off x="8366760" y="27980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~95%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36676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国土为沙漠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46320" y="3520440"/>
            <a:ext cx="320040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46320" y="3520440"/>
            <a:ext cx="73152" cy="7132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0" y="35753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 亿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02920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托勒密时期人口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183880" y="3520440"/>
            <a:ext cx="320040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83880" y="3520440"/>
            <a:ext cx="73152" cy="7132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5" name="Text 32"/>
          <p:cNvSpPr/>
          <p:nvPr/>
        </p:nvSpPr>
        <p:spPr>
          <a:xfrm>
            <a:off x="8366760" y="35753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3,000+ 年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36676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法老王朝延续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846320" y="4343400"/>
            <a:ext cx="6675120" cy="192024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 Y   I N S I G H T 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029200" y="47548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上下埃及：尼罗河谷南为上埃及（狭窄河谷），北为下埃及（三角洲）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三大资源：纸草、亚麻、石材与黄金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象形文字约 3,000 年前成熟，影响后世字母体系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 · 前王朝与第一王朝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起源与统一   ORIGIN &amp; UNIFICATION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1426464"/>
            <a:ext cx="4187952" cy="2816352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14" name="Image 0" descr="C:\Users\18367\Desktop\test\web-app-test\runtime\artifacts\chat_cd13c4a14938\document-assets\download-predynastic_coll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4114800" cy="2743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1463040"/>
            <a:ext cx="155448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PREDYNASTIC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4251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前王朝陶器与小型雕像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92624" y="1426464"/>
            <a:ext cx="4187952" cy="2816352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19" name="Image 1" descr="C:\Users\18367\Desktop\test\web-app-test\runtime\artifacts\chat_cd13c4a14938\document-assets\download-narmer_palett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1463040"/>
            <a:ext cx="4114800" cy="27432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29200" y="1463040"/>
            <a:ext cx="192024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21" name="Text 17"/>
          <p:cNvSpPr/>
          <p:nvPr/>
        </p:nvSpPr>
        <p:spPr>
          <a:xfrm>
            <a:off x="502920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NARMER · c.3100 BCE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029200" y="4251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纳尔迈调色板 — 上、下埃及统一的象征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0080" y="4846320"/>
            <a:ext cx="10908792" cy="141732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960" y="4937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文明发展的关键节点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967344" y="5440680"/>
            <a:ext cx="1527231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Shape 22"/>
          <p:cNvSpPr/>
          <p:nvPr/>
        </p:nvSpPr>
        <p:spPr>
          <a:xfrm>
            <a:off x="1621871" y="539496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Text 23"/>
          <p:cNvSpPr/>
          <p:nvPr/>
        </p:nvSpPr>
        <p:spPr>
          <a:xfrm>
            <a:off x="640080" y="5623560"/>
            <a:ext cx="2181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5500 BCE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40080" y="5897880"/>
            <a:ext cx="2181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涅伽达文化萌芽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149102" y="5440680"/>
            <a:ext cx="1527231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Shape 26"/>
          <p:cNvSpPr/>
          <p:nvPr/>
        </p:nvSpPr>
        <p:spPr>
          <a:xfrm>
            <a:off x="3803630" y="539496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Text 27"/>
          <p:cNvSpPr/>
          <p:nvPr/>
        </p:nvSpPr>
        <p:spPr>
          <a:xfrm>
            <a:off x="2821838" y="5623560"/>
            <a:ext cx="2181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4000 BCE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2821838" y="5897880"/>
            <a:ext cx="2181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象形符号出现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5330861" y="5440680"/>
            <a:ext cx="1527231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Shape 30"/>
          <p:cNvSpPr/>
          <p:nvPr/>
        </p:nvSpPr>
        <p:spPr>
          <a:xfrm>
            <a:off x="5985388" y="539496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Text 31"/>
          <p:cNvSpPr/>
          <p:nvPr/>
        </p:nvSpPr>
        <p:spPr>
          <a:xfrm>
            <a:off x="5003597" y="5623560"/>
            <a:ext cx="2181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3400 BCE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003597" y="5897880"/>
            <a:ext cx="2181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蝎子王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7512619" y="5440680"/>
            <a:ext cx="1527231" cy="36576"/>
          </a:xfrm>
          <a:prstGeom prst="rect">
            <a:avLst/>
          </a:prstGeom>
          <a:solidFill>
            <a:srgbClr val="A6432F"/>
          </a:solidFill>
          <a:ln/>
        </p:spPr>
      </p:sp>
      <p:sp>
        <p:nvSpPr>
          <p:cNvPr id="38" name="Shape 34"/>
          <p:cNvSpPr/>
          <p:nvPr/>
        </p:nvSpPr>
        <p:spPr>
          <a:xfrm>
            <a:off x="8167146" y="5394960"/>
            <a:ext cx="128016" cy="128016"/>
          </a:xfrm>
          <a:prstGeom prst="ellipse">
            <a:avLst/>
          </a:prstGeom>
          <a:solidFill>
            <a:srgbClr val="A6432F"/>
          </a:solidFill>
          <a:ln/>
        </p:spPr>
      </p:sp>
      <p:sp>
        <p:nvSpPr>
          <p:cNvPr id="39" name="Text 35"/>
          <p:cNvSpPr/>
          <p:nvPr/>
        </p:nvSpPr>
        <p:spPr>
          <a:xfrm>
            <a:off x="7185355" y="5623560"/>
            <a:ext cx="2181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3100 BCE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7185355" y="5897880"/>
            <a:ext cx="2181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纳尔迈统一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9694377" y="5440680"/>
            <a:ext cx="1527231" cy="36576"/>
          </a:xfrm>
          <a:prstGeom prst="rect">
            <a:avLst/>
          </a:prstGeom>
          <a:solidFill>
            <a:srgbClr val="A6432F"/>
          </a:solidFill>
          <a:ln/>
        </p:spPr>
      </p:sp>
      <p:sp>
        <p:nvSpPr>
          <p:cNvPr id="42" name="Shape 38"/>
          <p:cNvSpPr/>
          <p:nvPr/>
        </p:nvSpPr>
        <p:spPr>
          <a:xfrm>
            <a:off x="10348905" y="5394960"/>
            <a:ext cx="128016" cy="128016"/>
          </a:xfrm>
          <a:prstGeom prst="ellipse">
            <a:avLst/>
          </a:prstGeom>
          <a:solidFill>
            <a:srgbClr val="A6432F"/>
          </a:solidFill>
          <a:ln/>
        </p:spPr>
      </p:sp>
      <p:sp>
        <p:nvSpPr>
          <p:cNvPr id="43" name="Text 39"/>
          <p:cNvSpPr/>
          <p:nvPr/>
        </p:nvSpPr>
        <p:spPr>
          <a:xfrm>
            <a:off x="9367114" y="5623560"/>
            <a:ext cx="2181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3000 BCE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9367114" y="5897880"/>
            <a:ext cx="2181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第一王朝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· c.2686 – 2181 BCE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古王国 · 金字塔时代   OLD KINGDOM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1426464"/>
            <a:ext cx="6931152" cy="4005072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14" name="Image 0" descr="C:\Users\18367\Desktop\test\web-app-test\runtime\artifacts\chat_cd13c4a14938\document-assets\download-pyramids_giz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6858000" cy="39319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1463040"/>
            <a:ext cx="128016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463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GIZA · c.2560 BCE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5440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吉萨三大金字塔 —— 左至右：门卡乌拉、卡夫拉、胡夫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80960" y="1463040"/>
            <a:ext cx="384048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0" y="1463040"/>
            <a:ext cx="91440" cy="8686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0" y="1517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胡夫金字塔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6384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Khufu   ·   146.6 m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6384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230 万块巨石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680960" y="2423160"/>
            <a:ext cx="384048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80960" y="2423160"/>
            <a:ext cx="91440" cy="8686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2"/>
          <p:cNvSpPr/>
          <p:nvPr/>
        </p:nvSpPr>
        <p:spPr>
          <a:xfrm>
            <a:off x="7863840" y="24780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卡夫拉金字塔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86384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Khafre   ·   143.5 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86384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顶部保留石灰岩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680960" y="3383280"/>
            <a:ext cx="384048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80960" y="3383280"/>
            <a:ext cx="91440" cy="8686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0" name="Text 27"/>
          <p:cNvSpPr/>
          <p:nvPr/>
        </p:nvSpPr>
        <p:spPr>
          <a:xfrm>
            <a:off x="7863840" y="34381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门卡乌拉金字塔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863840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Menkaure   ·   65.5 m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863840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覆面花岗岩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680960" y="4434840"/>
            <a:ext cx="3840480" cy="19202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34" name="Text 31"/>
          <p:cNvSpPr/>
          <p:nvPr/>
        </p:nvSpPr>
        <p:spPr>
          <a:xfrm>
            <a:off x="7818120" y="4572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“为来世建造永恒之所”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818120" y="50292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法老被视为神在人间的代理，金字塔既是陵墓，也是连接天地的阶梯。古王国因此被称为「金字塔时代」。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· 守护与神性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永恒的守护者   THE GREAT SPHINX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1426464"/>
            <a:ext cx="6473952" cy="4645152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14" name="Image 0" descr="C:\Users\18367\Desktop\test\web-app-test\runtime\artifacts\chat_cd13c4a14938\document-assets\download-sphinx_pyrami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6400800" cy="4572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1463040"/>
            <a:ext cx="164592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GIZA PLATEAU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60807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狮身人面像 —— 卡夫拉法老陵寝的守护神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23760" y="1463040"/>
            <a:ext cx="4297680" cy="182880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9" name="Text 16"/>
          <p:cNvSpPr/>
          <p:nvPr/>
        </p:nvSpPr>
        <p:spPr>
          <a:xfrm>
            <a:off x="736092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狮身人面像 · SPHINX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360920" y="192024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8"/>
          <p:cNvSpPr/>
          <p:nvPr/>
        </p:nvSpPr>
        <p:spPr>
          <a:xfrm>
            <a:off x="7360920" y="20574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长 73 米，高 20 米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整块石灰岩雕凿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通常被认为建于卡夫拉时期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人面象征法老，狮身象征力量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23760" y="3429000"/>
            <a:ext cx="4297680" cy="260604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60920" y="3566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6092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神话中的守护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360920" y="420624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狮身人面像象征「地平线上的荷鲁斯」，每日凝视日出，守护陵墓与王权。如今已伫立四千余年，是世界上最古老的大型雕塑。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c.2055 – 1650 BCE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中王国 · 文艺复兴   MIDDLE KINGDOM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1463040"/>
            <a:ext cx="10908792" cy="7772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1463040"/>
            <a:ext cx="16459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从分裂到再统一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中王国以底比斯为都，文学、艺术与灌溉工程再度繁盛。地方总督权力受限，王权重新巩固。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" y="2386584"/>
            <a:ext cx="5376672" cy="2679192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18" name="Image 0" descr="C:\Users\18367\Desktop\test\web-app-test\runtime\artifacts\chat_cd13c4a14938\document-assets\download-tomb_nebamu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423160"/>
            <a:ext cx="5303520" cy="26060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0080" y="2423160"/>
            <a:ext cx="219456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 OF NEBAMUN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0080" y="50749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内巴蒙墓室壁画 —— 埃及绘画艺术的杰作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89904" y="2386584"/>
            <a:ext cx="5513832" cy="2679192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23" name="Image 1" descr="C:\Users\18367\Desktop\test\web-app-test\runtime\artifacts\chat_cd13c4a14938\document-assets\download-menna_huntin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2423160"/>
            <a:ext cx="5440680" cy="26060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126480" y="2423160"/>
            <a:ext cx="182880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25" name="Text 21"/>
          <p:cNvSpPr/>
          <p:nvPr/>
        </p:nvSpPr>
        <p:spPr>
          <a:xfrm>
            <a:off x="612648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MENNA · FOWLING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126480" y="507492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门纳狩猎图 —— 贵族日常生活的写照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0080" y="5532120"/>
            <a:ext cx="352044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0080" y="553212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9" name="Text 25"/>
          <p:cNvSpPr/>
          <p:nvPr/>
        </p:nvSpPr>
        <p:spPr>
          <a:xfrm>
            <a:off x="822960" y="56052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《亡灵书》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822960" y="59070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咒语与符咒集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297680" y="5532120"/>
            <a:ext cx="352044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297680" y="553212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3" name="Text 29"/>
          <p:cNvSpPr/>
          <p:nvPr/>
        </p:nvSpPr>
        <p:spPr>
          <a:xfrm>
            <a:off x="4480560" y="56052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故事文学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480560" y="59070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《辛努赫》《遇难水手》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7955280" y="5532120"/>
            <a:ext cx="352044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955280" y="553212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7" name="Text 33"/>
          <p:cNvSpPr/>
          <p:nvPr/>
        </p:nvSpPr>
        <p:spPr>
          <a:xfrm>
            <a:off x="8138160" y="56052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灌溉工程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8138160" y="59070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法尤姆水利综合开发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 · c.1550 – 1069 BCE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新王国 · 帝国盛世   NEW KINGDOM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1426464"/>
            <a:ext cx="7388352" cy="3273552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14" name="Image 0" descr="C:\Users\18367\Desktop\test\web-app-test\runtime\artifacts\chat_cd13c4a14938\document-assets\download-luxor_temp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7315200" cy="32004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1463040"/>
            <a:ext cx="173736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LUXOR TEMPLE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4709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卢克索神庙 —— 阿蒙霍特普三世与拉美西斯二世的圣地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138160" y="1463040"/>
            <a:ext cx="3429000" cy="141732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9" name="Text 16"/>
          <p:cNvSpPr/>
          <p:nvPr/>
        </p:nvSpPr>
        <p:spPr>
          <a:xfrm>
            <a:off x="8275320" y="1554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帝国疆域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75320" y="1874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从幼发拉底河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到尼罗河第四瀑布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7532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新王国鼎盛期，埃及成为横跨亚非的军事帝国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138160" y="3017520"/>
            <a:ext cx="3429000" cy="164592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RULERS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7532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图特摩斯三世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646920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军事天才，帝国奠基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75320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哈特谢普苏特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646920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女法老，繁荣贸易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275320" y="3968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阿蒙霍特普三世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646920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鼎盛期的太阳王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27532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拉美西斯二世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646920" y="4261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卡迭石与帝国象征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03504" y="5038344"/>
            <a:ext cx="10945368" cy="1225296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33" name="Image 1" descr="C:\Users\18367\Desktop\test\web-app-test\runtime\artifacts\chat_cd13c4a14938\document-assets\download-ramesses_nubian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5074920"/>
            <a:ext cx="10908792" cy="11887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40080" y="63093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拉美西斯二世征服努比亚 —— 新王国对外扩张的缩影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 · c.1332 – 1323 BCE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图坦卡蒙 · 少年法老   TUTANKHAMUN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1426464"/>
            <a:ext cx="4187952" cy="4645152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14" name="Image 0" descr="C:\Users\18367\Desktop\test\web-app-test\runtime\artifacts\chat_cd13c4a14938\document-assets\download-tutankhamun_ma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4114800" cy="4572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1463040"/>
            <a:ext cx="137160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MASK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6080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图坦卡蒙黄金面具 —— 18 王朝最著名的文物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1463040"/>
            <a:ext cx="6629400" cy="118872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9" name="Shape 16"/>
          <p:cNvSpPr/>
          <p:nvPr/>
        </p:nvSpPr>
        <p:spPr>
          <a:xfrm>
            <a:off x="4937760" y="1463040"/>
            <a:ext cx="164592" cy="1188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0" name="Text 17"/>
          <p:cNvSpPr/>
          <p:nvPr/>
        </p:nvSpPr>
        <p:spPr>
          <a:xfrm>
            <a:off x="5212080" y="1554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岁登基 · 19 岁早逝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212080" y="19659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陵墓于 1922 年由霍华德·卡特发现，几乎完整保存，是考古史的里程碑。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37760" y="2743200"/>
            <a:ext cx="6629400" cy="173736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74920" y="2834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&amp; DISCOVERY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74920" y="31089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推翻阿肯那顿的宗教改革，复兴阿蒙神崇拜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少年早逝留下未解谜团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1922 年 11 月 4 日，KV62 陵墓重见天日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出土文物逾 5,000 件，揭示新王国宫廷艺术巅峰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937760" y="4572000"/>
            <a:ext cx="6629400" cy="169164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7492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TREASURES OF THE TOMB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74920" y="5029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黄金棺椁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74920" y="54132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三层人形棺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074920" y="493776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0" name="Text 27"/>
          <p:cNvSpPr/>
          <p:nvPr/>
        </p:nvSpPr>
        <p:spPr>
          <a:xfrm>
            <a:off x="6702552" y="5029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王座与珠宝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702552" y="54132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镶嵌宝石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702552" y="493776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3" name="Text 30"/>
          <p:cNvSpPr/>
          <p:nvPr/>
        </p:nvSpPr>
        <p:spPr>
          <a:xfrm>
            <a:off x="8330184" y="5029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战车与弓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330184" y="54132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军事装备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330184" y="493776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6" name="Text 33"/>
          <p:cNvSpPr/>
          <p:nvPr/>
        </p:nvSpPr>
        <p:spPr>
          <a:xfrm>
            <a:off x="9957816" y="5029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陪葬俑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957816" y="54132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乌斯哈布提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9957816" y="493776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9" name="Text 36"/>
          <p:cNvSpPr/>
          <p:nvPr/>
        </p:nvSpPr>
        <p:spPr>
          <a:xfrm>
            <a:off x="5074920" y="5852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黄金面具、棺椁、战车、随葬俑，构成完整的「来世」装备。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 · c.1479 – 1458 BCE 在位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哈特谢普苏特 · 女法老   HATSHEPSUT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1426464"/>
            <a:ext cx="4187952" cy="4279392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14" name="Image 0" descr="C:\Users\18367\Desktop\test\web-app-test\runtime\artifacts\chat_cd13c4a14938\document-assets\download-hatshepsut_hea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4114800" cy="42062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1463040"/>
            <a:ext cx="155448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STATUE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5715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哈特谢普苏特雕像 —— 以男性法老形象示人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1463040"/>
            <a:ext cx="6629400" cy="137160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9" name="Text 16"/>
          <p:cNvSpPr/>
          <p:nvPr/>
        </p:nvSpPr>
        <p:spPr>
          <a:xfrm>
            <a:off x="507492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埃及史上最杰出的女法老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74920" y="2011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在位约 22 年，推行和平外交，派船队远航蓬特（今索马里），开启对外贸易的黄金时代。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937760" y="2926080"/>
            <a:ext cx="6629400" cy="173736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ACHIEVEMENTS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74920" y="3337560"/>
            <a:ext cx="310896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74920" y="3337560"/>
            <a:ext cx="54864" cy="548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2"/>
          <p:cNvSpPr/>
          <p:nvPr/>
        </p:nvSpPr>
        <p:spPr>
          <a:xfrm>
            <a:off x="5212080" y="33741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底比斯神殿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1208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代尔巴哈里三层柱廊神庙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275320" y="3337560"/>
            <a:ext cx="310896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275320" y="3337560"/>
            <a:ext cx="54864" cy="548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9" name="Text 26"/>
          <p:cNvSpPr/>
          <p:nvPr/>
        </p:nvSpPr>
        <p:spPr>
          <a:xfrm>
            <a:off x="8412480" y="33741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远航蓬特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41248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带回没药、乌木、长颈鹿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074920" y="3977640"/>
            <a:ext cx="310896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5074920" y="3977640"/>
            <a:ext cx="54864" cy="548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3" name="Text 30"/>
          <p:cNvSpPr/>
          <p:nvPr/>
        </p:nvSpPr>
        <p:spPr>
          <a:xfrm>
            <a:off x="5212080" y="40142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建筑热潮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212080" y="4251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修复多处古王国神庙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275320" y="3977640"/>
            <a:ext cx="310896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8275320" y="3977640"/>
            <a:ext cx="54864" cy="548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7" name="Text 34"/>
          <p:cNvSpPr/>
          <p:nvPr/>
        </p:nvSpPr>
        <p:spPr>
          <a:xfrm>
            <a:off x="8412480" y="40142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和平外交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412480" y="4251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贸易代替军事扩张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937760" y="4846320"/>
            <a:ext cx="6629400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pic>
        <p:nvPicPr>
          <p:cNvPr id="40" name="Image 1" descr="C:\Users\18367\Desktop\test\web-app-test\runtime\artifacts\chat_cd13c4a14938\document-assets\download-journey_pun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37760" y="4846320"/>
            <a:ext cx="1645920" cy="146304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6766560" y="4983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“陛下说：把蓬特之路踏遍！”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6766560" y="5349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代尔巴哈里神庙铭文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6766560" y="56692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哈特谢普苏特派出的五艘船穿越红海，带回香料、乌木与异兽，开启埃及海外贸易的高潮。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 · 神祇的居所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神庙建筑艺术   TEMPLES OF EGYPT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1426464"/>
            <a:ext cx="3593592" cy="2313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Shape 12"/>
          <p:cNvSpPr/>
          <p:nvPr/>
        </p:nvSpPr>
        <p:spPr>
          <a:xfrm>
            <a:off x="4261104" y="1426464"/>
            <a:ext cx="3593592" cy="2313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Shape 13"/>
          <p:cNvSpPr/>
          <p:nvPr/>
        </p:nvSpPr>
        <p:spPr>
          <a:xfrm>
            <a:off x="7918704" y="1426464"/>
            <a:ext cx="3593592" cy="2313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5532120"/>
            <a:ext cx="10908792" cy="91440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23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对称布局 · 大型柱廊 · 巨大塔门 · 神祇浮雕 · 仅限祭司与法老进入的内殿</a:t>
            </a:r>
            <a:endParaRPr lang="en-US" sz="1200" dirty="0"/>
          </a:p>
        </p:txBody>
      </p:sp>
      <p:pic>
        <p:nvPicPr>
          <p:cNvPr id="19" name="Image 0" descr="C:\Users\18367\Desktop\test\web-app-test\runtime\artifacts\chat_cd13c4a14938\document-assets\download-temple_dendu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3520440" cy="22402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40080" y="1463040"/>
            <a:ext cx="155448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OF DENDUR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" y="3703320"/>
            <a:ext cx="3520440" cy="169164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37947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丹德拉神庙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22960" y="4160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of Dendur   ·   罗马时期 · 公元前 1 世纪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296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由奥古斯都皇帝赠予，1965 年迁至纽约大都会博物馆。</a:t>
            </a:r>
            <a:endParaRPr lang="en-US" sz="1050" dirty="0"/>
          </a:p>
        </p:txBody>
      </p:sp>
      <p:pic>
        <p:nvPicPr>
          <p:cNvPr id="26" name="Image 1" descr="C:\Users\18367\Desktop\test\web-app-test\runtime\artifacts\chat_cd13c4a14938\document-assets\download-edfu_templ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55280" y="1463040"/>
            <a:ext cx="3520440" cy="22402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955280" y="1463040"/>
            <a:ext cx="155448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28" name="Text 24"/>
          <p:cNvSpPr/>
          <p:nvPr/>
        </p:nvSpPr>
        <p:spPr>
          <a:xfrm>
            <a:off x="795528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OF EDFU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955280" y="3703320"/>
            <a:ext cx="3520440" cy="169164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138160" y="37947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埃德福神庙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8138160" y="4160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of Edfu   ·   托勒密王朝 · 公元前 2 世纪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13816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献给鹰神荷鲁斯，是埃及保存最完好的神庙之一。</a:t>
            </a:r>
            <a:endParaRPr lang="en-US" sz="1050" dirty="0"/>
          </a:p>
        </p:txBody>
      </p:sp>
      <p:pic>
        <p:nvPicPr>
          <p:cNvPr id="33" name="Image 2" descr="C:\Users\18367\Desktop\test\web-app-test\runtime\artifacts\chat_cd13c4a14938\document-assets\download-philae_temp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97680" y="1463040"/>
            <a:ext cx="3520440" cy="224028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4297680" y="1463040"/>
            <a:ext cx="155448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35" name="Text 30"/>
          <p:cNvSpPr/>
          <p:nvPr/>
        </p:nvSpPr>
        <p:spPr>
          <a:xfrm>
            <a:off x="429768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PHILAE TEMPLE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297680" y="3703320"/>
            <a:ext cx="3520440" cy="169164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480560" y="37947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菲莱神庙</a:t>
            </a:r>
            <a:endParaRPr lang="en-US" sz="1500" dirty="0"/>
          </a:p>
        </p:txBody>
      </p:sp>
      <p:sp>
        <p:nvSpPr>
          <p:cNvPr id="38" name="Text 33"/>
          <p:cNvSpPr/>
          <p:nvPr/>
        </p:nvSpPr>
        <p:spPr>
          <a:xfrm>
            <a:off x="4480560" y="4160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Philae Temple   ·   托勒密王朝 · 公元前 4 世纪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448056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献给伊西斯女神，因阿斯旺水坝迁至阿吉尔基亚岛。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 · 奥西里斯的审判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来世信仰   RELIGION &amp; AFTERLIFE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1426464"/>
            <a:ext cx="10945368" cy="2231136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14" name="Image 0" descr="C:\Users\18367\Desktop\test\web-app-test\runtime\artifacts\chat_cd13c4a14938\document-assets\download-judgement_osiri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10908792" cy="21945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1463040"/>
            <a:ext cx="237744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OF THE DEAD · JUDGEMENT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3703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亡灵审判 —— 心与羽毛的称量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4160520"/>
            <a:ext cx="2606040" cy="141732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4160520"/>
            <a:ext cx="26060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325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Ma'at 之秤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2960" y="4754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心脏与真理之羽的称量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383280" y="4160520"/>
            <a:ext cx="2606040" cy="141732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83280" y="4160520"/>
            <a:ext cx="26060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4" name="Text 21"/>
          <p:cNvSpPr/>
          <p:nvPr/>
        </p:nvSpPr>
        <p:spPr>
          <a:xfrm>
            <a:off x="3566160" y="4325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亡灵书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566160" y="4754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咒语助灵魂通过十二时辰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26480" y="4160520"/>
            <a:ext cx="2606040" cy="141732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26480" y="4160520"/>
            <a:ext cx="26060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8" name="Text 25"/>
          <p:cNvSpPr/>
          <p:nvPr/>
        </p:nvSpPr>
        <p:spPr>
          <a:xfrm>
            <a:off x="6309360" y="4325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木乃伊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309360" y="4754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保存肉体以便灵魂回归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869680" y="4160520"/>
            <a:ext cx="2606040" cy="141732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69680" y="4160520"/>
            <a:ext cx="26060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2" name="Text 29"/>
          <p:cNvSpPr/>
          <p:nvPr/>
        </p:nvSpPr>
        <p:spPr>
          <a:xfrm>
            <a:off x="9052560" y="4325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永恒之野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052560" y="4754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芦苇之野，永生的乐土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" y="5669280"/>
            <a:ext cx="10908792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960" y="5760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日常与仪式一体 —— 农业、节庆与神庙崇拜构筑了完整的世界观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尼罗河的泛滥周期决定了农耕节律；法老主持「开放之门」仪式，全国上下共庆新生。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 · 罗塞塔石碑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破解象形文字   DECIPHERMENT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1426464"/>
            <a:ext cx="4187952" cy="4645152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14" name="Image 0" descr="C:\Users\18367\Desktop\test\web-app-test\runtime\artifacts\chat_cd13c4a14938\document-assets\download-rosetta_sto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4114800" cy="4572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1463040"/>
            <a:ext cx="155448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ROSETTA STONE · 196 BCE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0080" y="6080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罗塞塔石碑 —— 三种文字对照的划时代文物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37760" y="146304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三种文字，同一段诏令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937760" y="182880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0" name="Shape 17"/>
          <p:cNvSpPr/>
          <p:nvPr/>
        </p:nvSpPr>
        <p:spPr>
          <a:xfrm>
            <a:off x="4937760" y="2011680"/>
            <a:ext cx="66294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2011680"/>
            <a:ext cx="91440" cy="56692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2" name="Text 19"/>
          <p:cNvSpPr/>
          <p:nvPr/>
        </p:nvSpPr>
        <p:spPr>
          <a:xfrm>
            <a:off x="507492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上层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6928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象形文字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69280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Hieroglyphic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589520" y="2057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祭司与宗教铭文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937760" y="2651760"/>
            <a:ext cx="66294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37760" y="2651760"/>
            <a:ext cx="91440" cy="56692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8" name="Text 25"/>
          <p:cNvSpPr/>
          <p:nvPr/>
        </p:nvSpPr>
        <p:spPr>
          <a:xfrm>
            <a:off x="507492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中层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692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世俗体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66928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Demotic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589520" y="2697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日常书写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937760" y="3291840"/>
            <a:ext cx="66294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937760" y="3291840"/>
            <a:ext cx="91440" cy="56692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4" name="Text 31"/>
          <p:cNvSpPr/>
          <p:nvPr/>
        </p:nvSpPr>
        <p:spPr>
          <a:xfrm>
            <a:off x="5074920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下层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669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古希腊文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66928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Greek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589520" y="3337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统治者语言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937760" y="4023360"/>
            <a:ext cx="6629400" cy="201168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39" name="Text 36"/>
          <p:cNvSpPr/>
          <p:nvPr/>
        </p:nvSpPr>
        <p:spPr>
          <a:xfrm>
            <a:off x="507492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STONE TO LANGUAGE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074920" y="44348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托马斯·杨（1814）发现象形文字的拼音性质；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074920" y="4754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商博良（1822）借助「托勒密」「克娄巴特拉」等王室名对照，全面破译象形文字体系。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074920" y="5440680"/>
            <a:ext cx="36576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3" name="Text 40"/>
          <p:cNvSpPr/>
          <p:nvPr/>
        </p:nvSpPr>
        <p:spPr>
          <a:xfrm>
            <a:off x="5074920" y="5532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“一束被封闭了两千年的语言，重新开口说话。”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 · 千年肖像传统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希腊罗马时期 · 法尤姆肖像   FAYUM PORTRAIT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1207008"/>
            <a:ext cx="548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6355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6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EGYPT · CIVILIZATION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1426464"/>
            <a:ext cx="4187952" cy="4828032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14" name="Image 0" descr="C:\Users\18367\Desktop\test\web-app-test\runtime\artifacts\chat_cd13c4a14938\document-assets\download-fayum_portrai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4114800" cy="47548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1463040"/>
            <a:ext cx="1371600" cy="32004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FAYUM · c.150–200 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0080" y="6263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法尤姆木乃伊肖像 —— 罗马时期埃及艺术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1463040"/>
            <a:ext cx="6629400" cy="1371600"/>
          </a:xfrm>
          <a:prstGeom prst="rect">
            <a:avLst/>
          </a:prstGeom>
          <a:solidFill>
            <a:srgbClr val="0F2238"/>
          </a:solidFill>
          <a:ln/>
        </p:spPr>
      </p:sp>
      <p:sp>
        <p:nvSpPr>
          <p:cNvPr id="19" name="Text 16"/>
          <p:cNvSpPr/>
          <p:nvPr/>
        </p:nvSpPr>
        <p:spPr>
          <a:xfrm>
            <a:off x="507492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跨越文化的肖像艺术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74920" y="2011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希腊化与罗马统治下，埃及祭司阶层将传统木乃伊面具替换为写实肖像，融合希腊罗马绘画技法与埃及来世信仰。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937760" y="2926080"/>
            <a:ext cx="6629400" cy="201168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FEATURES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7492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写实光影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74920" y="3675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明暗对比刻画面部立体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7532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蜡画法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75320" y="3675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encaustic 热蜡融合颜料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74920" y="4096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木板基底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7492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通常为椴木或柏木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75320" y="4096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覆盖木乃伊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27532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绑缚于面部供来世识别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937760" y="5074920"/>
            <a:ext cx="662940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B89C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74920" y="5166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ARC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074920" y="544068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法尤姆肖像将「为来世留存面容」的古老信仰与希腊罗马肖像传统合流，是欧洲肖像画传统最早的实物源头之一。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548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09360"/>
            <a:ext cx="548640" cy="548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55" y="6309360"/>
            <a:ext cx="548640" cy="548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文 明 的 遗 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三千年尼罗河文明的五大启示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9144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331720"/>
            <a:ext cx="2148840" cy="2743200"/>
          </a:xfrm>
          <a:prstGeom prst="rect">
            <a:avLst/>
          </a:prstGeom>
          <a:solidFill>
            <a:srgbClr val="000000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822960" y="324612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83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王权与神权合一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法老作为神的代理，构筑了世界最早的「神圣王权」范式。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80360" y="2331720"/>
            <a:ext cx="2148840" cy="2743200"/>
          </a:xfrm>
          <a:prstGeom prst="rect">
            <a:avLst/>
          </a:prstGeom>
          <a:solidFill>
            <a:srgbClr val="000000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3063240" y="324612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3383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宏大的工程与艺术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63240" y="39776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金字塔、神庙、方尖碑展现了对永恒与秩序的执着追求。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20640" y="2331720"/>
            <a:ext cx="2148840" cy="2743200"/>
          </a:xfrm>
          <a:prstGeom prst="rect">
            <a:avLst/>
          </a:prstGeom>
          <a:solidFill>
            <a:srgbClr val="000000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5303520" y="324612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3383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文字的传承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39776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象形文字通过罗塞塔石碑重见天日，连接古今的知识桥梁。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60920" y="2331720"/>
            <a:ext cx="2148840" cy="2743200"/>
          </a:xfrm>
          <a:prstGeom prst="rect">
            <a:avLst/>
          </a:prstGeom>
          <a:solidFill>
            <a:srgbClr val="000000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28" name="Shape 26"/>
          <p:cNvSpPr/>
          <p:nvPr/>
        </p:nvSpPr>
        <p:spPr>
          <a:xfrm>
            <a:off x="7543800" y="324612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9" name="Text 27"/>
          <p:cNvSpPr/>
          <p:nvPr/>
        </p:nvSpPr>
        <p:spPr>
          <a:xfrm>
            <a:off x="7543800" y="3383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来世信仰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43800" y="39776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亡灵书、墓室壁画与木乃伊将日常生活升华为永恒仪式。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601200" y="2331720"/>
            <a:ext cx="2148840" cy="2743200"/>
          </a:xfrm>
          <a:prstGeom prst="rect">
            <a:avLst/>
          </a:prstGeom>
          <a:solidFill>
            <a:srgbClr val="000000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800" dirty="0"/>
          </a:p>
        </p:txBody>
      </p:sp>
      <p:sp>
        <p:nvSpPr>
          <p:cNvPr id="33" name="Shape 31"/>
          <p:cNvSpPr/>
          <p:nvPr/>
        </p:nvSpPr>
        <p:spPr>
          <a:xfrm>
            <a:off x="9784080" y="324612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4" name="Text 32"/>
          <p:cNvSpPr/>
          <p:nvPr/>
        </p:nvSpPr>
        <p:spPr>
          <a:xfrm>
            <a:off x="9784080" y="3383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跨文化融合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84080" y="39776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希腊罗马时期，法尤姆肖像开启欧洲肖像画传统新篇。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6080760"/>
            <a:ext cx="12191695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6217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“Eternal Egypt — where stone remembers what time forgets.”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45775" y="6217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Ancient Egypt Civilization</dc:title>
  <dc:subject>PptxGenJS Presentation</dc:subject>
  <dc:creator>Egypt Studio</dc:creator>
  <cp:lastModifiedBy>Egypt Studio</cp:lastModifiedBy>
  <cp:revision>1</cp:revision>
  <dcterms:created xsi:type="dcterms:W3CDTF">2026-08-23T14:01:04Z</dcterms:created>
  <dcterms:modified xsi:type="dcterms:W3CDTF">2026-08-23T14:01:04Z</dcterms:modified>
</cp:coreProperties>
</file>