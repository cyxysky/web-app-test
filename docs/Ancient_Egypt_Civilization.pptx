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4A24C"/>
          </a:solidFill>
          <a:ln w="12700">
            <a:solidFill>
              <a:srgbClr val="D4A24C"/>
            </a:solidFill>
            <a:prstDash val="solid"/>
          </a:ln>
        </p:spPr>
      </p:sp>
      <p:sp>
        <p:nvSpPr>
          <p:cNvPr id="3" name="Shape 1"/>
          <p:cNvSpPr/>
          <p:nvPr/>
        </p:nvSpPr>
        <p:spPr>
          <a:xfrm>
            <a:off x="0" y="6693408"/>
            <a:ext cx="12191695" cy="164592"/>
          </a:xfrm>
          <a:prstGeom prst="rect">
            <a:avLst/>
          </a:prstGeom>
          <a:solidFill>
            <a:srgbClr val="D4A24C"/>
          </a:solidFill>
          <a:ln w="12700">
            <a:solidFill>
              <a:srgbClr val="D4A24C"/>
            </a:solidFill>
            <a:prstDash val="solid"/>
          </a:ln>
        </p:spPr>
      </p:sp>
      <p:sp>
        <p:nvSpPr>
          <p:cNvPr id="4" name="Shape 2"/>
          <p:cNvSpPr/>
          <p:nvPr/>
        </p:nvSpPr>
        <p:spPr>
          <a:xfrm>
            <a:off x="0" y="201168"/>
            <a:ext cx="12191695" cy="36576"/>
          </a:xfrm>
          <a:prstGeom prst="rect">
            <a:avLst/>
          </a:prstGeom>
          <a:solidFill>
            <a:srgbClr val="E8C77A"/>
          </a:solidFill>
          <a:ln w="12700">
            <a:solidFill>
              <a:srgbClr val="E8C77A"/>
            </a:solidFill>
            <a:prstDash val="solid"/>
          </a:ln>
        </p:spPr>
      </p:sp>
      <p:sp>
        <p:nvSpPr>
          <p:cNvPr id="5" name="Shape 3"/>
          <p:cNvSpPr/>
          <p:nvPr/>
        </p:nvSpPr>
        <p:spPr>
          <a:xfrm>
            <a:off x="0" y="6620256"/>
            <a:ext cx="12191695" cy="36576"/>
          </a:xfrm>
          <a:prstGeom prst="rect">
            <a:avLst/>
          </a:prstGeom>
          <a:solidFill>
            <a:srgbClr val="E8C77A"/>
          </a:solidFill>
          <a:ln w="12700">
            <a:solidFill>
              <a:srgbClr val="E8C77A"/>
            </a:solidFill>
            <a:prstDash val="solid"/>
          </a:ln>
        </p:spPr>
      </p:sp>
      <p:sp>
        <p:nvSpPr>
          <p:cNvPr id="6" name="Shape 4"/>
          <p:cNvSpPr/>
          <p:nvPr/>
        </p:nvSpPr>
        <p:spPr>
          <a:xfrm>
            <a:off x="457200" y="1097280"/>
            <a:ext cx="73152" cy="4663440"/>
          </a:xfrm>
          <a:prstGeom prst="rect">
            <a:avLst/>
          </a:prstGeom>
          <a:solidFill>
            <a:srgbClr val="D4A24C"/>
          </a:solidFill>
          <a:ln w="12700">
            <a:solidFill>
              <a:srgbClr val="D4A24C"/>
            </a:solidFill>
            <a:prstDash val="solid"/>
          </a:ln>
        </p:spPr>
      </p:sp>
      <p:sp>
        <p:nvSpPr>
          <p:cNvPr id="7" name="Shape 5"/>
          <p:cNvSpPr/>
          <p:nvPr/>
        </p:nvSpPr>
        <p:spPr>
          <a:xfrm>
            <a:off x="11661343" y="1097280"/>
            <a:ext cx="73152" cy="4663440"/>
          </a:xfrm>
          <a:prstGeom prst="rect">
            <a:avLst/>
          </a:prstGeom>
          <a:solidFill>
            <a:srgbClr val="D4A24C"/>
          </a:solidFill>
          <a:ln w="12700">
            <a:solidFill>
              <a:srgbClr val="D4A24C"/>
            </a:solidFill>
            <a:prstDash val="solid"/>
          </a:ln>
        </p:spPr>
      </p:sp>
      <p:sp>
        <p:nvSpPr>
          <p:cNvPr id="8" name="Text 6"/>
          <p:cNvSpPr/>
          <p:nvPr/>
        </p:nvSpPr>
        <p:spPr>
          <a:xfrm>
            <a:off x="5638648" y="1280160"/>
            <a:ext cx="914400" cy="365760"/>
          </a:xfrm>
          <a:prstGeom prst="rect">
            <a:avLst/>
          </a:prstGeom>
          <a:noFill/>
          <a:ln/>
        </p:spPr>
        <p:txBody>
          <a:bodyPr wrap="square" rtlCol="0" anchor="ctr"/>
          <a:lstStyle/>
          <a:p>
            <a:pPr algn="ctr" indent="0" marL="0">
              <a:buNone/>
            </a:pPr>
            <a:r>
              <a:rPr lang="en-US" sz="2800" b="1" dirty="0">
                <a:solidFill>
                  <a:srgbClr val="D4A24C"/>
                </a:solidFill>
              </a:rPr>
              <a:t>•••</a:t>
            </a:r>
            <a:endParaRPr lang="en-US" sz="2800" dirty="0"/>
          </a:p>
        </p:txBody>
      </p:sp>
      <p:sp>
        <p:nvSpPr>
          <p:cNvPr id="9" name="Text 7"/>
          <p:cNvSpPr/>
          <p:nvPr/>
        </p:nvSpPr>
        <p:spPr>
          <a:xfrm>
            <a:off x="457200" y="1737360"/>
            <a:ext cx="11277295" cy="457200"/>
          </a:xfrm>
          <a:prstGeom prst="rect">
            <a:avLst/>
          </a:prstGeom>
          <a:noFill/>
          <a:ln/>
        </p:spPr>
        <p:txBody>
          <a:bodyPr wrap="square" rtlCol="0" anchor="ctr"/>
          <a:lstStyle/>
          <a:p>
            <a:pPr algn="ctr" indent="0" marL="0">
              <a:buNone/>
            </a:pPr>
            <a:r>
              <a:rPr lang="en-US" sz="1500" b="1" spc="600" kern="0" dirty="0">
                <a:solidFill>
                  <a:srgbClr val="E8C77A"/>
                </a:solidFill>
              </a:rPr>
              <a:t>A   CIVILIZATION   OF   THE   NILE</a:t>
            </a:r>
            <a:endParaRPr lang="en-US" sz="1500" dirty="0"/>
          </a:p>
        </p:txBody>
      </p:sp>
      <p:sp>
        <p:nvSpPr>
          <p:cNvPr id="10" name="Text 8"/>
          <p:cNvSpPr/>
          <p:nvPr/>
        </p:nvSpPr>
        <p:spPr>
          <a:xfrm>
            <a:off x="457200" y="2331720"/>
            <a:ext cx="11277295" cy="1371600"/>
          </a:xfrm>
          <a:prstGeom prst="rect">
            <a:avLst/>
          </a:prstGeom>
          <a:noFill/>
          <a:ln/>
        </p:spPr>
        <p:txBody>
          <a:bodyPr wrap="square" rtlCol="0" anchor="ctr"/>
          <a:lstStyle/>
          <a:p>
            <a:pPr algn="ctr" indent="0" marL="0">
              <a:buNone/>
            </a:pPr>
            <a:r>
              <a:rPr lang="en-US" sz="8400" b="1" dirty="0">
                <a:solidFill>
                  <a:srgbClr val="D4A24C"/>
                </a:solidFill>
                <a:latin typeface="Georgia" pitchFamily="34" charset="0"/>
                <a:ea typeface="Georgia" pitchFamily="34" charset="-122"/>
                <a:cs typeface="Georgia" pitchFamily="34" charset="-120"/>
              </a:rPr>
              <a:t>Ancient Egypt</a:t>
            </a:r>
            <a:endParaRPr lang="en-US" sz="8400" dirty="0"/>
          </a:p>
        </p:txBody>
      </p:sp>
      <p:sp>
        <p:nvSpPr>
          <p:cNvPr id="11" name="Text 9"/>
          <p:cNvSpPr/>
          <p:nvPr/>
        </p:nvSpPr>
        <p:spPr>
          <a:xfrm>
            <a:off x="457200" y="3657600"/>
            <a:ext cx="11277295" cy="640080"/>
          </a:xfrm>
          <a:prstGeom prst="rect">
            <a:avLst/>
          </a:prstGeom>
          <a:noFill/>
          <a:ln/>
        </p:spPr>
        <p:txBody>
          <a:bodyPr wrap="square" rtlCol="0" anchor="ctr"/>
          <a:lstStyle/>
          <a:p>
            <a:pPr algn="ctr" indent="0" marL="0">
              <a:buNone/>
            </a:pPr>
            <a:r>
              <a:rPr lang="en-US" sz="3200" b="1" spc="2000" kern="0" dirty="0">
                <a:solidFill>
                  <a:srgbClr val="F5E6C8"/>
                </a:solidFill>
                <a:latin typeface="Microsoft YaHei" pitchFamily="34" charset="0"/>
                <a:ea typeface="Microsoft YaHei" pitchFamily="34" charset="-122"/>
                <a:cs typeface="Microsoft YaHei" pitchFamily="34" charset="-120"/>
              </a:rPr>
              <a:t>古 埃 及 · 文 明 史 诗</a:t>
            </a:r>
            <a:endParaRPr lang="en-US" sz="3200" dirty="0"/>
          </a:p>
        </p:txBody>
      </p:sp>
      <p:sp>
        <p:nvSpPr>
          <p:cNvPr id="12" name="Shape 10"/>
          <p:cNvSpPr/>
          <p:nvPr/>
        </p:nvSpPr>
        <p:spPr>
          <a:xfrm>
            <a:off x="4724248" y="4526280"/>
            <a:ext cx="2743200" cy="0"/>
          </a:xfrm>
          <a:prstGeom prst="line">
            <a:avLst/>
          </a:prstGeom>
          <a:noFill/>
          <a:ln w="25400">
            <a:solidFill>
              <a:srgbClr val="D4A24C"/>
            </a:solidFill>
            <a:prstDash val="solid"/>
          </a:ln>
        </p:spPr>
      </p:sp>
      <p:sp>
        <p:nvSpPr>
          <p:cNvPr id="13" name="Text 11"/>
          <p:cNvSpPr/>
          <p:nvPr/>
        </p:nvSpPr>
        <p:spPr>
          <a:xfrm>
            <a:off x="5958688" y="4407408"/>
            <a:ext cx="274320" cy="274320"/>
          </a:xfrm>
          <a:prstGeom prst="rect">
            <a:avLst/>
          </a:prstGeom>
          <a:noFill/>
          <a:ln/>
        </p:spPr>
        <p:txBody>
          <a:bodyPr wrap="square" rtlCol="0" anchor="ctr"/>
          <a:lstStyle/>
          <a:p>
            <a:pPr algn="ctr" indent="0" marL="0">
              <a:buNone/>
            </a:pPr>
            <a:r>
              <a:rPr lang="en-US" sz="1400" b="1" dirty="0">
                <a:solidFill>
                  <a:srgbClr val="D4A24C"/>
                </a:solidFill>
              </a:rPr>
              <a:t>◆</a:t>
            </a:r>
            <a:endParaRPr lang="en-US" sz="1400" dirty="0"/>
          </a:p>
        </p:txBody>
      </p:sp>
      <p:sp>
        <p:nvSpPr>
          <p:cNvPr id="14" name="Text 12"/>
          <p:cNvSpPr/>
          <p:nvPr/>
        </p:nvSpPr>
        <p:spPr>
          <a:xfrm>
            <a:off x="457200" y="4800600"/>
            <a:ext cx="11277295" cy="365760"/>
          </a:xfrm>
          <a:prstGeom prst="rect">
            <a:avLst/>
          </a:prstGeom>
          <a:noFill/>
          <a:ln/>
        </p:spPr>
        <p:txBody>
          <a:bodyPr wrap="square" rtlCol="0" anchor="ctr"/>
          <a:lstStyle/>
          <a:p>
            <a:pPr algn="ctr" indent="0" marL="0">
              <a:buNone/>
            </a:pPr>
            <a:r>
              <a:rPr lang="en-US" sz="1400" i="1" dirty="0">
                <a:solidFill>
                  <a:srgbClr val="FDF8EC"/>
                </a:solidFill>
              </a:rPr>
              <a:t>Cradle of Civilization along the Nile River  ·  c. 3150 BC – 30 BC</a:t>
            </a:r>
            <a:endParaRPr lang="en-US" sz="1400" dirty="0"/>
          </a:p>
        </p:txBody>
      </p:sp>
      <p:sp>
        <p:nvSpPr>
          <p:cNvPr id="15" name="Text 13"/>
          <p:cNvSpPr/>
          <p:nvPr/>
        </p:nvSpPr>
        <p:spPr>
          <a:xfrm>
            <a:off x="457200" y="5852160"/>
            <a:ext cx="11277295" cy="274320"/>
          </a:xfrm>
          <a:prstGeom prst="rect">
            <a:avLst/>
          </a:prstGeom>
          <a:noFill/>
          <a:ln/>
        </p:spPr>
        <p:txBody>
          <a:bodyPr wrap="square" rtlCol="0" anchor="ctr"/>
          <a:lstStyle/>
          <a:p>
            <a:pPr algn="ctr" indent="0" marL="0">
              <a:buNone/>
            </a:pPr>
            <a:r>
              <a:rPr lang="en-US" sz="1000" i="1" dirty="0">
                <a:solidFill>
                  <a:srgbClr val="E8C77A"/>
                </a:solidFill>
              </a:rPr>
              <a:t>Source: Wikipedia · Wikimedia Commons</a:t>
            </a:r>
            <a:endParaRPr lang="en-US" sz="1000" dirty="0"/>
          </a:p>
        </p:txBody>
      </p:sp>
      <p:sp>
        <p:nvSpPr>
          <p:cNvPr id="16" name="Text 14"/>
          <p:cNvSpPr/>
          <p:nvPr/>
        </p:nvSpPr>
        <p:spPr>
          <a:xfrm>
            <a:off x="5364328" y="6172200"/>
            <a:ext cx="1463040" cy="365760"/>
          </a:xfrm>
          <a:prstGeom prst="rect">
            <a:avLst/>
          </a:prstGeom>
          <a:noFill/>
          <a:ln/>
        </p:spPr>
        <p:txBody>
          <a:bodyPr wrap="square" rtlCol="0" anchor="ctr"/>
          <a:lstStyle/>
          <a:p>
            <a:pPr algn="ctr" indent="0" marL="0">
              <a:buNone/>
            </a:pPr>
            <a:r>
              <a:rPr lang="en-US" sz="1800" b="1" dirty="0">
                <a:solidFill>
                  <a:srgbClr val="D4A24C"/>
                </a:solidFill>
              </a:rPr>
              <a:t>❖  ❖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12191695" cy="1188720"/>
          </a:xfrm>
          <a:prstGeom prst="rect">
            <a:avLst/>
          </a:prstGeom>
          <a:solidFill>
            <a:srgbClr val="0F2A4A"/>
          </a:solidFill>
          <a:ln w="12700">
            <a:solidFill>
              <a:srgbClr val="0F2A4A"/>
            </a:solidFill>
            <a:prstDash val="solid"/>
          </a:ln>
        </p:spPr>
      </p:sp>
      <p:sp>
        <p:nvSpPr>
          <p:cNvPr id="3" name="Shape 1"/>
          <p:cNvSpPr/>
          <p:nvPr/>
        </p:nvSpPr>
        <p:spPr>
          <a:xfrm>
            <a:off x="0" y="1188720"/>
            <a:ext cx="12191695" cy="73152"/>
          </a:xfrm>
          <a:prstGeom prst="rect">
            <a:avLst/>
          </a:prstGeom>
          <a:solidFill>
            <a:srgbClr val="D4A24C"/>
          </a:solidFill>
          <a:ln w="12700">
            <a:solidFill>
              <a:srgbClr val="D4A24C"/>
            </a:solidFill>
            <a:prstDash val="solid"/>
          </a:ln>
        </p:spPr>
      </p:sp>
      <p:sp>
        <p:nvSpPr>
          <p:cNvPr id="4" name="Text 2"/>
          <p:cNvSpPr/>
          <p:nvPr/>
        </p:nvSpPr>
        <p:spPr>
          <a:xfrm>
            <a:off x="457200" y="228600"/>
            <a:ext cx="11277295" cy="457200"/>
          </a:xfrm>
          <a:prstGeom prst="rect">
            <a:avLst/>
          </a:prstGeom>
          <a:noFill/>
          <a:ln/>
        </p:spPr>
        <p:txBody>
          <a:bodyPr wrap="square" rtlCol="0" anchor="ctr"/>
          <a:lstStyle/>
          <a:p>
            <a:pPr indent="0" marL="0">
              <a:buNone/>
            </a:pPr>
            <a:r>
              <a:rPr lang="en-US" sz="1200" b="1" spc="1800" kern="0" dirty="0">
                <a:solidFill>
                  <a:srgbClr val="E8C77A"/>
                </a:solidFill>
              </a:rPr>
              <a:t>CONTENTS</a:t>
            </a:r>
            <a:endParaRPr lang="en-US" sz="1200" dirty="0"/>
          </a:p>
        </p:txBody>
      </p:sp>
      <p:sp>
        <p:nvSpPr>
          <p:cNvPr id="5" name="Text 3"/>
          <p:cNvSpPr/>
          <p:nvPr/>
        </p:nvSpPr>
        <p:spPr>
          <a:xfrm>
            <a:off x="457200" y="502920"/>
            <a:ext cx="11277295" cy="640080"/>
          </a:xfrm>
          <a:prstGeom prst="rect">
            <a:avLst/>
          </a:prstGeom>
          <a:noFill/>
          <a:ln/>
        </p:spPr>
        <p:txBody>
          <a:bodyPr wrap="square" rtlCol="0" anchor="ctr"/>
          <a:lstStyle/>
          <a:p>
            <a:pPr indent="0" marL="0">
              <a:buNone/>
            </a:pPr>
            <a:r>
              <a:rPr lang="en-US" sz="3800" b="1" spc="800" kern="0" dirty="0">
                <a:solidFill>
                  <a:srgbClr val="F5E6C8"/>
                </a:solidFill>
                <a:latin typeface="Microsoft YaHei" pitchFamily="34" charset="0"/>
                <a:ea typeface="Microsoft YaHei" pitchFamily="34" charset="-122"/>
                <a:cs typeface="Microsoft YaHei" pitchFamily="34" charset="-120"/>
              </a:rPr>
              <a:t>目  录</a:t>
            </a:r>
            <a:endParaRPr lang="en-US" sz="3800" dirty="0"/>
          </a:p>
        </p:txBody>
      </p:sp>
      <p:sp>
        <p:nvSpPr>
          <p:cNvPr id="6" name="Shape 4"/>
          <p:cNvSpPr/>
          <p:nvPr/>
        </p:nvSpPr>
        <p:spPr>
          <a:xfrm>
            <a:off x="457200" y="1828800"/>
            <a:ext cx="54864" cy="4389120"/>
          </a:xfrm>
          <a:prstGeom prst="rect">
            <a:avLst/>
          </a:prstGeom>
          <a:solidFill>
            <a:srgbClr val="D4A24C"/>
          </a:solidFill>
          <a:ln w="12700">
            <a:solidFill>
              <a:srgbClr val="D4A24C"/>
            </a:solidFill>
            <a:prstDash val="solid"/>
          </a:ln>
        </p:spPr>
      </p:sp>
      <p:sp>
        <p:nvSpPr>
          <p:cNvPr id="7" name="Shape 5"/>
          <p:cNvSpPr/>
          <p:nvPr/>
        </p:nvSpPr>
        <p:spPr>
          <a:xfrm>
            <a:off x="777240" y="1865376"/>
            <a:ext cx="548640" cy="365760"/>
          </a:xfrm>
          <a:prstGeom prst="rect">
            <a:avLst/>
          </a:prstGeom>
          <a:solidFill>
            <a:srgbClr val="0F2A4A"/>
          </a:solidFill>
          <a:ln w="12700">
            <a:solidFill>
              <a:srgbClr val="D4A24C"/>
            </a:solidFill>
            <a:prstDash val="solid"/>
          </a:ln>
        </p:spPr>
      </p:sp>
      <p:sp>
        <p:nvSpPr>
          <p:cNvPr id="8" name="Text 6"/>
          <p:cNvSpPr/>
          <p:nvPr/>
        </p:nvSpPr>
        <p:spPr>
          <a:xfrm>
            <a:off x="777240" y="1865376"/>
            <a:ext cx="548640" cy="365760"/>
          </a:xfrm>
          <a:prstGeom prst="rect">
            <a:avLst/>
          </a:prstGeom>
          <a:noFill/>
          <a:ln/>
        </p:spPr>
        <p:txBody>
          <a:bodyPr wrap="square" rtlCol="0" anchor="ctr"/>
          <a:lstStyle/>
          <a:p>
            <a:pPr algn="ctr" indent="0" marL="0">
              <a:buNone/>
            </a:pPr>
            <a:r>
              <a:rPr lang="en-US" sz="1400" b="1" dirty="0">
                <a:solidFill>
                  <a:srgbClr val="D4A24C"/>
                </a:solidFill>
              </a:rPr>
              <a:t>01</a:t>
            </a:r>
            <a:endParaRPr lang="en-US" sz="1400" dirty="0"/>
          </a:p>
        </p:txBody>
      </p:sp>
      <p:sp>
        <p:nvSpPr>
          <p:cNvPr id="9" name="Text 7"/>
          <p:cNvSpPr/>
          <p:nvPr/>
        </p:nvSpPr>
        <p:spPr>
          <a:xfrm>
            <a:off x="1463040" y="1828800"/>
            <a:ext cx="10180015" cy="438912"/>
          </a:xfrm>
          <a:prstGeom prst="rect">
            <a:avLst/>
          </a:prstGeom>
          <a:noFill/>
          <a:ln/>
        </p:spPr>
        <p:txBody>
          <a:bodyPr wrap="square" rtlCol="0" anchor="ctr"/>
          <a:lstStyle/>
          <a:p>
            <a:pPr indent="0" marL="0">
              <a:buNone/>
            </a:pPr>
            <a:r>
              <a:rPr lang="en-US" sz="1800" dirty="0">
                <a:solidFill>
                  <a:srgbClr val="0F2A4A"/>
                </a:solidFill>
              </a:rPr>
              <a:t>Overview · 文明概述</a:t>
            </a:r>
            <a:endParaRPr lang="en-US" sz="1800" dirty="0"/>
          </a:p>
        </p:txBody>
      </p:sp>
      <p:sp>
        <p:nvSpPr>
          <p:cNvPr id="10" name="Shape 8"/>
          <p:cNvSpPr/>
          <p:nvPr/>
        </p:nvSpPr>
        <p:spPr>
          <a:xfrm>
            <a:off x="1463040" y="2249424"/>
            <a:ext cx="8229600" cy="0"/>
          </a:xfrm>
          <a:prstGeom prst="line">
            <a:avLst/>
          </a:prstGeom>
          <a:noFill/>
          <a:ln w="6350">
            <a:solidFill>
              <a:srgbClr val="E8D5A8"/>
            </a:solidFill>
            <a:prstDash val="solid"/>
          </a:ln>
        </p:spPr>
      </p:sp>
      <p:sp>
        <p:nvSpPr>
          <p:cNvPr id="11" name="Shape 9"/>
          <p:cNvSpPr/>
          <p:nvPr/>
        </p:nvSpPr>
        <p:spPr>
          <a:xfrm>
            <a:off x="777240" y="2304288"/>
            <a:ext cx="548640" cy="365760"/>
          </a:xfrm>
          <a:prstGeom prst="rect">
            <a:avLst/>
          </a:prstGeom>
          <a:solidFill>
            <a:srgbClr val="0F2A4A"/>
          </a:solidFill>
          <a:ln w="12700">
            <a:solidFill>
              <a:srgbClr val="D4A24C"/>
            </a:solidFill>
            <a:prstDash val="solid"/>
          </a:ln>
        </p:spPr>
      </p:sp>
      <p:sp>
        <p:nvSpPr>
          <p:cNvPr id="12" name="Text 10"/>
          <p:cNvSpPr/>
          <p:nvPr/>
        </p:nvSpPr>
        <p:spPr>
          <a:xfrm>
            <a:off x="777240" y="2304288"/>
            <a:ext cx="548640" cy="365760"/>
          </a:xfrm>
          <a:prstGeom prst="rect">
            <a:avLst/>
          </a:prstGeom>
          <a:noFill/>
          <a:ln/>
        </p:spPr>
        <p:txBody>
          <a:bodyPr wrap="square" rtlCol="0" anchor="ctr"/>
          <a:lstStyle/>
          <a:p>
            <a:pPr algn="ctr" indent="0" marL="0">
              <a:buNone/>
            </a:pPr>
            <a:r>
              <a:rPr lang="en-US" sz="1400" b="1" dirty="0">
                <a:solidFill>
                  <a:srgbClr val="D4A24C"/>
                </a:solidFill>
              </a:rPr>
              <a:t>02</a:t>
            </a:r>
            <a:endParaRPr lang="en-US" sz="1400" dirty="0"/>
          </a:p>
        </p:txBody>
      </p:sp>
      <p:sp>
        <p:nvSpPr>
          <p:cNvPr id="13" name="Text 11"/>
          <p:cNvSpPr/>
          <p:nvPr/>
        </p:nvSpPr>
        <p:spPr>
          <a:xfrm>
            <a:off x="1463040" y="2267712"/>
            <a:ext cx="10180015" cy="438912"/>
          </a:xfrm>
          <a:prstGeom prst="rect">
            <a:avLst/>
          </a:prstGeom>
          <a:noFill/>
          <a:ln/>
        </p:spPr>
        <p:txBody>
          <a:bodyPr wrap="square" rtlCol="0" anchor="ctr"/>
          <a:lstStyle/>
          <a:p>
            <a:pPr indent="0" marL="0">
              <a:buNone/>
            </a:pPr>
            <a:r>
              <a:rPr lang="en-US" sz="1800" dirty="0">
                <a:solidFill>
                  <a:srgbClr val="0F2A4A"/>
                </a:solidFill>
              </a:rPr>
              <a:t>Timeline of Kingdoms · 王朝年代表</a:t>
            </a:r>
            <a:endParaRPr lang="en-US" sz="1800" dirty="0"/>
          </a:p>
        </p:txBody>
      </p:sp>
      <p:sp>
        <p:nvSpPr>
          <p:cNvPr id="14" name="Shape 12"/>
          <p:cNvSpPr/>
          <p:nvPr/>
        </p:nvSpPr>
        <p:spPr>
          <a:xfrm>
            <a:off x="1463040" y="2688336"/>
            <a:ext cx="8229600" cy="0"/>
          </a:xfrm>
          <a:prstGeom prst="line">
            <a:avLst/>
          </a:prstGeom>
          <a:noFill/>
          <a:ln w="6350">
            <a:solidFill>
              <a:srgbClr val="E8D5A8"/>
            </a:solidFill>
            <a:prstDash val="solid"/>
          </a:ln>
        </p:spPr>
      </p:sp>
      <p:sp>
        <p:nvSpPr>
          <p:cNvPr id="15" name="Shape 13"/>
          <p:cNvSpPr/>
          <p:nvPr/>
        </p:nvSpPr>
        <p:spPr>
          <a:xfrm>
            <a:off x="777240" y="2743200"/>
            <a:ext cx="548640" cy="365760"/>
          </a:xfrm>
          <a:prstGeom prst="rect">
            <a:avLst/>
          </a:prstGeom>
          <a:solidFill>
            <a:srgbClr val="0F2A4A"/>
          </a:solidFill>
          <a:ln w="12700">
            <a:solidFill>
              <a:srgbClr val="D4A24C"/>
            </a:solidFill>
            <a:prstDash val="solid"/>
          </a:ln>
        </p:spPr>
      </p:sp>
      <p:sp>
        <p:nvSpPr>
          <p:cNvPr id="16" name="Text 14"/>
          <p:cNvSpPr/>
          <p:nvPr/>
        </p:nvSpPr>
        <p:spPr>
          <a:xfrm>
            <a:off x="777240" y="2743200"/>
            <a:ext cx="548640" cy="365760"/>
          </a:xfrm>
          <a:prstGeom prst="rect">
            <a:avLst/>
          </a:prstGeom>
          <a:noFill/>
          <a:ln/>
        </p:spPr>
        <p:txBody>
          <a:bodyPr wrap="square" rtlCol="0" anchor="ctr"/>
          <a:lstStyle/>
          <a:p>
            <a:pPr algn="ctr" indent="0" marL="0">
              <a:buNone/>
            </a:pPr>
            <a:r>
              <a:rPr lang="en-US" sz="1400" b="1" dirty="0">
                <a:solidFill>
                  <a:srgbClr val="D4A24C"/>
                </a:solidFill>
              </a:rPr>
              <a:t>03</a:t>
            </a:r>
            <a:endParaRPr lang="en-US" sz="1400" dirty="0"/>
          </a:p>
        </p:txBody>
      </p:sp>
      <p:sp>
        <p:nvSpPr>
          <p:cNvPr id="17" name="Text 15"/>
          <p:cNvSpPr/>
          <p:nvPr/>
        </p:nvSpPr>
        <p:spPr>
          <a:xfrm>
            <a:off x="1463040" y="2706624"/>
            <a:ext cx="10180015" cy="438912"/>
          </a:xfrm>
          <a:prstGeom prst="rect">
            <a:avLst/>
          </a:prstGeom>
          <a:noFill/>
          <a:ln/>
        </p:spPr>
        <p:txBody>
          <a:bodyPr wrap="square" rtlCol="0" anchor="ctr"/>
          <a:lstStyle/>
          <a:p>
            <a:pPr indent="0" marL="0">
              <a:buNone/>
            </a:pPr>
            <a:r>
              <a:rPr lang="en-US" sz="1800" dirty="0">
                <a:solidFill>
                  <a:srgbClr val="0F2A4A"/>
                </a:solidFill>
              </a:rPr>
              <a:t>Geography &amp; the Nile · 地理与尼罗河</a:t>
            </a:r>
            <a:endParaRPr lang="en-US" sz="1800" dirty="0"/>
          </a:p>
        </p:txBody>
      </p:sp>
      <p:sp>
        <p:nvSpPr>
          <p:cNvPr id="18" name="Shape 16"/>
          <p:cNvSpPr/>
          <p:nvPr/>
        </p:nvSpPr>
        <p:spPr>
          <a:xfrm>
            <a:off x="1463040" y="3127248"/>
            <a:ext cx="8229600" cy="0"/>
          </a:xfrm>
          <a:prstGeom prst="line">
            <a:avLst/>
          </a:prstGeom>
          <a:noFill/>
          <a:ln w="6350">
            <a:solidFill>
              <a:srgbClr val="E8D5A8"/>
            </a:solidFill>
            <a:prstDash val="solid"/>
          </a:ln>
        </p:spPr>
      </p:sp>
      <p:sp>
        <p:nvSpPr>
          <p:cNvPr id="19" name="Shape 17"/>
          <p:cNvSpPr/>
          <p:nvPr/>
        </p:nvSpPr>
        <p:spPr>
          <a:xfrm>
            <a:off x="777240" y="3182112"/>
            <a:ext cx="548640" cy="365760"/>
          </a:xfrm>
          <a:prstGeom prst="rect">
            <a:avLst/>
          </a:prstGeom>
          <a:solidFill>
            <a:srgbClr val="0F2A4A"/>
          </a:solidFill>
          <a:ln w="12700">
            <a:solidFill>
              <a:srgbClr val="D4A24C"/>
            </a:solidFill>
            <a:prstDash val="solid"/>
          </a:ln>
        </p:spPr>
      </p:sp>
      <p:sp>
        <p:nvSpPr>
          <p:cNvPr id="20" name="Text 18"/>
          <p:cNvSpPr/>
          <p:nvPr/>
        </p:nvSpPr>
        <p:spPr>
          <a:xfrm>
            <a:off x="777240" y="3182112"/>
            <a:ext cx="548640" cy="365760"/>
          </a:xfrm>
          <a:prstGeom prst="rect">
            <a:avLst/>
          </a:prstGeom>
          <a:noFill/>
          <a:ln/>
        </p:spPr>
        <p:txBody>
          <a:bodyPr wrap="square" rtlCol="0" anchor="ctr"/>
          <a:lstStyle/>
          <a:p>
            <a:pPr algn="ctr" indent="0" marL="0">
              <a:buNone/>
            </a:pPr>
            <a:r>
              <a:rPr lang="en-US" sz="1400" b="1" dirty="0">
                <a:solidFill>
                  <a:srgbClr val="D4A24C"/>
                </a:solidFill>
              </a:rPr>
              <a:t>04</a:t>
            </a:r>
            <a:endParaRPr lang="en-US" sz="1400" dirty="0"/>
          </a:p>
        </p:txBody>
      </p:sp>
      <p:sp>
        <p:nvSpPr>
          <p:cNvPr id="21" name="Text 19"/>
          <p:cNvSpPr/>
          <p:nvPr/>
        </p:nvSpPr>
        <p:spPr>
          <a:xfrm>
            <a:off x="1463040" y="3145536"/>
            <a:ext cx="10180015" cy="438912"/>
          </a:xfrm>
          <a:prstGeom prst="rect">
            <a:avLst/>
          </a:prstGeom>
          <a:noFill/>
          <a:ln/>
        </p:spPr>
        <p:txBody>
          <a:bodyPr wrap="square" rtlCol="0" anchor="ctr"/>
          <a:lstStyle/>
          <a:p>
            <a:pPr indent="0" marL="0">
              <a:buNone/>
            </a:pPr>
            <a:r>
              <a:rPr lang="en-US" sz="1800" dirty="0">
                <a:solidFill>
                  <a:srgbClr val="0F2A4A"/>
                </a:solidFill>
              </a:rPr>
              <a:t>Predynastic Period · 前王朝时期</a:t>
            </a:r>
            <a:endParaRPr lang="en-US" sz="1800" dirty="0"/>
          </a:p>
        </p:txBody>
      </p:sp>
      <p:sp>
        <p:nvSpPr>
          <p:cNvPr id="22" name="Shape 20"/>
          <p:cNvSpPr/>
          <p:nvPr/>
        </p:nvSpPr>
        <p:spPr>
          <a:xfrm>
            <a:off x="1463040" y="3566160"/>
            <a:ext cx="8229600" cy="0"/>
          </a:xfrm>
          <a:prstGeom prst="line">
            <a:avLst/>
          </a:prstGeom>
          <a:noFill/>
          <a:ln w="6350">
            <a:solidFill>
              <a:srgbClr val="E8D5A8"/>
            </a:solidFill>
            <a:prstDash val="solid"/>
          </a:ln>
        </p:spPr>
      </p:sp>
      <p:sp>
        <p:nvSpPr>
          <p:cNvPr id="23" name="Shape 21"/>
          <p:cNvSpPr/>
          <p:nvPr/>
        </p:nvSpPr>
        <p:spPr>
          <a:xfrm>
            <a:off x="777240" y="3621024"/>
            <a:ext cx="548640" cy="365760"/>
          </a:xfrm>
          <a:prstGeom prst="rect">
            <a:avLst/>
          </a:prstGeom>
          <a:solidFill>
            <a:srgbClr val="0F2A4A"/>
          </a:solidFill>
          <a:ln w="12700">
            <a:solidFill>
              <a:srgbClr val="D4A24C"/>
            </a:solidFill>
            <a:prstDash val="solid"/>
          </a:ln>
        </p:spPr>
      </p:sp>
      <p:sp>
        <p:nvSpPr>
          <p:cNvPr id="24" name="Text 22"/>
          <p:cNvSpPr/>
          <p:nvPr/>
        </p:nvSpPr>
        <p:spPr>
          <a:xfrm>
            <a:off x="777240" y="3621024"/>
            <a:ext cx="548640" cy="365760"/>
          </a:xfrm>
          <a:prstGeom prst="rect">
            <a:avLst/>
          </a:prstGeom>
          <a:noFill/>
          <a:ln/>
        </p:spPr>
        <p:txBody>
          <a:bodyPr wrap="square" rtlCol="0" anchor="ctr"/>
          <a:lstStyle/>
          <a:p>
            <a:pPr algn="ctr" indent="0" marL="0">
              <a:buNone/>
            </a:pPr>
            <a:r>
              <a:rPr lang="en-US" sz="1400" b="1" dirty="0">
                <a:solidFill>
                  <a:srgbClr val="D4A24C"/>
                </a:solidFill>
              </a:rPr>
              <a:t>05</a:t>
            </a:r>
            <a:endParaRPr lang="en-US" sz="1400" dirty="0"/>
          </a:p>
        </p:txBody>
      </p:sp>
      <p:sp>
        <p:nvSpPr>
          <p:cNvPr id="25" name="Text 23"/>
          <p:cNvSpPr/>
          <p:nvPr/>
        </p:nvSpPr>
        <p:spPr>
          <a:xfrm>
            <a:off x="1463040" y="3584448"/>
            <a:ext cx="10180015" cy="438912"/>
          </a:xfrm>
          <a:prstGeom prst="rect">
            <a:avLst/>
          </a:prstGeom>
          <a:noFill/>
          <a:ln/>
        </p:spPr>
        <p:txBody>
          <a:bodyPr wrap="square" rtlCol="0" anchor="ctr"/>
          <a:lstStyle/>
          <a:p>
            <a:pPr indent="0" marL="0">
              <a:buNone/>
            </a:pPr>
            <a:r>
              <a:rPr lang="en-US" sz="1800" dirty="0">
                <a:solidFill>
                  <a:srgbClr val="0F2A4A"/>
                </a:solidFill>
              </a:rPr>
              <a:t>Old Kingdom · 古王国 — 金字塔时代</a:t>
            </a:r>
            <a:endParaRPr lang="en-US" sz="1800" dirty="0"/>
          </a:p>
        </p:txBody>
      </p:sp>
      <p:sp>
        <p:nvSpPr>
          <p:cNvPr id="26" name="Shape 24"/>
          <p:cNvSpPr/>
          <p:nvPr/>
        </p:nvSpPr>
        <p:spPr>
          <a:xfrm>
            <a:off x="1463040" y="4005072"/>
            <a:ext cx="8229600" cy="0"/>
          </a:xfrm>
          <a:prstGeom prst="line">
            <a:avLst/>
          </a:prstGeom>
          <a:noFill/>
          <a:ln w="6350">
            <a:solidFill>
              <a:srgbClr val="E8D5A8"/>
            </a:solidFill>
            <a:prstDash val="solid"/>
          </a:ln>
        </p:spPr>
      </p:sp>
      <p:sp>
        <p:nvSpPr>
          <p:cNvPr id="27" name="Shape 25"/>
          <p:cNvSpPr/>
          <p:nvPr/>
        </p:nvSpPr>
        <p:spPr>
          <a:xfrm>
            <a:off x="777240" y="4059936"/>
            <a:ext cx="548640" cy="365760"/>
          </a:xfrm>
          <a:prstGeom prst="rect">
            <a:avLst/>
          </a:prstGeom>
          <a:solidFill>
            <a:srgbClr val="0F2A4A"/>
          </a:solidFill>
          <a:ln w="12700">
            <a:solidFill>
              <a:srgbClr val="D4A24C"/>
            </a:solidFill>
            <a:prstDash val="solid"/>
          </a:ln>
        </p:spPr>
      </p:sp>
      <p:sp>
        <p:nvSpPr>
          <p:cNvPr id="28" name="Text 26"/>
          <p:cNvSpPr/>
          <p:nvPr/>
        </p:nvSpPr>
        <p:spPr>
          <a:xfrm>
            <a:off x="777240" y="4059936"/>
            <a:ext cx="548640" cy="365760"/>
          </a:xfrm>
          <a:prstGeom prst="rect">
            <a:avLst/>
          </a:prstGeom>
          <a:noFill/>
          <a:ln/>
        </p:spPr>
        <p:txBody>
          <a:bodyPr wrap="square" rtlCol="0" anchor="ctr"/>
          <a:lstStyle/>
          <a:p>
            <a:pPr algn="ctr" indent="0" marL="0">
              <a:buNone/>
            </a:pPr>
            <a:r>
              <a:rPr lang="en-US" sz="1400" b="1" dirty="0">
                <a:solidFill>
                  <a:srgbClr val="D4A24C"/>
                </a:solidFill>
              </a:rPr>
              <a:t>06</a:t>
            </a:r>
            <a:endParaRPr lang="en-US" sz="1400" dirty="0"/>
          </a:p>
        </p:txBody>
      </p:sp>
      <p:sp>
        <p:nvSpPr>
          <p:cNvPr id="29" name="Text 27"/>
          <p:cNvSpPr/>
          <p:nvPr/>
        </p:nvSpPr>
        <p:spPr>
          <a:xfrm>
            <a:off x="1463040" y="4023360"/>
            <a:ext cx="10180015" cy="438912"/>
          </a:xfrm>
          <a:prstGeom prst="rect">
            <a:avLst/>
          </a:prstGeom>
          <a:noFill/>
          <a:ln/>
        </p:spPr>
        <p:txBody>
          <a:bodyPr wrap="square" rtlCol="0" anchor="ctr"/>
          <a:lstStyle/>
          <a:p>
            <a:pPr indent="0" marL="0">
              <a:buNone/>
            </a:pPr>
            <a:r>
              <a:rPr lang="en-US" sz="1800" dirty="0">
                <a:solidFill>
                  <a:srgbClr val="0F2A4A"/>
                </a:solidFill>
              </a:rPr>
              <a:t>Middle &amp; New Kingdoms · 中王国与新王国</a:t>
            </a:r>
            <a:endParaRPr lang="en-US" sz="1800" dirty="0"/>
          </a:p>
        </p:txBody>
      </p:sp>
      <p:sp>
        <p:nvSpPr>
          <p:cNvPr id="30" name="Shape 28"/>
          <p:cNvSpPr/>
          <p:nvPr/>
        </p:nvSpPr>
        <p:spPr>
          <a:xfrm>
            <a:off x="1463040" y="4443984"/>
            <a:ext cx="8229600" cy="0"/>
          </a:xfrm>
          <a:prstGeom prst="line">
            <a:avLst/>
          </a:prstGeom>
          <a:noFill/>
          <a:ln w="6350">
            <a:solidFill>
              <a:srgbClr val="E8D5A8"/>
            </a:solidFill>
            <a:prstDash val="solid"/>
          </a:ln>
        </p:spPr>
      </p:sp>
      <p:sp>
        <p:nvSpPr>
          <p:cNvPr id="31" name="Shape 29"/>
          <p:cNvSpPr/>
          <p:nvPr/>
        </p:nvSpPr>
        <p:spPr>
          <a:xfrm>
            <a:off x="777240" y="4498848"/>
            <a:ext cx="548640" cy="365760"/>
          </a:xfrm>
          <a:prstGeom prst="rect">
            <a:avLst/>
          </a:prstGeom>
          <a:solidFill>
            <a:srgbClr val="0F2A4A"/>
          </a:solidFill>
          <a:ln w="12700">
            <a:solidFill>
              <a:srgbClr val="D4A24C"/>
            </a:solidFill>
            <a:prstDash val="solid"/>
          </a:ln>
        </p:spPr>
      </p:sp>
      <p:sp>
        <p:nvSpPr>
          <p:cNvPr id="32" name="Text 30"/>
          <p:cNvSpPr/>
          <p:nvPr/>
        </p:nvSpPr>
        <p:spPr>
          <a:xfrm>
            <a:off x="777240" y="4498848"/>
            <a:ext cx="548640" cy="365760"/>
          </a:xfrm>
          <a:prstGeom prst="rect">
            <a:avLst/>
          </a:prstGeom>
          <a:noFill/>
          <a:ln/>
        </p:spPr>
        <p:txBody>
          <a:bodyPr wrap="square" rtlCol="0" anchor="ctr"/>
          <a:lstStyle/>
          <a:p>
            <a:pPr algn="ctr" indent="0" marL="0">
              <a:buNone/>
            </a:pPr>
            <a:r>
              <a:rPr lang="en-US" sz="1400" b="1" dirty="0">
                <a:solidFill>
                  <a:srgbClr val="D4A24C"/>
                </a:solidFill>
              </a:rPr>
              <a:t>07</a:t>
            </a:r>
            <a:endParaRPr lang="en-US" sz="1400" dirty="0"/>
          </a:p>
        </p:txBody>
      </p:sp>
      <p:sp>
        <p:nvSpPr>
          <p:cNvPr id="33" name="Text 31"/>
          <p:cNvSpPr/>
          <p:nvPr/>
        </p:nvSpPr>
        <p:spPr>
          <a:xfrm>
            <a:off x="1463040" y="4462272"/>
            <a:ext cx="10180015" cy="438912"/>
          </a:xfrm>
          <a:prstGeom prst="rect">
            <a:avLst/>
          </a:prstGeom>
          <a:noFill/>
          <a:ln/>
        </p:spPr>
        <p:txBody>
          <a:bodyPr wrap="square" rtlCol="0" anchor="ctr"/>
          <a:lstStyle/>
          <a:p>
            <a:pPr indent="0" marL="0">
              <a:buNone/>
            </a:pPr>
            <a:r>
              <a:rPr lang="en-US" sz="1800" dirty="0">
                <a:solidFill>
                  <a:srgbClr val="0F2A4A"/>
                </a:solidFill>
              </a:rPr>
              <a:t>Religion &amp; Gods · 宗教与诸神</a:t>
            </a:r>
            <a:endParaRPr lang="en-US" sz="1800" dirty="0"/>
          </a:p>
        </p:txBody>
      </p:sp>
      <p:sp>
        <p:nvSpPr>
          <p:cNvPr id="34" name="Shape 32"/>
          <p:cNvSpPr/>
          <p:nvPr/>
        </p:nvSpPr>
        <p:spPr>
          <a:xfrm>
            <a:off x="1463040" y="4882896"/>
            <a:ext cx="8229600" cy="0"/>
          </a:xfrm>
          <a:prstGeom prst="line">
            <a:avLst/>
          </a:prstGeom>
          <a:noFill/>
          <a:ln w="6350">
            <a:solidFill>
              <a:srgbClr val="E8D5A8"/>
            </a:solidFill>
            <a:prstDash val="solid"/>
          </a:ln>
        </p:spPr>
      </p:sp>
      <p:sp>
        <p:nvSpPr>
          <p:cNvPr id="35" name="Shape 33"/>
          <p:cNvSpPr/>
          <p:nvPr/>
        </p:nvSpPr>
        <p:spPr>
          <a:xfrm>
            <a:off x="777240" y="4937760"/>
            <a:ext cx="548640" cy="365760"/>
          </a:xfrm>
          <a:prstGeom prst="rect">
            <a:avLst/>
          </a:prstGeom>
          <a:solidFill>
            <a:srgbClr val="0F2A4A"/>
          </a:solidFill>
          <a:ln w="12700">
            <a:solidFill>
              <a:srgbClr val="D4A24C"/>
            </a:solidFill>
            <a:prstDash val="solid"/>
          </a:ln>
        </p:spPr>
      </p:sp>
      <p:sp>
        <p:nvSpPr>
          <p:cNvPr id="36" name="Text 34"/>
          <p:cNvSpPr/>
          <p:nvPr/>
        </p:nvSpPr>
        <p:spPr>
          <a:xfrm>
            <a:off x="777240" y="4937760"/>
            <a:ext cx="548640" cy="365760"/>
          </a:xfrm>
          <a:prstGeom prst="rect">
            <a:avLst/>
          </a:prstGeom>
          <a:noFill/>
          <a:ln/>
        </p:spPr>
        <p:txBody>
          <a:bodyPr wrap="square" rtlCol="0" anchor="ctr"/>
          <a:lstStyle/>
          <a:p>
            <a:pPr algn="ctr" indent="0" marL="0">
              <a:buNone/>
            </a:pPr>
            <a:r>
              <a:rPr lang="en-US" sz="1400" b="1" dirty="0">
                <a:solidFill>
                  <a:srgbClr val="D4A24C"/>
                </a:solidFill>
              </a:rPr>
              <a:t>08</a:t>
            </a:r>
            <a:endParaRPr lang="en-US" sz="1400" dirty="0"/>
          </a:p>
        </p:txBody>
      </p:sp>
      <p:sp>
        <p:nvSpPr>
          <p:cNvPr id="37" name="Text 35"/>
          <p:cNvSpPr/>
          <p:nvPr/>
        </p:nvSpPr>
        <p:spPr>
          <a:xfrm>
            <a:off x="1463040" y="4901184"/>
            <a:ext cx="10180015" cy="438912"/>
          </a:xfrm>
          <a:prstGeom prst="rect">
            <a:avLst/>
          </a:prstGeom>
          <a:noFill/>
          <a:ln/>
        </p:spPr>
        <p:txBody>
          <a:bodyPr wrap="square" rtlCol="0" anchor="ctr"/>
          <a:lstStyle/>
          <a:p>
            <a:pPr indent="0" marL="0">
              <a:buNone/>
            </a:pPr>
            <a:r>
              <a:rPr lang="en-US" sz="1800" dirty="0">
                <a:solidFill>
                  <a:srgbClr val="0F2A4A"/>
                </a:solidFill>
              </a:rPr>
              <a:t>Writing &amp; Mathematics · 文字与数学</a:t>
            </a:r>
            <a:endParaRPr lang="en-US" sz="1800" dirty="0"/>
          </a:p>
        </p:txBody>
      </p:sp>
      <p:sp>
        <p:nvSpPr>
          <p:cNvPr id="38" name="Shape 36"/>
          <p:cNvSpPr/>
          <p:nvPr/>
        </p:nvSpPr>
        <p:spPr>
          <a:xfrm>
            <a:off x="1463040" y="5321808"/>
            <a:ext cx="8229600" cy="0"/>
          </a:xfrm>
          <a:prstGeom prst="line">
            <a:avLst/>
          </a:prstGeom>
          <a:noFill/>
          <a:ln w="6350">
            <a:solidFill>
              <a:srgbClr val="E8D5A8"/>
            </a:solidFill>
            <a:prstDash val="solid"/>
          </a:ln>
        </p:spPr>
      </p:sp>
      <p:sp>
        <p:nvSpPr>
          <p:cNvPr id="39" name="Shape 37"/>
          <p:cNvSpPr/>
          <p:nvPr/>
        </p:nvSpPr>
        <p:spPr>
          <a:xfrm>
            <a:off x="777240" y="5376672"/>
            <a:ext cx="548640" cy="365760"/>
          </a:xfrm>
          <a:prstGeom prst="rect">
            <a:avLst/>
          </a:prstGeom>
          <a:solidFill>
            <a:srgbClr val="0F2A4A"/>
          </a:solidFill>
          <a:ln w="12700">
            <a:solidFill>
              <a:srgbClr val="D4A24C"/>
            </a:solidFill>
            <a:prstDash val="solid"/>
          </a:ln>
        </p:spPr>
      </p:sp>
      <p:sp>
        <p:nvSpPr>
          <p:cNvPr id="40" name="Text 38"/>
          <p:cNvSpPr/>
          <p:nvPr/>
        </p:nvSpPr>
        <p:spPr>
          <a:xfrm>
            <a:off x="777240" y="5376672"/>
            <a:ext cx="548640" cy="365760"/>
          </a:xfrm>
          <a:prstGeom prst="rect">
            <a:avLst/>
          </a:prstGeom>
          <a:noFill/>
          <a:ln/>
        </p:spPr>
        <p:txBody>
          <a:bodyPr wrap="square" rtlCol="0" anchor="ctr"/>
          <a:lstStyle/>
          <a:p>
            <a:pPr algn="ctr" indent="0" marL="0">
              <a:buNone/>
            </a:pPr>
            <a:r>
              <a:rPr lang="en-US" sz="1400" b="1" dirty="0">
                <a:solidFill>
                  <a:srgbClr val="D4A24C"/>
                </a:solidFill>
              </a:rPr>
              <a:t>09</a:t>
            </a:r>
            <a:endParaRPr lang="en-US" sz="1400" dirty="0"/>
          </a:p>
        </p:txBody>
      </p:sp>
      <p:sp>
        <p:nvSpPr>
          <p:cNvPr id="41" name="Text 39"/>
          <p:cNvSpPr/>
          <p:nvPr/>
        </p:nvSpPr>
        <p:spPr>
          <a:xfrm>
            <a:off x="1463040" y="5340096"/>
            <a:ext cx="10180015" cy="438912"/>
          </a:xfrm>
          <a:prstGeom prst="rect">
            <a:avLst/>
          </a:prstGeom>
          <a:noFill/>
          <a:ln/>
        </p:spPr>
        <p:txBody>
          <a:bodyPr wrap="square" rtlCol="0" anchor="ctr"/>
          <a:lstStyle/>
          <a:p>
            <a:pPr indent="0" marL="0">
              <a:buNone/>
            </a:pPr>
            <a:r>
              <a:rPr lang="en-US" sz="1800" dirty="0">
                <a:solidFill>
                  <a:srgbClr val="0F2A4A"/>
                </a:solidFill>
              </a:rPr>
              <a:t>Architecture &amp; Art · 建筑与艺术</a:t>
            </a:r>
            <a:endParaRPr lang="en-US" sz="1800" dirty="0"/>
          </a:p>
        </p:txBody>
      </p:sp>
      <p:sp>
        <p:nvSpPr>
          <p:cNvPr id="42" name="Shape 40"/>
          <p:cNvSpPr/>
          <p:nvPr/>
        </p:nvSpPr>
        <p:spPr>
          <a:xfrm>
            <a:off x="1463040" y="5760720"/>
            <a:ext cx="8229600" cy="0"/>
          </a:xfrm>
          <a:prstGeom prst="line">
            <a:avLst/>
          </a:prstGeom>
          <a:noFill/>
          <a:ln w="6350">
            <a:solidFill>
              <a:srgbClr val="E8D5A8"/>
            </a:solidFill>
            <a:prstDash val="solid"/>
          </a:ln>
        </p:spPr>
      </p:sp>
      <p:sp>
        <p:nvSpPr>
          <p:cNvPr id="43" name="Shape 41"/>
          <p:cNvSpPr/>
          <p:nvPr/>
        </p:nvSpPr>
        <p:spPr>
          <a:xfrm>
            <a:off x="777240" y="5815584"/>
            <a:ext cx="548640" cy="365760"/>
          </a:xfrm>
          <a:prstGeom prst="rect">
            <a:avLst/>
          </a:prstGeom>
          <a:solidFill>
            <a:srgbClr val="0F2A4A"/>
          </a:solidFill>
          <a:ln w="12700">
            <a:solidFill>
              <a:srgbClr val="D4A24C"/>
            </a:solidFill>
            <a:prstDash val="solid"/>
          </a:ln>
        </p:spPr>
      </p:sp>
      <p:sp>
        <p:nvSpPr>
          <p:cNvPr id="44" name="Text 42"/>
          <p:cNvSpPr/>
          <p:nvPr/>
        </p:nvSpPr>
        <p:spPr>
          <a:xfrm>
            <a:off x="777240" y="5815584"/>
            <a:ext cx="548640" cy="365760"/>
          </a:xfrm>
          <a:prstGeom prst="rect">
            <a:avLst/>
          </a:prstGeom>
          <a:noFill/>
          <a:ln/>
        </p:spPr>
        <p:txBody>
          <a:bodyPr wrap="square" rtlCol="0" anchor="ctr"/>
          <a:lstStyle/>
          <a:p>
            <a:pPr algn="ctr" indent="0" marL="0">
              <a:buNone/>
            </a:pPr>
            <a:r>
              <a:rPr lang="en-US" sz="1400" b="1" dirty="0">
                <a:solidFill>
                  <a:srgbClr val="D4A24C"/>
                </a:solidFill>
              </a:rPr>
              <a:t>10</a:t>
            </a:r>
            <a:endParaRPr lang="en-US" sz="1400" dirty="0"/>
          </a:p>
        </p:txBody>
      </p:sp>
      <p:sp>
        <p:nvSpPr>
          <p:cNvPr id="45" name="Text 43"/>
          <p:cNvSpPr/>
          <p:nvPr/>
        </p:nvSpPr>
        <p:spPr>
          <a:xfrm>
            <a:off x="1463040" y="5779008"/>
            <a:ext cx="10180015" cy="438912"/>
          </a:xfrm>
          <a:prstGeom prst="rect">
            <a:avLst/>
          </a:prstGeom>
          <a:noFill/>
          <a:ln/>
        </p:spPr>
        <p:txBody>
          <a:bodyPr wrap="square" rtlCol="0" anchor="ctr"/>
          <a:lstStyle/>
          <a:p>
            <a:pPr indent="0" marL="0">
              <a:buNone/>
            </a:pPr>
            <a:r>
              <a:rPr lang="en-US" sz="1800" dirty="0">
                <a:solidFill>
                  <a:srgbClr val="0F2A4A"/>
                </a:solidFill>
              </a:rPr>
              <a:t>Achievements &amp; Legacy · 成就与遗产</a:t>
            </a:r>
            <a:endParaRPr lang="en-US" sz="1800" dirty="0"/>
          </a:p>
        </p:txBody>
      </p:sp>
      <p:pic>
        <p:nvPicPr>
          <p:cNvPr id="46" name="Image 0" descr="C:\Users\18367\Desktop\test\web-app-test\runtime\artifacts\chat_e26d2b322fed\document-assets\download-Ankh,_Djed_&amp;_Was.png">    </p:cNvPr>
          <p:cNvPicPr>
            <a:picLocks noChangeAspect="1"/>
          </p:cNvPicPr>
          <p:nvPr/>
        </p:nvPicPr>
        <p:blipFill>
          <a:blip r:embed="rId1"/>
          <a:stretch>
            <a:fillRect/>
          </a:stretch>
        </p:blipFill>
        <p:spPr>
          <a:xfrm>
            <a:off x="9448495" y="1737360"/>
            <a:ext cx="2194560" cy="1828800"/>
          </a:xfrm>
          <a:prstGeom prst="rect">
            <a:avLst/>
          </a:prstGeom>
        </p:spPr>
      </p:pic>
      <p:sp>
        <p:nvSpPr>
          <p:cNvPr id="47" name="Text 44"/>
          <p:cNvSpPr/>
          <p:nvPr/>
        </p:nvSpPr>
        <p:spPr>
          <a:xfrm>
            <a:off x="9265615" y="3657600"/>
            <a:ext cx="2560320" cy="731520"/>
          </a:xfrm>
          <a:prstGeom prst="rect">
            <a:avLst/>
          </a:prstGeom>
          <a:noFill/>
          <a:ln/>
        </p:spPr>
        <p:txBody>
          <a:bodyPr wrap="square" rtlCol="0" anchor="ctr"/>
          <a:lstStyle/>
          <a:p>
            <a:pPr algn="ctr" indent="0" marL="0">
              <a:buNone/>
            </a:pPr>
            <a:r>
              <a:rPr lang="en-US" sz="1200" i="1" dirty="0">
                <a:solidFill>
                  <a:srgbClr val="B8860B"/>
                </a:solidFill>
                <a:latin typeface="Microsoft YaHei" pitchFamily="34" charset="0"/>
                <a:ea typeface="Microsoft YaHei" pitchFamily="34" charset="-122"/>
                <a:cs typeface="Microsoft YaHei" pitchFamily="34" charset="-120"/>
              </a:rPr>
              <a:t>The Three Sacred Symbols</a:t>
            </a:r>
            <a:endParaRPr lang="en-US" sz="1200" dirty="0"/>
          </a:p>
          <a:p>
            <a:pPr algn="ctr" indent="0" marL="0">
              <a:buNone/>
            </a:pPr>
            <a:r>
              <a:rPr lang="en-US" sz="1200" i="1" dirty="0">
                <a:solidFill>
                  <a:srgbClr val="B8860B"/>
                </a:solidFill>
                <a:latin typeface="Microsoft YaHei" pitchFamily="34" charset="0"/>
                <a:ea typeface="Microsoft YaHei" pitchFamily="34" charset="-122"/>
                <a:cs typeface="Microsoft YaHei" pitchFamily="34" charset="-120"/>
              </a:rPr>
              <a:t>生命 · 稳定 · 力量</a:t>
            </a:r>
            <a:endParaRPr lang="en-US" sz="1200" dirty="0"/>
          </a:p>
        </p:txBody>
      </p:sp>
      <p:sp>
        <p:nvSpPr>
          <p:cNvPr id="48" name="Shape 45"/>
          <p:cNvSpPr/>
          <p:nvPr/>
        </p:nvSpPr>
        <p:spPr>
          <a:xfrm>
            <a:off x="0" y="6537960"/>
            <a:ext cx="12191695" cy="320040"/>
          </a:xfrm>
          <a:prstGeom prst="rect">
            <a:avLst/>
          </a:prstGeom>
          <a:solidFill>
            <a:srgbClr val="0F2A4A"/>
          </a:solidFill>
          <a:ln w="12700">
            <a:solidFill>
              <a:srgbClr val="0F2A4A"/>
            </a:solidFill>
            <a:prstDash val="solid"/>
          </a:ln>
        </p:spPr>
      </p:sp>
      <p:sp>
        <p:nvSpPr>
          <p:cNvPr id="49" name="Text 46"/>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CONTENTS · 目录</a:t>
            </a:r>
            <a:endParaRPr lang="en-US" sz="900" dirty="0"/>
          </a:p>
        </p:txBody>
      </p:sp>
      <p:sp>
        <p:nvSpPr>
          <p:cNvPr id="50" name="Text 47"/>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9"/>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F2A4A"/>
          </a:solidFill>
          <a:ln w="12700">
            <a:solidFill>
              <a:srgbClr val="0F2A4A"/>
            </a:solidFill>
            <a:prstDash val="solid"/>
          </a:ln>
        </p:spPr>
      </p:sp>
      <p:sp>
        <p:nvSpPr>
          <p:cNvPr id="3" name="Shape 1"/>
          <p:cNvSpPr/>
          <p:nvPr/>
        </p:nvSpPr>
        <p:spPr>
          <a:xfrm>
            <a:off x="457200" y="0"/>
            <a:ext cx="73152" cy="6858000"/>
          </a:xfrm>
          <a:prstGeom prst="rect">
            <a:avLst/>
          </a:prstGeom>
          <a:solidFill>
            <a:srgbClr val="D4A24C"/>
          </a:solidFill>
          <a:ln w="12700">
            <a:solidFill>
              <a:srgbClr val="D4A24C"/>
            </a:solidFill>
            <a:prstDash val="solid"/>
          </a:ln>
        </p:spPr>
      </p:sp>
      <p:sp>
        <p:nvSpPr>
          <p:cNvPr id="4" name="Text 2"/>
          <p:cNvSpPr/>
          <p:nvPr/>
        </p:nvSpPr>
        <p:spPr>
          <a:xfrm>
            <a:off x="822960" y="365760"/>
            <a:ext cx="5486400" cy="320040"/>
          </a:xfrm>
          <a:prstGeom prst="rect">
            <a:avLst/>
          </a:prstGeom>
          <a:noFill/>
          <a:ln/>
        </p:spPr>
        <p:txBody>
          <a:bodyPr wrap="square" rtlCol="0" anchor="ctr"/>
          <a:lstStyle/>
          <a:p>
            <a:pPr indent="0" marL="0">
              <a:buNone/>
            </a:pPr>
            <a:r>
              <a:rPr lang="en-US" sz="1100" b="1" spc="1200" kern="0" dirty="0">
                <a:solidFill>
                  <a:srgbClr val="B8860B"/>
                </a:solidFill>
              </a:rPr>
              <a:t>01 · OVERVIEW</a:t>
            </a:r>
            <a:endParaRPr lang="en-US" sz="1100" dirty="0"/>
          </a:p>
        </p:txBody>
      </p:sp>
      <p:sp>
        <p:nvSpPr>
          <p:cNvPr id="5" name="Text 3"/>
          <p:cNvSpPr/>
          <p:nvPr/>
        </p:nvSpPr>
        <p:spPr>
          <a:xfrm>
            <a:off x="822960" y="685800"/>
            <a:ext cx="7315200" cy="640080"/>
          </a:xfrm>
          <a:prstGeom prst="rect">
            <a:avLst/>
          </a:prstGeom>
          <a:noFill/>
          <a:ln/>
        </p:spPr>
        <p:txBody>
          <a:bodyPr wrap="square" rtlCol="0" anchor="ctr"/>
          <a:lstStyle/>
          <a:p>
            <a:pPr indent="0" marL="0">
              <a:buNone/>
            </a:pPr>
            <a:r>
              <a:rPr lang="en-US" sz="3600" b="1" dirty="0">
                <a:solidFill>
                  <a:srgbClr val="0F2A4A"/>
                </a:solidFill>
                <a:latin typeface="Microsoft YaHei" pitchFamily="34" charset="0"/>
                <a:ea typeface="Microsoft YaHei" pitchFamily="34" charset="-122"/>
                <a:cs typeface="Microsoft YaHei" pitchFamily="34" charset="-120"/>
              </a:rPr>
              <a:t>文 明 概 述</a:t>
            </a:r>
            <a:endParaRPr lang="en-US" sz="3600" dirty="0"/>
          </a:p>
        </p:txBody>
      </p:sp>
      <p:sp>
        <p:nvSpPr>
          <p:cNvPr id="6" name="Shape 4"/>
          <p:cNvSpPr/>
          <p:nvPr/>
        </p:nvSpPr>
        <p:spPr>
          <a:xfrm>
            <a:off x="822960" y="1417320"/>
            <a:ext cx="1097280" cy="0"/>
          </a:xfrm>
          <a:prstGeom prst="line">
            <a:avLst/>
          </a:prstGeom>
          <a:noFill/>
          <a:ln w="31750">
            <a:solidFill>
              <a:srgbClr val="D4A24C"/>
            </a:solidFill>
            <a:prstDash val="solid"/>
          </a:ln>
        </p:spPr>
      </p:sp>
      <p:sp>
        <p:nvSpPr>
          <p:cNvPr id="7" name="Text 5"/>
          <p:cNvSpPr/>
          <p:nvPr/>
        </p:nvSpPr>
        <p:spPr>
          <a:xfrm>
            <a:off x="822960" y="1691640"/>
            <a:ext cx="5943600" cy="1371600"/>
          </a:xfrm>
          <a:prstGeom prst="rect">
            <a:avLst/>
          </a:prstGeom>
          <a:noFill/>
          <a:ln/>
        </p:spPr>
        <p:txBody>
          <a:bodyPr wrap="square" rtlCol="0" anchor="ctr"/>
          <a:lstStyle/>
          <a:p>
            <a:pPr indent="0" marL="0">
              <a:lnSpc>
                <a:spcPct val="130000"/>
              </a:lnSpc>
              <a:spcAft>
                <a:spcPts val="600"/>
              </a:spcAft>
              <a:buNone/>
            </a:pPr>
            <a:r>
              <a:rPr lang="en-US" sz="1400" dirty="0">
                <a:solidFill>
                  <a:srgbClr val="1A1A1A"/>
                </a:solidFill>
                <a:latin typeface="Microsoft YaHei" pitchFamily="34" charset="0"/>
                <a:ea typeface="Microsoft YaHei" pitchFamily="34" charset="-122"/>
                <a:cs typeface="Microsoft YaHei" pitchFamily="34" charset="-120"/>
              </a:rPr>
              <a:t>古埃及是沿尼罗河下游兴起的伟大文明，是人类早期最重要的文明摇篮之一。从公元前约3150年由美尼斯统一上下埃及，到公元前30年托勒密王朝被罗马吞并，古埃及延续了逾三千年的辉煌历史。</a:t>
            </a:r>
            <a:endParaRPr lang="en-US" sz="1400" dirty="0"/>
          </a:p>
        </p:txBody>
      </p:sp>
      <p:sp>
        <p:nvSpPr>
          <p:cNvPr id="8" name="Text 6"/>
          <p:cNvSpPr/>
          <p:nvPr/>
        </p:nvSpPr>
        <p:spPr>
          <a:xfrm>
            <a:off x="822960" y="3108960"/>
            <a:ext cx="5943600" cy="1463040"/>
          </a:xfrm>
          <a:prstGeom prst="rect">
            <a:avLst/>
          </a:prstGeom>
          <a:noFill/>
          <a:ln/>
        </p:spPr>
        <p:txBody>
          <a:bodyPr wrap="square" rtlCol="0" anchor="ctr"/>
          <a:lstStyle/>
          <a:p>
            <a:pPr indent="0" marL="0">
              <a:lnSpc>
                <a:spcPct val="130000"/>
              </a:lnSpc>
              <a:buNone/>
            </a:pPr>
            <a:r>
              <a:rPr lang="en-US" sz="1300" i="1" dirty="0">
                <a:solidFill>
                  <a:srgbClr val="1B3A5C"/>
                </a:solidFill>
              </a:rPr>
              <a:t>Ancient Egypt emerged as one of the world's earliest and most enduring civilizations, flourishing for more than three millennia along the fertile banks of the Nile River. It unified Upper and Lower Egypt under the first pharaoh and gave rise to monumental architecture, sophisticated writing, advanced mathematics, and a complex religious worldview.</a:t>
            </a:r>
            <a:endParaRPr lang="en-US" sz="1300" dirty="0"/>
          </a:p>
        </p:txBody>
      </p:sp>
      <p:sp>
        <p:nvSpPr>
          <p:cNvPr id="9" name="Shape 7"/>
          <p:cNvSpPr/>
          <p:nvPr/>
        </p:nvSpPr>
        <p:spPr>
          <a:xfrm>
            <a:off x="822960" y="4846320"/>
            <a:ext cx="1874520" cy="1325880"/>
          </a:xfrm>
          <a:prstGeom prst="rect">
            <a:avLst/>
          </a:prstGeom>
          <a:solidFill>
            <a:srgbClr val="0F2A4A"/>
          </a:solidFill>
          <a:ln w="12700">
            <a:solidFill>
              <a:srgbClr val="0F2A4A"/>
            </a:solidFill>
            <a:prstDash val="solid"/>
          </a:ln>
        </p:spPr>
      </p:sp>
      <p:sp>
        <p:nvSpPr>
          <p:cNvPr id="10" name="Text 8"/>
          <p:cNvSpPr/>
          <p:nvPr/>
        </p:nvSpPr>
        <p:spPr>
          <a:xfrm>
            <a:off x="822960" y="4937760"/>
            <a:ext cx="1874520" cy="640080"/>
          </a:xfrm>
          <a:prstGeom prst="rect">
            <a:avLst/>
          </a:prstGeom>
          <a:noFill/>
          <a:ln/>
        </p:spPr>
        <p:txBody>
          <a:bodyPr wrap="square" rtlCol="0" anchor="ctr"/>
          <a:lstStyle/>
          <a:p>
            <a:pPr algn="ctr" indent="0" marL="0">
              <a:buNone/>
            </a:pPr>
            <a:r>
              <a:rPr lang="en-US" sz="3200" b="1" dirty="0">
                <a:solidFill>
                  <a:srgbClr val="E8C77A"/>
                </a:solidFill>
              </a:rPr>
              <a:t>3000+</a:t>
            </a:r>
            <a:endParaRPr lang="en-US" sz="3200" dirty="0"/>
          </a:p>
        </p:txBody>
      </p:sp>
      <p:sp>
        <p:nvSpPr>
          <p:cNvPr id="11" name="Text 9"/>
          <p:cNvSpPr/>
          <p:nvPr/>
        </p:nvSpPr>
        <p:spPr>
          <a:xfrm>
            <a:off x="822960" y="5532120"/>
            <a:ext cx="1874520" cy="594360"/>
          </a:xfrm>
          <a:prstGeom prst="rect">
            <a:avLst/>
          </a:prstGeom>
          <a:noFill/>
          <a:ln/>
        </p:spPr>
        <p:txBody>
          <a:bodyPr wrap="square" rtlCol="0" anchor="t"/>
          <a:lstStyle/>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Years of Civilization</a:t>
            </a:r>
            <a:endParaRPr lang="en-US" sz="900" dirty="0"/>
          </a:p>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文明存续年数</a:t>
            </a:r>
            <a:endParaRPr lang="en-US" sz="900" dirty="0"/>
          </a:p>
        </p:txBody>
      </p:sp>
      <p:sp>
        <p:nvSpPr>
          <p:cNvPr id="12" name="Shape 10"/>
          <p:cNvSpPr/>
          <p:nvPr/>
        </p:nvSpPr>
        <p:spPr>
          <a:xfrm>
            <a:off x="2880360" y="4846320"/>
            <a:ext cx="1874520" cy="1325880"/>
          </a:xfrm>
          <a:prstGeom prst="rect">
            <a:avLst/>
          </a:prstGeom>
          <a:solidFill>
            <a:srgbClr val="A0522D"/>
          </a:solidFill>
          <a:ln w="12700">
            <a:solidFill>
              <a:srgbClr val="A0522D"/>
            </a:solidFill>
            <a:prstDash val="solid"/>
          </a:ln>
        </p:spPr>
      </p:sp>
      <p:sp>
        <p:nvSpPr>
          <p:cNvPr id="13" name="Text 11"/>
          <p:cNvSpPr/>
          <p:nvPr/>
        </p:nvSpPr>
        <p:spPr>
          <a:xfrm>
            <a:off x="2880360" y="4937760"/>
            <a:ext cx="1874520" cy="640080"/>
          </a:xfrm>
          <a:prstGeom prst="rect">
            <a:avLst/>
          </a:prstGeom>
          <a:noFill/>
          <a:ln/>
        </p:spPr>
        <p:txBody>
          <a:bodyPr wrap="square" rtlCol="0" anchor="ctr"/>
          <a:lstStyle/>
          <a:p>
            <a:pPr algn="ctr" indent="0" marL="0">
              <a:buNone/>
            </a:pPr>
            <a:r>
              <a:rPr lang="en-US" sz="3200" b="1" dirty="0">
                <a:solidFill>
                  <a:srgbClr val="E8C77A"/>
                </a:solidFill>
              </a:rPr>
              <a:t>30+</a:t>
            </a:r>
            <a:endParaRPr lang="en-US" sz="3200" dirty="0"/>
          </a:p>
        </p:txBody>
      </p:sp>
      <p:sp>
        <p:nvSpPr>
          <p:cNvPr id="14" name="Text 12"/>
          <p:cNvSpPr/>
          <p:nvPr/>
        </p:nvSpPr>
        <p:spPr>
          <a:xfrm>
            <a:off x="2880360" y="5532120"/>
            <a:ext cx="1874520" cy="594360"/>
          </a:xfrm>
          <a:prstGeom prst="rect">
            <a:avLst/>
          </a:prstGeom>
          <a:noFill/>
          <a:ln/>
        </p:spPr>
        <p:txBody>
          <a:bodyPr wrap="square" rtlCol="0" anchor="t"/>
          <a:lstStyle/>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Dynasties</a:t>
            </a:r>
            <a:endParaRPr lang="en-US" sz="900" dirty="0"/>
          </a:p>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王朝数量</a:t>
            </a:r>
            <a:endParaRPr lang="en-US" sz="900" dirty="0"/>
          </a:p>
        </p:txBody>
      </p:sp>
      <p:sp>
        <p:nvSpPr>
          <p:cNvPr id="15" name="Shape 13"/>
          <p:cNvSpPr/>
          <p:nvPr/>
        </p:nvSpPr>
        <p:spPr>
          <a:xfrm>
            <a:off x="4937760" y="4846320"/>
            <a:ext cx="1874520" cy="1325880"/>
          </a:xfrm>
          <a:prstGeom prst="rect">
            <a:avLst/>
          </a:prstGeom>
          <a:solidFill>
            <a:srgbClr val="B8860B"/>
          </a:solidFill>
          <a:ln w="12700">
            <a:solidFill>
              <a:srgbClr val="B8860B"/>
            </a:solidFill>
            <a:prstDash val="solid"/>
          </a:ln>
        </p:spPr>
      </p:sp>
      <p:sp>
        <p:nvSpPr>
          <p:cNvPr id="16" name="Text 14"/>
          <p:cNvSpPr/>
          <p:nvPr/>
        </p:nvSpPr>
        <p:spPr>
          <a:xfrm>
            <a:off x="4937760" y="4937760"/>
            <a:ext cx="1874520" cy="640080"/>
          </a:xfrm>
          <a:prstGeom prst="rect">
            <a:avLst/>
          </a:prstGeom>
          <a:noFill/>
          <a:ln/>
        </p:spPr>
        <p:txBody>
          <a:bodyPr wrap="square" rtlCol="0" anchor="ctr"/>
          <a:lstStyle/>
          <a:p>
            <a:pPr algn="ctr" indent="0" marL="0">
              <a:buNone/>
            </a:pPr>
            <a:r>
              <a:rPr lang="en-US" sz="3200" b="1" dirty="0">
                <a:solidFill>
                  <a:srgbClr val="E8C77A"/>
                </a:solidFill>
              </a:rPr>
              <a:t>1M+</a:t>
            </a:r>
            <a:endParaRPr lang="en-US" sz="3200" dirty="0"/>
          </a:p>
        </p:txBody>
      </p:sp>
      <p:sp>
        <p:nvSpPr>
          <p:cNvPr id="17" name="Text 15"/>
          <p:cNvSpPr/>
          <p:nvPr/>
        </p:nvSpPr>
        <p:spPr>
          <a:xfrm>
            <a:off x="4937760" y="5532120"/>
            <a:ext cx="1874520" cy="594360"/>
          </a:xfrm>
          <a:prstGeom prst="rect">
            <a:avLst/>
          </a:prstGeom>
          <a:noFill/>
          <a:ln/>
        </p:spPr>
        <p:txBody>
          <a:bodyPr wrap="square" rtlCol="0" anchor="t"/>
          <a:lstStyle/>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Pyramids &amp; Tombs</a:t>
            </a:r>
            <a:endParaRPr lang="en-US" sz="900" dirty="0"/>
          </a:p>
          <a:p>
            <a:pPr algn="ctr" indent="0" marL="0">
              <a:buNone/>
            </a:pPr>
            <a:r>
              <a:rPr lang="en-US" sz="900" dirty="0">
                <a:solidFill>
                  <a:srgbClr val="F5E6C8"/>
                </a:solidFill>
                <a:latin typeface="Microsoft YaHei" pitchFamily="34" charset="0"/>
                <a:ea typeface="Microsoft YaHei" pitchFamily="34" charset="-122"/>
                <a:cs typeface="Microsoft YaHei" pitchFamily="34" charset="-120"/>
              </a:rPr>
              <a:t>金字塔与墓葬</a:t>
            </a:r>
            <a:endParaRPr lang="en-US" sz="900" dirty="0"/>
          </a:p>
        </p:txBody>
      </p:sp>
      <p:sp>
        <p:nvSpPr>
          <p:cNvPr id="18" name="Shape 16"/>
          <p:cNvSpPr/>
          <p:nvPr/>
        </p:nvSpPr>
        <p:spPr>
          <a:xfrm>
            <a:off x="7315200" y="1691640"/>
            <a:ext cx="4297680" cy="4480560"/>
          </a:xfrm>
          <a:prstGeom prst="rect">
            <a:avLst/>
          </a:prstGeom>
          <a:solidFill>
            <a:srgbClr val="0F2A4A"/>
          </a:solidFill>
          <a:ln w="25400">
            <a:solidFill>
              <a:srgbClr val="D4A24C"/>
            </a:solidFill>
            <a:prstDash val="solid"/>
          </a:ln>
        </p:spPr>
      </p:sp>
      <p:sp>
        <p:nvSpPr>
          <p:cNvPr id="19" name="Text 17"/>
          <p:cNvSpPr/>
          <p:nvPr/>
        </p:nvSpPr>
        <p:spPr>
          <a:xfrm>
            <a:off x="7315200" y="1737360"/>
            <a:ext cx="914400" cy="914400"/>
          </a:xfrm>
          <a:prstGeom prst="rect">
            <a:avLst/>
          </a:prstGeom>
          <a:noFill/>
          <a:ln/>
        </p:spPr>
        <p:txBody>
          <a:bodyPr wrap="square" rtlCol="0" anchor="t"/>
          <a:lstStyle/>
          <a:p>
            <a:pPr algn="l" indent="0" marL="0">
              <a:buNone/>
            </a:pPr>
            <a:r>
              <a:rPr lang="en-US" sz="9000" b="1" dirty="0">
                <a:solidFill>
                  <a:srgbClr val="D4A24C"/>
                </a:solidFill>
              </a:rPr>
              <a:t>"</a:t>
            </a:r>
            <a:endParaRPr lang="en-US" sz="9000" dirty="0"/>
          </a:p>
        </p:txBody>
      </p:sp>
      <p:sp>
        <p:nvSpPr>
          <p:cNvPr id="20" name="Text 18"/>
          <p:cNvSpPr/>
          <p:nvPr/>
        </p:nvSpPr>
        <p:spPr>
          <a:xfrm>
            <a:off x="7589520" y="2377440"/>
            <a:ext cx="3840480" cy="1645920"/>
          </a:xfrm>
          <a:prstGeom prst="rect">
            <a:avLst/>
          </a:prstGeom>
          <a:noFill/>
          <a:ln/>
        </p:spPr>
        <p:txBody>
          <a:bodyPr wrap="square" rtlCol="0" anchor="ctr"/>
          <a:lstStyle/>
          <a:p>
            <a:pPr indent="0" marL="0">
              <a:lnSpc>
                <a:spcPct val="135000"/>
              </a:lnSpc>
              <a:buNone/>
            </a:pPr>
            <a:r>
              <a:rPr lang="en-US" sz="1600" i="1" dirty="0">
                <a:solidFill>
                  <a:srgbClr val="F5E6C8"/>
                </a:solidFill>
                <a:latin typeface="Georgia" pitchFamily="34" charset="0"/>
                <a:ea typeface="Georgia" pitchFamily="34" charset="-122"/>
                <a:cs typeface="Georgia" pitchFamily="34" charset="-120"/>
              </a:rPr>
              <a:t>The success of ancient Egyptian civilization came partly from its ability to adapt to the conditions of the Nile.</a:t>
            </a:r>
            <a:endParaRPr lang="en-US" sz="1600" dirty="0"/>
          </a:p>
        </p:txBody>
      </p:sp>
      <p:sp>
        <p:nvSpPr>
          <p:cNvPr id="21" name="Shape 19"/>
          <p:cNvSpPr/>
          <p:nvPr/>
        </p:nvSpPr>
        <p:spPr>
          <a:xfrm>
            <a:off x="7772400" y="4114800"/>
            <a:ext cx="3200400" cy="0"/>
          </a:xfrm>
          <a:prstGeom prst="line">
            <a:avLst/>
          </a:prstGeom>
          <a:noFill/>
          <a:ln w="12700">
            <a:solidFill>
              <a:srgbClr val="B8860B"/>
            </a:solidFill>
            <a:prstDash val="solid"/>
          </a:ln>
        </p:spPr>
      </p:sp>
      <p:sp>
        <p:nvSpPr>
          <p:cNvPr id="22" name="Text 20"/>
          <p:cNvSpPr/>
          <p:nvPr/>
        </p:nvSpPr>
        <p:spPr>
          <a:xfrm>
            <a:off x="7589520" y="4206240"/>
            <a:ext cx="3840480" cy="365760"/>
          </a:xfrm>
          <a:prstGeom prst="rect">
            <a:avLst/>
          </a:prstGeom>
          <a:noFill/>
          <a:ln/>
        </p:spPr>
        <p:txBody>
          <a:bodyPr wrap="square" rtlCol="0" anchor="ctr"/>
          <a:lstStyle/>
          <a:p>
            <a:pPr algn="r" indent="0" marL="0">
              <a:buNone/>
            </a:pPr>
            <a:r>
              <a:rPr lang="en-US" sz="1100" dirty="0">
                <a:solidFill>
                  <a:srgbClr val="E8C77A"/>
                </a:solidFill>
              </a:rPr>
              <a:t>— Encyclopedia · Wikipedia</a:t>
            </a:r>
            <a:endParaRPr lang="en-US" sz="1100" dirty="0"/>
          </a:p>
        </p:txBody>
      </p:sp>
      <p:pic>
        <p:nvPicPr>
          <p:cNvPr id="23" name="Image 0" descr="C:\Users\18367\Desktop\test\web-app-test\runtime\artifacts\chat_e26d2b322fed\document-assets\download-Ankh,_Djed_&amp;_Was.png">    </p:cNvPr>
          <p:cNvPicPr>
            <a:picLocks noChangeAspect="1"/>
          </p:cNvPicPr>
          <p:nvPr/>
        </p:nvPicPr>
        <p:blipFill>
          <a:blip r:embed="rId1"/>
          <a:stretch>
            <a:fillRect/>
          </a:stretch>
        </p:blipFill>
        <p:spPr>
          <a:xfrm>
            <a:off x="7955280" y="4937760"/>
            <a:ext cx="2926080" cy="1188720"/>
          </a:xfrm>
          <a:prstGeom prst="rect">
            <a:avLst/>
          </a:prstGeom>
        </p:spPr>
      </p:pic>
      <p:sp>
        <p:nvSpPr>
          <p:cNvPr id="24" name="Shape 21"/>
          <p:cNvSpPr/>
          <p:nvPr/>
        </p:nvSpPr>
        <p:spPr>
          <a:xfrm>
            <a:off x="0" y="6537960"/>
            <a:ext cx="12191695" cy="320040"/>
          </a:xfrm>
          <a:prstGeom prst="rect">
            <a:avLst/>
          </a:prstGeom>
          <a:solidFill>
            <a:srgbClr val="0F2A4A"/>
          </a:solidFill>
          <a:ln w="12700">
            <a:solidFill>
              <a:srgbClr val="0F2A4A"/>
            </a:solidFill>
            <a:prstDash val="solid"/>
          </a:ln>
        </p:spPr>
      </p:sp>
      <p:sp>
        <p:nvSpPr>
          <p:cNvPr id="25" name="Text 22"/>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OVERVIEW · 文明概述</a:t>
            </a:r>
            <a:endParaRPr lang="en-US" sz="900" dirty="0"/>
          </a:p>
        </p:txBody>
      </p:sp>
      <p:sp>
        <p:nvSpPr>
          <p:cNvPr id="26" name="Text 23"/>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F2A4A"/>
          </a:solidFill>
          <a:ln w="12700">
            <a:solidFill>
              <a:srgbClr val="0F2A4A"/>
            </a:solidFill>
            <a:prstDash val="solid"/>
          </a:ln>
        </p:spPr>
      </p:sp>
      <p:sp>
        <p:nvSpPr>
          <p:cNvPr id="3" name="Shape 1"/>
          <p:cNvSpPr/>
          <p:nvPr/>
        </p:nvSpPr>
        <p:spPr>
          <a:xfrm>
            <a:off x="0" y="1143000"/>
            <a:ext cx="12191695" cy="73152"/>
          </a:xfrm>
          <a:prstGeom prst="rect">
            <a:avLst/>
          </a:prstGeom>
          <a:solidFill>
            <a:srgbClr val="D4A24C"/>
          </a:solidFill>
          <a:ln w="12700">
            <a:solidFill>
              <a:srgbClr val="D4A24C"/>
            </a:solidFill>
            <a:prstDash val="solid"/>
          </a:ln>
        </p:spPr>
      </p:sp>
      <p:sp>
        <p:nvSpPr>
          <p:cNvPr id="4" name="Text 2"/>
          <p:cNvSpPr/>
          <p:nvPr/>
        </p:nvSpPr>
        <p:spPr>
          <a:xfrm>
            <a:off x="457200" y="201168"/>
            <a:ext cx="5486400" cy="274320"/>
          </a:xfrm>
          <a:prstGeom prst="rect">
            <a:avLst/>
          </a:prstGeom>
          <a:noFill/>
          <a:ln/>
        </p:spPr>
        <p:txBody>
          <a:bodyPr wrap="square" rtlCol="0" anchor="ctr"/>
          <a:lstStyle/>
          <a:p>
            <a:pPr indent="0" marL="0">
              <a:buNone/>
            </a:pPr>
            <a:r>
              <a:rPr lang="en-US" sz="1100" b="1" spc="1200" kern="0" dirty="0">
                <a:solidFill>
                  <a:srgbClr val="E8C77A"/>
                </a:solidFill>
              </a:rPr>
              <a:t>02 · TIMELINE</a:t>
            </a:r>
            <a:endParaRPr lang="en-US" sz="1100" dirty="0"/>
          </a:p>
        </p:txBody>
      </p:sp>
      <p:sp>
        <p:nvSpPr>
          <p:cNvPr id="5" name="Text 3"/>
          <p:cNvSpPr/>
          <p:nvPr/>
        </p:nvSpPr>
        <p:spPr>
          <a:xfrm>
            <a:off x="457200" y="457200"/>
            <a:ext cx="8229600" cy="594360"/>
          </a:xfrm>
          <a:prstGeom prst="rect">
            <a:avLst/>
          </a:prstGeom>
          <a:noFill/>
          <a:ln/>
        </p:spPr>
        <p:txBody>
          <a:bodyPr wrap="square" rtlCol="0" anchor="ctr"/>
          <a:lstStyle/>
          <a:p>
            <a:pPr indent="0" marL="0">
              <a:buNone/>
            </a:pPr>
            <a:r>
              <a:rPr lang="en-US" sz="3000" b="1" spc="400" kern="0" dirty="0">
                <a:solidFill>
                  <a:srgbClr val="F5E6C8"/>
                </a:solidFill>
                <a:latin typeface="Microsoft YaHei" pitchFamily="34" charset="0"/>
                <a:ea typeface="Microsoft YaHei" pitchFamily="34" charset="-122"/>
                <a:cs typeface="Microsoft YaHei" pitchFamily="34" charset="-120"/>
              </a:rPr>
              <a:t>古 埃 及 王 朝 年 表</a:t>
            </a:r>
            <a:endParaRPr lang="en-US" sz="3000" dirty="0"/>
          </a:p>
        </p:txBody>
      </p:sp>
      <p:sp>
        <p:nvSpPr>
          <p:cNvPr id="6" name="Text 4"/>
          <p:cNvSpPr/>
          <p:nvPr/>
        </p:nvSpPr>
        <p:spPr>
          <a:xfrm>
            <a:off x="7162495" y="777240"/>
            <a:ext cx="4572000" cy="274320"/>
          </a:xfrm>
          <a:prstGeom prst="rect">
            <a:avLst/>
          </a:prstGeom>
          <a:noFill/>
          <a:ln/>
        </p:spPr>
        <p:txBody>
          <a:bodyPr wrap="square" rtlCol="0" anchor="ctr"/>
          <a:lstStyle/>
          <a:p>
            <a:pPr algn="r" indent="0" marL="0">
              <a:buNone/>
            </a:pPr>
            <a:r>
              <a:rPr lang="en-US" sz="1100" i="1" dirty="0">
                <a:solidFill>
                  <a:srgbClr val="E8C77A"/>
                </a:solidFill>
              </a:rPr>
              <a:t>Three Kingdoms &amp; Their Intermediate Periods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846320"/>
        </p:xfrm>
        <a:graphic>
          <a:graphicData uri="http://schemas.openxmlformats.org/drawingml/2006/table">
            <a:tbl>
              <a:tblPr/>
              <a:tblGrid>
                <a:gridCol w="2194560"/>
                <a:gridCol w="1828800"/>
                <a:gridCol w="1554480"/>
                <a:gridCol w="5696712"/>
              </a:tblGrid>
              <a:tr h="538480">
                <a:tc>
                  <a:txBody>
                    <a:bodyPr/>
                    <a:lstStyle/>
                    <a:p>
                      <a:pPr algn="ctr" indent="0" marL="0">
                        <a:buNone/>
                      </a:pPr>
                      <a:r>
                        <a:rPr lang="en-US" sz="1300" b="1" dirty="0">
                          <a:solidFill>
                            <a:srgbClr val="FDF8EC"/>
                          </a:solidFill>
                          <a:latin typeface="Calibri" pitchFamily="34" charset="0"/>
                          <a:ea typeface="Calibri" pitchFamily="34" charset="-122"/>
                          <a:cs typeface="Calibri" pitchFamily="34" charset="-120"/>
                        </a:rPr>
                        <a:t>Period · 时期</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300" b="1" dirty="0">
                          <a:solidFill>
                            <a:srgbClr val="FDF8EC"/>
                          </a:solidFill>
                          <a:latin typeface="Calibri" pitchFamily="34" charset="0"/>
                          <a:ea typeface="Calibri" pitchFamily="34" charset="-122"/>
                          <a:cs typeface="Calibri" pitchFamily="34" charset="-120"/>
                        </a:rPr>
                        <a:t>Dates · 年代</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300" b="1" dirty="0">
                          <a:solidFill>
                            <a:srgbClr val="FDF8EC"/>
                          </a:solidFill>
                          <a:latin typeface="Calibri" pitchFamily="34" charset="0"/>
                          <a:ea typeface="Calibri" pitchFamily="34" charset="-122"/>
                          <a:cs typeface="Calibri" pitchFamily="34" charset="-120"/>
                        </a:rPr>
                        <a:t>Dynasties · 王朝</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300" b="1" dirty="0">
                          <a:solidFill>
                            <a:srgbClr val="FDF8EC"/>
                          </a:solidFill>
                          <a:latin typeface="Calibri" pitchFamily="34" charset="0"/>
                          <a:ea typeface="Calibri" pitchFamily="34" charset="-122"/>
                          <a:cs typeface="Calibri" pitchFamily="34" charset="-120"/>
                        </a:rPr>
                        <a:t>Highlights · 亮点</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r>
              <a:tr h="538480">
                <a:tc>
                  <a:txBody>
                    <a:bodyPr/>
                    <a:lstStyle/>
                    <a:p>
                      <a:pPr algn="l" indent="0" marL="0">
                        <a:buNone/>
                      </a:pPr>
                      <a:r>
                        <a:rPr lang="en-US" sz="1100" b="1" dirty="0">
                          <a:solidFill>
                            <a:srgbClr val="0F2A4A"/>
                          </a:solidFill>
                          <a:latin typeface="Microsoft YaHei" pitchFamily="34" charset="0"/>
                          <a:ea typeface="Microsoft YaHei" pitchFamily="34" charset="-122"/>
                          <a:cs typeface="Microsoft YaHei" pitchFamily="34" charset="-120"/>
                        </a:rPr>
                        <a:t>Early Dynastic Period</a:t>
                      </a:r>
                      <a:endParaRPr lang="en-US" sz="1100" dirty="0">
                        <a:latin typeface="Microsoft YaHei" charset="0"/>
                        <a:ea typeface="Microsoft YaHei" charset="0"/>
                        <a:cs typeface="Microsoft YaHei" charset="0"/>
                      </a:endParaRPr>
                    </a:p>
                    <a:p>
                      <a:pPr algn="l" indent="0" marL="0">
                        <a:buNone/>
                      </a:pPr>
                      <a:r>
                        <a:rPr lang="en-US" sz="1100" b="1" dirty="0">
                          <a:solidFill>
                            <a:srgbClr val="0F2A4A"/>
                          </a:solidFill>
                          <a:latin typeface="Microsoft YaHei" pitchFamily="34" charset="0"/>
                          <a:ea typeface="Microsoft YaHei" pitchFamily="34" charset="-122"/>
                          <a:cs typeface="Microsoft YaHei" pitchFamily="34" charset="-120"/>
                        </a:rPr>
                        <a:t>早期王朝</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c. 3150 – 2686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1st – 2nd</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Unification by Menes/Narmer; founding of Memphis.</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美尼斯统一上下埃及；建立孟菲斯城。</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Old Kingdom</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古王国</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2686 – 2181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3rd – 6th</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Age of Pyramids — Giza, Saqqara; solar cult of Ra.</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金字塔时代——吉萨、萨卡拉；太阳神拉崇拜。</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1st Intermediate</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第一中间期</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A0522D"/>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2181 – 2055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7th – 11th</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Collapse of central authority; regional rulers.</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中央集权崩溃，地方统治者割据。</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Middle Kingdom</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中王国</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2055 – 1650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11th – 14th</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Reunification; literary classic; Faiyum irrigation.</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再度统一；文学经典；法尤姆绿洲灌溉。</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2nd Intermediate</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第二中间期</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A0522D"/>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1650 – 1550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15th – 17th</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Hyksos rule in the Delta; horse &amp; chariot introduced.</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喜克索斯人在三角洲建都；引入马与战车。</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E8D5A8"/>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New Kingdom</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新王国</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1550 – 1069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18th – 20th</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l" indent="0" marL="0">
                        <a:buNone/>
                      </a:pPr>
                      <a:r>
                        <a:rPr lang="en-US" sz="1050" b="1" dirty="0">
                          <a:solidFill>
                            <a:srgbClr val="FDF8EC"/>
                          </a:solidFill>
                          <a:latin typeface="Microsoft YaHei" pitchFamily="34" charset="0"/>
                          <a:ea typeface="Microsoft YaHei" pitchFamily="34" charset="-122"/>
                          <a:cs typeface="Microsoft YaHei" pitchFamily="34" charset="-120"/>
                        </a:rPr>
                        <a:t>Imperial Egypt — Hatshepsut, Akhenaten, Tutankhamun, Ramesses II.</a:t>
                      </a:r>
                      <a:endParaRPr lang="en-US" sz="1050" dirty="0">
                        <a:latin typeface="Microsoft YaHei" charset="0"/>
                        <a:ea typeface="Microsoft YaHei" charset="0"/>
                        <a:cs typeface="Microsoft YaHei" charset="0"/>
                      </a:endParaRPr>
                    </a:p>
                    <a:p>
                      <a:pPr algn="l" indent="0" marL="0">
                        <a:buNone/>
                      </a:pPr>
                      <a:r>
                        <a:rPr lang="en-US" sz="1050" b="1" dirty="0">
                          <a:solidFill>
                            <a:srgbClr val="FDF8EC"/>
                          </a:solidFill>
                          <a:latin typeface="Microsoft YaHei" pitchFamily="34" charset="0"/>
                          <a:ea typeface="Microsoft YaHei" pitchFamily="34" charset="-122"/>
                          <a:cs typeface="Microsoft YaHei" pitchFamily="34" charset="-120"/>
                        </a:rPr>
                        <a:t>帝国时代——哈特谢普苏特、埃赫那顿、图坦卡蒙、拉美西斯二世。</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Late Period</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后期王朝</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664 – 332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26th – 31st</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Persian invasions; last native dynasty.</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波斯入侵；最后本土王朝。</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r>
              <a:tr h="538480">
                <a:tc>
                  <a:txBody>
                    <a:bodyPr/>
                    <a:lstStyle/>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Ptolemaic</a:t>
                      </a:r>
                      <a:endParaRPr lang="en-US" sz="1100" dirty="0">
                        <a:latin typeface="Microsoft YaHei" charset="0"/>
                        <a:ea typeface="Microsoft YaHei" charset="0"/>
                        <a:cs typeface="Microsoft YaHei" charset="0"/>
                      </a:endParaRPr>
                    </a:p>
                    <a:p>
                      <a:pPr algn="l" indent="0" marL="0">
                        <a:buNone/>
                      </a:pPr>
                      <a:r>
                        <a:rPr lang="en-US" sz="1100" b="1" dirty="0">
                          <a:solidFill>
                            <a:srgbClr val="FDF8EC"/>
                          </a:solidFill>
                          <a:latin typeface="Microsoft YaHei" pitchFamily="34" charset="0"/>
                          <a:ea typeface="Microsoft YaHei" pitchFamily="34" charset="-122"/>
                          <a:cs typeface="Microsoft YaHei" pitchFamily="34" charset="-120"/>
                        </a:rPr>
                        <a:t>托勒密时期</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332 – 30 BC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ctr" indent="0" marL="0">
                        <a:buNone/>
                      </a:pPr>
                      <a:r>
                        <a:rPr lang="en-US" sz="1100" dirty="0">
                          <a:solidFill>
                            <a:srgbClr val="1B3A5C"/>
                          </a:solidFill>
                          <a:latin typeface="Calibri" pitchFamily="34" charset="0"/>
                          <a:ea typeface="Calibri" pitchFamily="34" charset="-122"/>
                          <a:cs typeface="Calibri" pitchFamily="34" charset="-120"/>
                        </a:rPr>
                        <a:t>Ptolemaic</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c>
                  <a:txBody>
                    <a:bodyPr/>
                    <a:lstStyle/>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Greek rule after Alexander; Cleopatra VII ends dynasty.</a:t>
                      </a:r>
                      <a:endParaRPr lang="en-US" sz="1050" dirty="0">
                        <a:latin typeface="Microsoft YaHei" charset="0"/>
                        <a:ea typeface="Microsoft YaHei" charset="0"/>
                        <a:cs typeface="Microsoft YaHei" charset="0"/>
                      </a:endParaRPr>
                    </a:p>
                    <a:p>
                      <a:pPr algn="l" indent="0" marL="0">
                        <a:buNone/>
                      </a:pPr>
                      <a:r>
                        <a:rPr lang="en-US" sz="1050" dirty="0">
                          <a:solidFill>
                            <a:srgbClr val="1A1A1A"/>
                          </a:solidFill>
                          <a:latin typeface="Microsoft YaHei" pitchFamily="34" charset="0"/>
                          <a:ea typeface="Microsoft YaHei" pitchFamily="34" charset="-122"/>
                          <a:cs typeface="Microsoft YaHei" pitchFamily="34" charset="-120"/>
                        </a:rPr>
                        <a:t>亚历山大之后的希腊统治；克娄巴特拉七世终结王朝。</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DF8EC"/>
                    </a:solidFill>
                  </a:tcPr>
                </a:tc>
              </a:tr>
            </a:tbl>
          </a:graphicData>
        </a:graphic>
      </p:graphicFrame>
      <p:sp>
        <p:nvSpPr>
          <p:cNvPr id="8" name="Shape 5"/>
          <p:cNvSpPr/>
          <p:nvPr/>
        </p:nvSpPr>
        <p:spPr>
          <a:xfrm>
            <a:off x="0" y="6537960"/>
            <a:ext cx="12191695" cy="320040"/>
          </a:xfrm>
          <a:prstGeom prst="rect">
            <a:avLst/>
          </a:prstGeom>
          <a:solidFill>
            <a:srgbClr val="0F2A4A"/>
          </a:solidFill>
          <a:ln w="12700">
            <a:solidFill>
              <a:srgbClr val="0F2A4A"/>
            </a:solidFill>
            <a:prstDash val="solid"/>
          </a:ln>
        </p:spPr>
      </p:sp>
      <p:sp>
        <p:nvSpPr>
          <p:cNvPr id="9" name="Text 6"/>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TIMELINE · 王朝年表</a:t>
            </a:r>
            <a:endParaRPr lang="en-US" sz="900" dirty="0"/>
          </a:p>
        </p:txBody>
      </p:sp>
      <p:sp>
        <p:nvSpPr>
          <p:cNvPr id="10" name="Text 7"/>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640080" cy="6858000"/>
          </a:xfrm>
          <a:prstGeom prst="rect">
            <a:avLst/>
          </a:prstGeom>
          <a:solidFill>
            <a:srgbClr val="0F2A4A"/>
          </a:solidFill>
          <a:ln w="12700">
            <a:solidFill>
              <a:srgbClr val="0F2A4A"/>
            </a:solidFill>
            <a:prstDash val="solid"/>
          </a:ln>
        </p:spPr>
      </p:sp>
      <p:sp>
        <p:nvSpPr>
          <p:cNvPr id="3" name="Shape 1"/>
          <p:cNvSpPr/>
          <p:nvPr/>
        </p:nvSpPr>
        <p:spPr>
          <a:xfrm>
            <a:off x="640080" y="0"/>
            <a:ext cx="54864" cy="6858000"/>
          </a:xfrm>
          <a:prstGeom prst="rect">
            <a:avLst/>
          </a:prstGeom>
          <a:solidFill>
            <a:srgbClr val="D4A24C"/>
          </a:solidFill>
          <a:ln w="12700">
            <a:solidFill>
              <a:srgbClr val="D4A24C"/>
            </a:solidFill>
            <a:prstDash val="solid"/>
          </a:ln>
        </p:spPr>
      </p:sp>
      <p:sp>
        <p:nvSpPr>
          <p:cNvPr id="4" name="Text 2"/>
          <p:cNvSpPr/>
          <p:nvPr/>
        </p:nvSpPr>
        <p:spPr>
          <a:xfrm>
            <a:off x="914400" y="365760"/>
            <a:ext cx="5486400" cy="274320"/>
          </a:xfrm>
          <a:prstGeom prst="rect">
            <a:avLst/>
          </a:prstGeom>
          <a:noFill/>
          <a:ln/>
        </p:spPr>
        <p:txBody>
          <a:bodyPr wrap="square" rtlCol="0" anchor="ctr"/>
          <a:lstStyle/>
          <a:p>
            <a:pPr indent="0" marL="0">
              <a:buNone/>
            </a:pPr>
            <a:r>
              <a:rPr lang="en-US" sz="1100" b="1" spc="1200" kern="0" dirty="0">
                <a:solidFill>
                  <a:srgbClr val="B8860B"/>
                </a:solidFill>
              </a:rPr>
              <a:t>03 · GEOGRAPHY</a:t>
            </a:r>
            <a:endParaRPr lang="en-US" sz="1100" dirty="0"/>
          </a:p>
        </p:txBody>
      </p:sp>
      <p:sp>
        <p:nvSpPr>
          <p:cNvPr id="5" name="Text 3"/>
          <p:cNvSpPr/>
          <p:nvPr/>
        </p:nvSpPr>
        <p:spPr>
          <a:xfrm>
            <a:off x="914400" y="685800"/>
            <a:ext cx="8229600" cy="640080"/>
          </a:xfrm>
          <a:prstGeom prst="rect">
            <a:avLst/>
          </a:prstGeom>
          <a:noFill/>
          <a:ln/>
        </p:spPr>
        <p:txBody>
          <a:bodyPr wrap="square" rtlCol="0" anchor="ctr"/>
          <a:lstStyle/>
          <a:p>
            <a:pPr indent="0" marL="0">
              <a:buNone/>
            </a:pPr>
            <a:r>
              <a:rPr lang="en-US" sz="3200" b="1" dirty="0">
                <a:solidFill>
                  <a:srgbClr val="0F2A4A"/>
                </a:solidFill>
                <a:latin typeface="Microsoft YaHei" pitchFamily="34" charset="0"/>
                <a:ea typeface="Microsoft YaHei" pitchFamily="34" charset="-122"/>
                <a:cs typeface="Microsoft YaHei" pitchFamily="34" charset="-120"/>
              </a:rPr>
              <a:t>地 理 与 尼 罗 河</a:t>
            </a:r>
            <a:endParaRPr lang="en-US" sz="3200" dirty="0"/>
          </a:p>
        </p:txBody>
      </p:sp>
      <p:sp>
        <p:nvSpPr>
          <p:cNvPr id="6" name="Shape 4"/>
          <p:cNvSpPr/>
          <p:nvPr/>
        </p:nvSpPr>
        <p:spPr>
          <a:xfrm>
            <a:off x="914400" y="1371600"/>
            <a:ext cx="1097280" cy="0"/>
          </a:xfrm>
          <a:prstGeom prst="line">
            <a:avLst/>
          </a:prstGeom>
          <a:noFill/>
          <a:ln w="31750">
            <a:solidFill>
              <a:srgbClr val="D4A24C"/>
            </a:solidFill>
            <a:prstDash val="solid"/>
          </a:ln>
        </p:spPr>
      </p:sp>
      <p:sp>
        <p:nvSpPr>
          <p:cNvPr id="7" name="Text 5"/>
          <p:cNvSpPr/>
          <p:nvPr/>
        </p:nvSpPr>
        <p:spPr>
          <a:xfrm>
            <a:off x="914400" y="1554480"/>
            <a:ext cx="6858000" cy="1097280"/>
          </a:xfrm>
          <a:prstGeom prst="rect">
            <a:avLst/>
          </a:prstGeom>
          <a:noFill/>
          <a:ln/>
        </p:spPr>
        <p:txBody>
          <a:bodyPr wrap="square" rtlCol="0" anchor="ctr"/>
          <a:lstStyle/>
          <a:p>
            <a:pPr indent="0" marL="0">
              <a:lnSpc>
                <a:spcPct val="130000"/>
              </a:lnSpc>
              <a:buNone/>
            </a:pPr>
            <a:r>
              <a:rPr lang="en-US" sz="1300" i="1" dirty="0">
                <a:solidFill>
                  <a:srgbClr val="1B3A5C"/>
                </a:solidFill>
              </a:rPr>
              <a:t>A civilization born of the world's longest river — stretching from the First Cataract to the Mediterranean Delta, the Nile's predictable flooding shaped agriculture, trade, religion, and the very concept of Egyptian kingship.</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2834640"/>
          <a:ext cx="7040880" cy="2743200"/>
        </p:xfrm>
        <a:graphic>
          <a:graphicData uri="http://schemas.openxmlformats.org/drawingml/2006/table">
            <a:tbl>
              <a:tblPr/>
              <a:tblGrid>
                <a:gridCol w="2194560"/>
                <a:gridCol w="4846320"/>
              </a:tblGrid>
              <a:tr h="457200">
                <a:tc>
                  <a:txBody>
                    <a:bodyPr/>
                    <a:lstStyle/>
                    <a:p>
                      <a:pPr algn="ctr" indent="0" marL="0">
                        <a:buNone/>
                      </a:pPr>
                      <a:r>
                        <a:rPr lang="en-US" sz="1200" b="1" dirty="0">
                          <a:solidFill>
                            <a:srgbClr val="FDF8EC"/>
                          </a:solidFill>
                          <a:latin typeface="Calibri" pitchFamily="34" charset="0"/>
                          <a:ea typeface="Calibri" pitchFamily="34" charset="-122"/>
                          <a:cs typeface="Calibri" pitchFamily="34" charset="-120"/>
                        </a:rPr>
                        <a:t>Feature · 特征</a:t>
                      </a:r>
                      <a:endParaRPr lang="en-US" sz="1200" dirty="0">
                        <a:latin typeface="Calibri" charset="0"/>
                        <a:ea typeface="Calibri" charset="0"/>
                        <a:cs typeface="Calibri" charset="0"/>
                      </a:endParaRPr>
                    </a:p>
                  </a:txBody>
                  <a:tcPr marL="91440" marR="91440" marT="45720" marB="45720">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200" b="1" dirty="0">
                          <a:solidFill>
                            <a:srgbClr val="FDF8EC"/>
                          </a:solidFill>
                          <a:latin typeface="Calibri" pitchFamily="34" charset="0"/>
                          <a:ea typeface="Calibri" pitchFamily="34" charset="-122"/>
                          <a:cs typeface="Calibri" pitchFamily="34" charset="-120"/>
                        </a:rPr>
                        <a:t>Detail · 详情</a:t>
                      </a:r>
                      <a:endParaRPr lang="en-US" sz="1200" dirty="0">
                        <a:latin typeface="Calibri" charset="0"/>
                        <a:ea typeface="Calibri" charset="0"/>
                        <a:cs typeface="Calibri" charset="0"/>
                      </a:endParaRPr>
                    </a:p>
                  </a:txBody>
                  <a:tcPr marL="91440" marR="91440" marT="45720" marB="45720">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r>
              <a:tr h="45720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Region</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地理范围</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indent="0" marL="0">
                        <a:buNone/>
                      </a:pPr>
                      <a:r>
                        <a:rPr lang="en-US" sz="1050" dirty="0">
                          <a:solidFill>
                            <a:srgbClr val="1A1A1A"/>
                          </a:solidFill>
                          <a:latin typeface="Microsoft YaHei" pitchFamily="34" charset="0"/>
                          <a:ea typeface="Microsoft YaHei" pitchFamily="34" charset="-122"/>
                          <a:cs typeface="Microsoft YaHei" pitchFamily="34" charset="-120"/>
                        </a:rPr>
                        <a:t>Lower Nile, NE Africa</a:t>
                      </a:r>
                      <a:endParaRPr lang="en-US" sz="1050" dirty="0">
                        <a:latin typeface="Microsoft YaHei" charset="0"/>
                        <a:ea typeface="Microsoft YaHei" charset="0"/>
                        <a:cs typeface="Microsoft YaHei" charset="0"/>
                      </a:endParaRPr>
                    </a:p>
                    <a:p>
                      <a:pPr indent="0" marL="0">
                        <a:buNone/>
                      </a:pPr>
                      <a:r>
                        <a:rPr lang="en-US" sz="1050" dirty="0">
                          <a:solidFill>
                            <a:srgbClr val="1A1A1A"/>
                          </a:solidFill>
                          <a:latin typeface="Microsoft YaHei" pitchFamily="34" charset="0"/>
                          <a:ea typeface="Microsoft YaHei" pitchFamily="34" charset="-122"/>
                          <a:cs typeface="Microsoft YaHei" pitchFamily="34" charset="-120"/>
                        </a:rPr>
                        <a:t>尼罗河下游 · 东北非</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5720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Climate</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气候</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indent="0" marL="0">
                        <a:buNone/>
                      </a:pPr>
                      <a:r>
                        <a:rPr lang="en-US" sz="1050" dirty="0">
                          <a:solidFill>
                            <a:srgbClr val="1A1A1A"/>
                          </a:solidFill>
                          <a:latin typeface="Microsoft YaHei" pitchFamily="34" charset="0"/>
                          <a:ea typeface="Microsoft YaHei" pitchFamily="34" charset="-122"/>
                          <a:cs typeface="Microsoft YaHei" pitchFamily="34" charset="-120"/>
                        </a:rPr>
                        <a:t>Hot arid desert, fertile floodplain</a:t>
                      </a:r>
                      <a:endParaRPr lang="en-US" sz="1050" dirty="0">
                        <a:latin typeface="Microsoft YaHei" charset="0"/>
                        <a:ea typeface="Microsoft YaHei" charset="0"/>
                        <a:cs typeface="Microsoft YaHei" charset="0"/>
                      </a:endParaRPr>
                    </a:p>
                    <a:p>
                      <a:pPr indent="0" marL="0">
                        <a:buNone/>
                      </a:pPr>
                      <a:r>
                        <a:rPr lang="en-US" sz="1050" dirty="0">
                          <a:solidFill>
                            <a:srgbClr val="1A1A1A"/>
                          </a:solidFill>
                          <a:latin typeface="Microsoft YaHei" pitchFamily="34" charset="0"/>
                          <a:ea typeface="Microsoft YaHei" pitchFamily="34" charset="-122"/>
                          <a:cs typeface="Microsoft YaHei" pitchFamily="34" charset="-120"/>
                        </a:rPr>
                        <a:t>炎热干旱沙漠 · 肥沃河谷</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5720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Economy</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经济基础</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indent="0" marL="0">
                        <a:buNone/>
                      </a:pPr>
                      <a:r>
                        <a:rPr lang="en-US" sz="1050" dirty="0">
                          <a:solidFill>
                            <a:srgbClr val="1A1A1A"/>
                          </a:solidFill>
                          <a:latin typeface="Microsoft YaHei" pitchFamily="34" charset="0"/>
                          <a:ea typeface="Microsoft YaHei" pitchFamily="34" charset="-122"/>
                          <a:cs typeface="Microsoft YaHei" pitchFamily="34" charset="-120"/>
                        </a:rPr>
                        <a:t>Irrigated agriculture + Nile trade</a:t>
                      </a:r>
                      <a:endParaRPr lang="en-US" sz="1050" dirty="0">
                        <a:latin typeface="Microsoft YaHei" charset="0"/>
                        <a:ea typeface="Microsoft YaHei" charset="0"/>
                        <a:cs typeface="Microsoft YaHei" charset="0"/>
                      </a:endParaRPr>
                    </a:p>
                    <a:p>
                      <a:pPr indent="0" marL="0">
                        <a:buNone/>
                      </a:pPr>
                      <a:r>
                        <a:rPr lang="en-US" sz="1050" dirty="0">
                          <a:solidFill>
                            <a:srgbClr val="1A1A1A"/>
                          </a:solidFill>
                          <a:latin typeface="Microsoft YaHei" pitchFamily="34" charset="0"/>
                          <a:ea typeface="Microsoft YaHei" pitchFamily="34" charset="-122"/>
                          <a:cs typeface="Microsoft YaHei" pitchFamily="34" charset="-120"/>
                        </a:rPr>
                        <a:t>灌溉农业 + 尼罗河贸易</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5720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Capital Capitals</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首都</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indent="0" marL="0">
                        <a:buNone/>
                      </a:pPr>
                      <a:r>
                        <a:rPr lang="en-US" sz="1050" dirty="0">
                          <a:solidFill>
                            <a:srgbClr val="1A1A1A"/>
                          </a:solidFill>
                          <a:latin typeface="Microsoft YaHei" pitchFamily="34" charset="0"/>
                          <a:ea typeface="Microsoft YaHei" pitchFamily="34" charset="-122"/>
                          <a:cs typeface="Microsoft YaHei" pitchFamily="34" charset="-120"/>
                        </a:rPr>
                        <a:t>Memphis · Thebes · Alexandria</a:t>
                      </a:r>
                      <a:endParaRPr lang="en-US" sz="1050" dirty="0">
                        <a:latin typeface="Microsoft YaHei" charset="0"/>
                        <a:ea typeface="Microsoft YaHei" charset="0"/>
                        <a:cs typeface="Microsoft YaHei" charset="0"/>
                      </a:endParaRPr>
                    </a:p>
                    <a:p>
                      <a:pPr indent="0" marL="0">
                        <a:buNone/>
                      </a:pPr>
                      <a:r>
                        <a:rPr lang="en-US" sz="1050" dirty="0">
                          <a:solidFill>
                            <a:srgbClr val="1A1A1A"/>
                          </a:solidFill>
                          <a:latin typeface="Microsoft YaHei" pitchFamily="34" charset="0"/>
                          <a:ea typeface="Microsoft YaHei" pitchFamily="34" charset="-122"/>
                          <a:cs typeface="Microsoft YaHei" pitchFamily="34" charset="-120"/>
                        </a:rPr>
                        <a:t>孟菲斯 · 底比斯 · 亚历山大</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5720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Reach</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领土</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indent="0" marL="0">
                        <a:buNone/>
                      </a:pPr>
                      <a:r>
                        <a:rPr lang="en-US" sz="1050" dirty="0">
                          <a:solidFill>
                            <a:srgbClr val="1A1A1A"/>
                          </a:solidFill>
                          <a:latin typeface="Microsoft YaHei" pitchFamily="34" charset="0"/>
                          <a:ea typeface="Microsoft YaHei" pitchFamily="34" charset="-122"/>
                          <a:cs typeface="Microsoft YaHei" pitchFamily="34" charset="-120"/>
                        </a:rPr>
                        <a:t>Nubia to Levant (New Kingdom peak)</a:t>
                      </a:r>
                      <a:endParaRPr lang="en-US" sz="1050" dirty="0">
                        <a:latin typeface="Microsoft YaHei" charset="0"/>
                        <a:ea typeface="Microsoft YaHei" charset="0"/>
                        <a:cs typeface="Microsoft YaHei" charset="0"/>
                      </a:endParaRPr>
                    </a:p>
                    <a:p>
                      <a:pPr indent="0" marL="0">
                        <a:buNone/>
                      </a:pPr>
                      <a:r>
                        <a:rPr lang="en-US" sz="1050" dirty="0">
                          <a:solidFill>
                            <a:srgbClr val="1A1A1A"/>
                          </a:solidFill>
                          <a:latin typeface="Microsoft YaHei" pitchFamily="34" charset="0"/>
                          <a:ea typeface="Microsoft YaHei" pitchFamily="34" charset="-122"/>
                          <a:cs typeface="Microsoft YaHei" pitchFamily="34" charset="-120"/>
                        </a:rPr>
                        <a:t>努比亚至黎凡特（新王国鼎盛期）</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bl>
          </a:graphicData>
        </a:graphic>
      </p:graphicFrame>
      <p:sp>
        <p:nvSpPr>
          <p:cNvPr id="9" name="Text 6"/>
          <p:cNvSpPr/>
          <p:nvPr/>
        </p:nvSpPr>
        <p:spPr>
          <a:xfrm>
            <a:off x="914400" y="5715000"/>
            <a:ext cx="7040880" cy="731520"/>
          </a:xfrm>
          <a:prstGeom prst="rect">
            <a:avLst/>
          </a:prstGeom>
          <a:noFill/>
          <a:ln/>
        </p:spPr>
        <p:txBody>
          <a:bodyPr wrap="square" rtlCol="0" anchor="ctr"/>
          <a:lstStyle/>
          <a:p>
            <a:pPr indent="0" marL="0">
              <a:lnSpc>
                <a:spcPct val="120000"/>
              </a:lnSpc>
              <a:buNone/>
            </a:pPr>
            <a:r>
              <a:rPr lang="en-US" sz="1050" i="1" dirty="0">
                <a:solidFill>
                  <a:srgbClr val="B8860B"/>
                </a:solidFill>
                <a:latin typeface="Georgia" pitchFamily="34" charset="0"/>
                <a:ea typeface="Georgia" pitchFamily="34" charset="-122"/>
                <a:cs typeface="Georgia" pitchFamily="34" charset="-120"/>
              </a:rPr>
              <a:t>"The Nile has been the lifeline of its region for much of human history. The fertile floodplain gave humans the opportunity to develop a settled agricultural economy and a more sophisticated, centralized society."</a:t>
            </a:r>
            <a:endParaRPr lang="en-US" sz="1050" dirty="0"/>
          </a:p>
        </p:txBody>
      </p:sp>
      <p:sp>
        <p:nvSpPr>
          <p:cNvPr id="10" name="Shape 7"/>
          <p:cNvSpPr/>
          <p:nvPr/>
        </p:nvSpPr>
        <p:spPr>
          <a:xfrm>
            <a:off x="8321040" y="1554480"/>
            <a:ext cx="3383280" cy="4114800"/>
          </a:xfrm>
          <a:prstGeom prst="rect">
            <a:avLst/>
          </a:prstGeom>
          <a:solidFill>
            <a:srgbClr val="FAF6E9"/>
          </a:solidFill>
          <a:ln w="25400">
            <a:solidFill>
              <a:srgbClr val="D4A24C"/>
            </a:solidFill>
            <a:prstDash val="solid"/>
          </a:ln>
        </p:spPr>
      </p:sp>
      <p:sp>
        <p:nvSpPr>
          <p:cNvPr id="11" name="Text 8"/>
          <p:cNvSpPr/>
          <p:nvPr/>
        </p:nvSpPr>
        <p:spPr>
          <a:xfrm>
            <a:off x="8321040" y="1627632"/>
            <a:ext cx="3383280" cy="320040"/>
          </a:xfrm>
          <a:prstGeom prst="rect">
            <a:avLst/>
          </a:prstGeom>
          <a:noFill/>
          <a:ln/>
        </p:spPr>
        <p:txBody>
          <a:bodyPr wrap="square" rtlCol="0" anchor="ctr"/>
          <a:lstStyle/>
          <a:p>
            <a:pPr algn="ctr" indent="0" marL="0">
              <a:buNone/>
            </a:pPr>
            <a:r>
              <a:rPr lang="en-US" sz="1000" b="1" dirty="0">
                <a:solidFill>
                  <a:srgbClr val="0F2A4A"/>
                </a:solidFill>
                <a:latin typeface="Microsoft YaHei" pitchFamily="34" charset="0"/>
                <a:ea typeface="Microsoft YaHei" pitchFamily="34" charset="-122"/>
                <a:cs typeface="Microsoft YaHei" pitchFamily="34" charset="-120"/>
              </a:rPr>
              <a:t>Administrative Record</a:t>
            </a:r>
            <a:endParaRPr lang="en-US" sz="1000" dirty="0"/>
          </a:p>
          <a:p>
            <a:pPr algn="ctr" indent="0" marL="0">
              <a:buNone/>
            </a:pPr>
            <a:r>
              <a:rPr lang="en-US" sz="1000" b="1" dirty="0">
                <a:solidFill>
                  <a:srgbClr val="0F2A4A"/>
                </a:solidFill>
                <a:latin typeface="Microsoft YaHei" pitchFamily="34" charset="0"/>
                <a:ea typeface="Microsoft YaHei" pitchFamily="34" charset="-122"/>
                <a:cs typeface="Microsoft YaHei" pitchFamily="34" charset="-120"/>
              </a:rPr>
              <a:t>管理文书样本</a:t>
            </a:r>
            <a:endParaRPr lang="en-US" sz="1000" dirty="0"/>
          </a:p>
        </p:txBody>
      </p:sp>
      <p:pic>
        <p:nvPicPr>
          <p:cNvPr id="12" name="Image 0" descr="C:\Users\18367\Desktop\test\web-app-test\runtime\artifacts\chat_e26d2b322fed\document-assets\download-An_order_for_four_windows,_1295-1186_BCE_,Paris,_Musée_du_Louvre,_Département_des_Antiquités_égyptiennes.jpg">    </p:cNvPr>
          <p:cNvPicPr>
            <a:picLocks noChangeAspect="1"/>
          </p:cNvPicPr>
          <p:nvPr/>
        </p:nvPicPr>
        <p:blipFill>
          <a:blip r:embed="rId1"/>
          <a:stretch>
            <a:fillRect/>
          </a:stretch>
        </p:blipFill>
        <p:spPr>
          <a:xfrm>
            <a:off x="8503920" y="2011680"/>
            <a:ext cx="3017520" cy="2743200"/>
          </a:xfrm>
          <a:prstGeom prst="rect">
            <a:avLst/>
          </a:prstGeom>
        </p:spPr>
      </p:pic>
      <p:sp>
        <p:nvSpPr>
          <p:cNvPr id="13" name="Text 9"/>
          <p:cNvSpPr/>
          <p:nvPr/>
        </p:nvSpPr>
        <p:spPr>
          <a:xfrm>
            <a:off x="8412480" y="4846320"/>
            <a:ext cx="3200400" cy="640080"/>
          </a:xfrm>
          <a:prstGeom prst="rect">
            <a:avLst/>
          </a:prstGeom>
          <a:noFill/>
          <a:ln/>
        </p:spPr>
        <p:txBody>
          <a:bodyPr wrap="square" rtlCol="0" anchor="ctr"/>
          <a:lstStyle/>
          <a:p>
            <a:pPr algn="ctr" indent="0" marL="0">
              <a:buNone/>
            </a:pPr>
            <a:r>
              <a:rPr lang="en-US" sz="850" i="1" dirty="0">
                <a:solidFill>
                  <a:srgbClr val="1B3A5C"/>
                </a:solidFill>
                <a:latin typeface="Microsoft YaHei" pitchFamily="34" charset="0"/>
                <a:ea typeface="Microsoft YaHei" pitchFamily="34" charset="-122"/>
                <a:cs typeface="Microsoft YaHei" pitchFamily="34" charset="-120"/>
              </a:rPr>
              <a:t>Limestone ostracon with hieratic inscription on a window order</a:t>
            </a:r>
            <a:endParaRPr lang="en-US" sz="850" dirty="0"/>
          </a:p>
          <a:p>
            <a:pPr algn="ctr" indent="0" marL="0">
              <a:buNone/>
            </a:pPr>
            <a:r>
              <a:rPr lang="en-US" sz="850" i="1" dirty="0">
                <a:solidFill>
                  <a:srgbClr val="1B3A5C"/>
                </a:solidFill>
                <a:latin typeface="Microsoft YaHei" pitchFamily="34" charset="0"/>
                <a:ea typeface="Microsoft YaHei" pitchFamily="34" charset="-122"/>
                <a:cs typeface="Microsoft YaHei" pitchFamily="34" charset="-120"/>
              </a:rPr>
              <a:t>1295 – 1186 BCE · Louvre</a:t>
            </a:r>
            <a:endParaRPr lang="en-US" sz="850" dirty="0"/>
          </a:p>
        </p:txBody>
      </p:sp>
      <p:sp>
        <p:nvSpPr>
          <p:cNvPr id="14" name="Shape 10"/>
          <p:cNvSpPr/>
          <p:nvPr/>
        </p:nvSpPr>
        <p:spPr>
          <a:xfrm>
            <a:off x="0" y="6537960"/>
            <a:ext cx="12191695" cy="320040"/>
          </a:xfrm>
          <a:prstGeom prst="rect">
            <a:avLst/>
          </a:prstGeom>
          <a:solidFill>
            <a:srgbClr val="0F2A4A"/>
          </a:solidFill>
          <a:ln w="12700">
            <a:solidFill>
              <a:srgbClr val="0F2A4A"/>
            </a:solidFill>
            <a:prstDash val="solid"/>
          </a:ln>
        </p:spPr>
      </p:sp>
      <p:sp>
        <p:nvSpPr>
          <p:cNvPr id="15" name="Text 11"/>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GEOGRAPHY · 地理</a:t>
            </a:r>
            <a:endParaRPr lang="en-US" sz="900" dirty="0"/>
          </a:p>
        </p:txBody>
      </p:sp>
      <p:sp>
        <p:nvSpPr>
          <p:cNvPr id="16" name="Text 12"/>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9"/>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A0522D"/>
          </a:solidFill>
          <a:ln w="12700">
            <a:solidFill>
              <a:srgbClr val="A0522D"/>
            </a:solidFill>
            <a:prstDash val="solid"/>
          </a:ln>
        </p:spPr>
      </p:sp>
      <p:sp>
        <p:nvSpPr>
          <p:cNvPr id="3" name="Shape 1"/>
          <p:cNvSpPr/>
          <p:nvPr/>
        </p:nvSpPr>
        <p:spPr>
          <a:xfrm>
            <a:off x="0" y="1143000"/>
            <a:ext cx="12191695" cy="73152"/>
          </a:xfrm>
          <a:prstGeom prst="rect">
            <a:avLst/>
          </a:prstGeom>
          <a:solidFill>
            <a:srgbClr val="D4A24C"/>
          </a:solidFill>
          <a:ln w="12700">
            <a:solidFill>
              <a:srgbClr val="D4A24C"/>
            </a:solidFill>
            <a:prstDash val="solid"/>
          </a:ln>
        </p:spPr>
      </p:sp>
      <p:sp>
        <p:nvSpPr>
          <p:cNvPr id="4" name="Text 2"/>
          <p:cNvSpPr/>
          <p:nvPr/>
        </p:nvSpPr>
        <p:spPr>
          <a:xfrm>
            <a:off x="457200" y="201168"/>
            <a:ext cx="7315200" cy="274320"/>
          </a:xfrm>
          <a:prstGeom prst="rect">
            <a:avLst/>
          </a:prstGeom>
          <a:noFill/>
          <a:ln/>
        </p:spPr>
        <p:txBody>
          <a:bodyPr wrap="square" rtlCol="0" anchor="ctr"/>
          <a:lstStyle/>
          <a:p>
            <a:pPr indent="0" marL="0">
              <a:buNone/>
            </a:pPr>
            <a:r>
              <a:rPr lang="en-US" sz="1100" b="1" spc="1200" kern="0" dirty="0">
                <a:solidFill>
                  <a:srgbClr val="F5E6C8"/>
                </a:solidFill>
              </a:rPr>
              <a:t>04 · PREDYNASTIC PERIOD</a:t>
            </a:r>
            <a:endParaRPr lang="en-US" sz="1100" dirty="0"/>
          </a:p>
        </p:txBody>
      </p:sp>
      <p:sp>
        <p:nvSpPr>
          <p:cNvPr id="5" name="Text 3"/>
          <p:cNvSpPr/>
          <p:nvPr/>
        </p:nvSpPr>
        <p:spPr>
          <a:xfrm>
            <a:off x="457200" y="457200"/>
            <a:ext cx="8229600" cy="594360"/>
          </a:xfrm>
          <a:prstGeom prst="rect">
            <a:avLst/>
          </a:prstGeom>
          <a:noFill/>
          <a:ln/>
        </p:spPr>
        <p:txBody>
          <a:bodyPr wrap="square" rtlCol="0" anchor="ctr"/>
          <a:lstStyle/>
          <a:p>
            <a:pPr indent="0" marL="0">
              <a:buNone/>
            </a:pPr>
            <a:r>
              <a:rPr lang="en-US" sz="3000" b="1" spc="400" kern="0" dirty="0">
                <a:solidFill>
                  <a:srgbClr val="FDF8EC"/>
                </a:solidFill>
                <a:latin typeface="Microsoft YaHei" pitchFamily="34" charset="0"/>
                <a:ea typeface="Microsoft YaHei" pitchFamily="34" charset="-122"/>
                <a:cs typeface="Microsoft YaHei" pitchFamily="34" charset="-120"/>
              </a:rPr>
              <a:t>前 王 朝 时 期</a:t>
            </a:r>
            <a:endParaRPr lang="en-US" sz="3000" dirty="0"/>
          </a:p>
        </p:txBody>
      </p:sp>
      <p:sp>
        <p:nvSpPr>
          <p:cNvPr id="6" name="Text 4"/>
          <p:cNvSpPr/>
          <p:nvPr/>
        </p:nvSpPr>
        <p:spPr>
          <a:xfrm>
            <a:off x="8991295" y="777240"/>
            <a:ext cx="2743200" cy="274320"/>
          </a:xfrm>
          <a:prstGeom prst="rect">
            <a:avLst/>
          </a:prstGeom>
          <a:noFill/>
          <a:ln/>
        </p:spPr>
        <p:txBody>
          <a:bodyPr wrap="square" rtlCol="0" anchor="ctr"/>
          <a:lstStyle/>
          <a:p>
            <a:pPr algn="r" indent="0" marL="0">
              <a:buNone/>
            </a:pPr>
            <a:r>
              <a:rPr lang="en-US" sz="1100" i="1" dirty="0">
                <a:solidFill>
                  <a:srgbClr val="F5E6C8"/>
                </a:solidFill>
              </a:rPr>
              <a:t>c. 5000 – 3100 BCE</a:t>
            </a:r>
            <a:endParaRPr lang="en-US" sz="1100" dirty="0"/>
          </a:p>
        </p:txBody>
      </p:sp>
      <p:sp>
        <p:nvSpPr>
          <p:cNvPr id="7" name="Text 5"/>
          <p:cNvSpPr/>
          <p:nvPr/>
        </p:nvSpPr>
        <p:spPr>
          <a:xfrm>
            <a:off x="457200" y="1371600"/>
            <a:ext cx="5486400" cy="411480"/>
          </a:xfrm>
          <a:prstGeom prst="rect">
            <a:avLst/>
          </a:prstGeom>
          <a:noFill/>
          <a:ln/>
        </p:spPr>
        <p:txBody>
          <a:bodyPr wrap="square" rtlCol="0" anchor="ctr"/>
          <a:lstStyle/>
          <a:p>
            <a:pPr indent="0" marL="0">
              <a:buNone/>
            </a:pPr>
            <a:r>
              <a:rPr lang="en-US" sz="2000" b="1" dirty="0">
                <a:solidFill>
                  <a:srgbClr val="A0522D"/>
                </a:solidFill>
                <a:latin typeface="Georgia" pitchFamily="34" charset="0"/>
                <a:ea typeface="Georgia" pitchFamily="34" charset="-122"/>
                <a:cs typeface="Georgia" pitchFamily="34" charset="-120"/>
              </a:rPr>
              <a:t>Predynastic Egypt</a:t>
            </a:r>
            <a:endParaRPr lang="en-US" sz="2000" dirty="0"/>
          </a:p>
        </p:txBody>
      </p:sp>
      <p:sp>
        <p:nvSpPr>
          <p:cNvPr id="8" name="Text 6"/>
          <p:cNvSpPr/>
          <p:nvPr/>
        </p:nvSpPr>
        <p:spPr>
          <a:xfrm>
            <a:off x="457200" y="1828800"/>
            <a:ext cx="5486400" cy="1188720"/>
          </a:xfrm>
          <a:prstGeom prst="rect">
            <a:avLst/>
          </a:prstGeom>
          <a:noFill/>
          <a:ln/>
        </p:spPr>
        <p:txBody>
          <a:bodyPr wrap="square" rtlCol="0" anchor="ctr"/>
          <a:lstStyle/>
          <a:p>
            <a:pPr indent="0" marL="0">
              <a:lnSpc>
                <a:spcPct val="135000"/>
              </a:lnSpc>
              <a:buNone/>
            </a:pPr>
            <a:r>
              <a:rPr lang="en-US" sz="1200" dirty="0">
                <a:solidFill>
                  <a:srgbClr val="1A1A1A"/>
                </a:solidFill>
              </a:rPr>
              <a:t>The formative era when scattered farming settlements along the Nile gradually coalesced into larger political units. Key developments included copper metallurgy, the rise of Upper Egyptian kingdoms (Naqada culture), early hieroglyphic writing, and the emergence of divine kingship.</a:t>
            </a:r>
            <a:endParaRPr lang="en-US" sz="1200" dirty="0"/>
          </a:p>
        </p:txBody>
      </p:sp>
      <p:sp>
        <p:nvSpPr>
          <p:cNvPr id="9" name="Text 7"/>
          <p:cNvSpPr/>
          <p:nvPr/>
        </p:nvSpPr>
        <p:spPr>
          <a:xfrm>
            <a:off x="457200" y="3108960"/>
            <a:ext cx="5486400" cy="411480"/>
          </a:xfrm>
          <a:prstGeom prst="rect">
            <a:avLst/>
          </a:prstGeom>
          <a:noFill/>
          <a:ln/>
        </p:spPr>
        <p:txBody>
          <a:bodyPr wrap="square" rtlCol="0" anchor="ctr"/>
          <a:lstStyle/>
          <a:p>
            <a:pPr indent="0" marL="0">
              <a:buNone/>
            </a:pPr>
            <a:r>
              <a:rPr lang="en-US" sz="2000" b="1" dirty="0">
                <a:solidFill>
                  <a:srgbClr val="A0522D"/>
                </a:solidFill>
                <a:latin typeface="Microsoft YaHei" pitchFamily="34" charset="0"/>
                <a:ea typeface="Microsoft YaHei" pitchFamily="34" charset="-122"/>
                <a:cs typeface="Microsoft YaHei" pitchFamily="34" charset="-120"/>
              </a:rPr>
              <a:t>前王朝阶段</a:t>
            </a:r>
            <a:endParaRPr lang="en-US" sz="2000" dirty="0"/>
          </a:p>
        </p:txBody>
      </p:sp>
      <p:sp>
        <p:nvSpPr>
          <p:cNvPr id="10" name="Text 8"/>
          <p:cNvSpPr/>
          <p:nvPr/>
        </p:nvSpPr>
        <p:spPr>
          <a:xfrm>
            <a:off x="457200" y="3566160"/>
            <a:ext cx="5486400" cy="1280160"/>
          </a:xfrm>
          <a:prstGeom prst="rect">
            <a:avLst/>
          </a:prstGeom>
          <a:noFill/>
          <a:ln/>
        </p:spPr>
        <p:txBody>
          <a:bodyPr wrap="square" rtlCol="0" anchor="ctr"/>
          <a:lstStyle/>
          <a:p>
            <a:pPr indent="0" marL="0">
              <a:lnSpc>
                <a:spcPct val="135000"/>
              </a:lnSpc>
              <a:buNone/>
            </a:pPr>
            <a:r>
              <a:rPr lang="en-US" sz="1200" dirty="0">
                <a:solidFill>
                  <a:srgbClr val="1A1A1A"/>
                </a:solidFill>
                <a:latin typeface="Microsoft YaHei" pitchFamily="34" charset="0"/>
                <a:ea typeface="Microsoft YaHei" pitchFamily="34" charset="-122"/>
                <a:cs typeface="Microsoft YaHei" pitchFamily="34" charset="-120"/>
              </a:rPr>
              <a:t>尼罗河沿岸的史前聚落逐步发展为更大规模的政治实体。这一时期出现了铜器冶炼、上埃及那伽达文化、早期象形文字雏形以及神权王权的萌芽。陶俑、调色板、化妆石板等遗物显示出独特的艺术风格。</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983480"/>
          <a:ext cx="5943600" cy="1508760"/>
        </p:xfrm>
        <a:graphic>
          <a:graphicData uri="http://schemas.openxmlformats.org/drawingml/2006/table">
            <a:tbl>
              <a:tblPr/>
              <a:tblGrid>
                <a:gridCol w="1463040"/>
                <a:gridCol w="1645920"/>
                <a:gridCol w="2834640"/>
              </a:tblGrid>
              <a:tr h="377190">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Phase · 阶段</a:t>
                      </a:r>
                      <a:endParaRPr lang="en-US" sz="1100" dirty="0">
                        <a:latin typeface="Calibri" charset="0"/>
                        <a:ea typeface="Calibri" charset="0"/>
                        <a:cs typeface="Calibri" charset="0"/>
                      </a:endParaRPr>
                    </a:p>
                  </a:txBody>
                  <a:tcPr marL="91440" marR="91440" marT="45720" marB="45720">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Period · 年代</a:t>
                      </a:r>
                      <a:endParaRPr lang="en-US" sz="1100" dirty="0">
                        <a:latin typeface="Calibri" charset="0"/>
                        <a:ea typeface="Calibri" charset="0"/>
                        <a:cs typeface="Calibri" charset="0"/>
                      </a:endParaRPr>
                    </a:p>
                  </a:txBody>
                  <a:tcPr marL="91440" marR="91440" marT="45720" marB="45720">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Significance · 意义</a:t>
                      </a:r>
                      <a:endParaRPr lang="en-US" sz="1100" dirty="0">
                        <a:latin typeface="Calibri" charset="0"/>
                        <a:ea typeface="Calibri" charset="0"/>
                        <a:cs typeface="Calibri" charset="0"/>
                      </a:endParaRPr>
                    </a:p>
                  </a:txBody>
                  <a:tcPr marL="91440" marR="91440" marT="45720" marB="45720">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r>
              <a:tr h="377190">
                <a:tc>
                  <a:txBody>
                    <a:bodyPr/>
                    <a:lstStyle/>
                    <a:p>
                      <a:pPr indent="0" marL="0">
                        <a:buNone/>
                      </a:pPr>
                      <a:r>
                        <a:rPr lang="en-US" sz="1000" dirty="0">
                          <a:solidFill>
                            <a:srgbClr val="0F2A4A"/>
                          </a:solidFill>
                          <a:latin typeface="Microsoft YaHei" pitchFamily="34" charset="0"/>
                          <a:ea typeface="Microsoft YaHei" pitchFamily="34" charset="-122"/>
                          <a:cs typeface="Microsoft YaHei" pitchFamily="34" charset="-120"/>
                        </a:rPr>
                        <a:t>Naqada I</a:t>
                      </a:r>
                      <a:endParaRPr lang="en-US" sz="1000" dirty="0">
                        <a:latin typeface="Microsoft YaHei" charset="0"/>
                        <a:ea typeface="Microsoft YaHei" charset="0"/>
                        <a:cs typeface="Microsoft YaHei" charset="0"/>
                      </a:endParaRPr>
                    </a:p>
                    <a:p>
                      <a:pPr indent="0" marL="0">
                        <a:buNone/>
                      </a:pPr>
                      <a:r>
                        <a:rPr lang="en-US" sz="1000" dirty="0">
                          <a:solidFill>
                            <a:srgbClr val="0F2A4A"/>
                          </a:solidFill>
                          <a:latin typeface="Microsoft YaHei" pitchFamily="34" charset="0"/>
                          <a:ea typeface="Microsoft YaHei" pitchFamily="34" charset="-122"/>
                          <a:cs typeface="Microsoft YaHei" pitchFamily="34" charset="-120"/>
                        </a:rPr>
                        <a:t>巴达里文化</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c. 5000 – 4000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1000" dirty="0">
                          <a:solidFill>
                            <a:srgbClr val="1A1A1A"/>
                          </a:solidFill>
                          <a:latin typeface="Microsoft YaHei" pitchFamily="34" charset="0"/>
                          <a:ea typeface="Microsoft YaHei" pitchFamily="34" charset="-122"/>
                          <a:cs typeface="Microsoft YaHei" pitchFamily="34" charset="-120"/>
                        </a:rPr>
                        <a:t>Agriculture, pottery, early settlements</a:t>
                      </a:r>
                      <a:endParaRPr lang="en-US" sz="1000" dirty="0">
                        <a:latin typeface="Microsoft YaHei" charset="0"/>
                        <a:ea typeface="Microsoft YaHei" charset="0"/>
                        <a:cs typeface="Microsoft YaHei" charset="0"/>
                      </a:endParaRPr>
                    </a:p>
                    <a:p>
                      <a:pPr indent="0" marL="0">
                        <a:buNone/>
                      </a:pPr>
                      <a:r>
                        <a:rPr lang="en-US" sz="1000" dirty="0">
                          <a:solidFill>
                            <a:srgbClr val="1A1A1A"/>
                          </a:solidFill>
                          <a:latin typeface="Microsoft YaHei" pitchFamily="34" charset="0"/>
                          <a:ea typeface="Microsoft YaHei" pitchFamily="34" charset="-122"/>
                          <a:cs typeface="Microsoft YaHei" pitchFamily="34" charset="-120"/>
                        </a:rPr>
                        <a:t>农业 · 制陶 · 早期定居</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377190">
                <a:tc>
                  <a:txBody>
                    <a:bodyPr/>
                    <a:lstStyle/>
                    <a:p>
                      <a:pPr indent="0" marL="0">
                        <a:buNone/>
                      </a:pPr>
                      <a:r>
                        <a:rPr lang="en-US" sz="1000" dirty="0">
                          <a:solidFill>
                            <a:srgbClr val="0F2A4A"/>
                          </a:solidFill>
                          <a:latin typeface="Microsoft YaHei" pitchFamily="34" charset="0"/>
                          <a:ea typeface="Microsoft YaHei" pitchFamily="34" charset="-122"/>
                          <a:cs typeface="Microsoft YaHei" pitchFamily="34" charset="-120"/>
                        </a:rPr>
                        <a:t>Naqada II</a:t>
                      </a:r>
                      <a:endParaRPr lang="en-US" sz="1000" dirty="0">
                        <a:latin typeface="Microsoft YaHei" charset="0"/>
                        <a:ea typeface="Microsoft YaHei" charset="0"/>
                        <a:cs typeface="Microsoft YaHei" charset="0"/>
                      </a:endParaRPr>
                    </a:p>
                    <a:p>
                      <a:pPr indent="0" marL="0">
                        <a:buNone/>
                      </a:pPr>
                      <a:r>
                        <a:rPr lang="en-US" sz="1000" dirty="0">
                          <a:solidFill>
                            <a:srgbClr val="0F2A4A"/>
                          </a:solidFill>
                          <a:latin typeface="Microsoft YaHei" pitchFamily="34" charset="0"/>
                          <a:ea typeface="Microsoft YaHei" pitchFamily="34" charset="-122"/>
                          <a:cs typeface="Microsoft YaHei" pitchFamily="34" charset="-120"/>
                        </a:rPr>
                        <a:t>那伽达二期</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c. 4000 – 3500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1000" dirty="0">
                          <a:solidFill>
                            <a:srgbClr val="1A1A1A"/>
                          </a:solidFill>
                          <a:latin typeface="Microsoft YaHei" pitchFamily="34" charset="0"/>
                          <a:ea typeface="Microsoft YaHei" pitchFamily="34" charset="-122"/>
                          <a:cs typeface="Microsoft YaHei" pitchFamily="34" charset="-120"/>
                        </a:rPr>
                        <a:t>Long-distance trade, chiefdoms</a:t>
                      </a:r>
                      <a:endParaRPr lang="en-US" sz="1000" dirty="0">
                        <a:latin typeface="Microsoft YaHei" charset="0"/>
                        <a:ea typeface="Microsoft YaHei" charset="0"/>
                        <a:cs typeface="Microsoft YaHei" charset="0"/>
                      </a:endParaRPr>
                    </a:p>
                    <a:p>
                      <a:pPr indent="0" marL="0">
                        <a:buNone/>
                      </a:pPr>
                      <a:r>
                        <a:rPr lang="en-US" sz="1000" dirty="0">
                          <a:solidFill>
                            <a:srgbClr val="1A1A1A"/>
                          </a:solidFill>
                          <a:latin typeface="Microsoft YaHei" pitchFamily="34" charset="0"/>
                          <a:ea typeface="Microsoft YaHei" pitchFamily="34" charset="-122"/>
                          <a:cs typeface="Microsoft YaHei" pitchFamily="34" charset="-120"/>
                        </a:rPr>
                        <a:t>远程贸易 · 部族联盟</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377190">
                <a:tc>
                  <a:txBody>
                    <a:bodyPr/>
                    <a:lstStyle/>
                    <a:p>
                      <a:pPr indent="0" marL="0">
                        <a:buNone/>
                      </a:pPr>
                      <a:r>
                        <a:rPr lang="en-US" sz="1000" b="1" dirty="0">
                          <a:solidFill>
                            <a:srgbClr val="FDF8EC"/>
                          </a:solidFill>
                          <a:latin typeface="Microsoft YaHei" pitchFamily="34" charset="0"/>
                          <a:ea typeface="Microsoft YaHei" pitchFamily="34" charset="-122"/>
                          <a:cs typeface="Microsoft YaHei" pitchFamily="34" charset="-120"/>
                        </a:rPr>
                        <a:t>Naqada III</a:t>
                      </a:r>
                      <a:endParaRPr lang="en-US" sz="1000" dirty="0">
                        <a:latin typeface="Microsoft YaHei" charset="0"/>
                        <a:ea typeface="Microsoft YaHei" charset="0"/>
                        <a:cs typeface="Microsoft YaHei" charset="0"/>
                      </a:endParaRPr>
                    </a:p>
                    <a:p>
                      <a:pPr indent="0" marL="0">
                        <a:buNone/>
                      </a:pPr>
                      <a:r>
                        <a:rPr lang="en-US" sz="1000" b="1" dirty="0">
                          <a:solidFill>
                            <a:srgbClr val="FDF8EC"/>
                          </a:solidFill>
                          <a:latin typeface="Microsoft YaHei" pitchFamily="34" charset="0"/>
                          <a:ea typeface="Microsoft YaHei" pitchFamily="34" charset="-122"/>
                          <a:cs typeface="Microsoft YaHei" pitchFamily="34" charset="-120"/>
                        </a:rPr>
                        <a:t>那伽达三期</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A0522D"/>
                    </a:solidFill>
                  </a:tcPr>
                </a:tc>
                <a:tc>
                  <a:txBody>
                    <a:bodyPr/>
                    <a:lstStyle/>
                    <a:p>
                      <a:pPr algn="ctr" indent="0" marL="0">
                        <a:buNone/>
                      </a:pPr>
                      <a:r>
                        <a:rPr lang="en-US" sz="1000" b="1" dirty="0">
                          <a:solidFill>
                            <a:srgbClr val="FDF8EC"/>
                          </a:solidFill>
                          <a:latin typeface="Calibri" pitchFamily="34" charset="0"/>
                          <a:ea typeface="Calibri" pitchFamily="34" charset="-122"/>
                          <a:cs typeface="Calibri" pitchFamily="34" charset="-120"/>
                        </a:rPr>
                        <a:t>c. 3500 – 3100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indent="0" marL="0">
                        <a:buNone/>
                      </a:pPr>
                      <a:r>
                        <a:rPr lang="en-US" sz="1000" b="1" dirty="0">
                          <a:solidFill>
                            <a:srgbClr val="FDF8EC"/>
                          </a:solidFill>
                          <a:latin typeface="Microsoft YaHei" pitchFamily="34" charset="0"/>
                          <a:ea typeface="Microsoft YaHei" pitchFamily="34" charset="-122"/>
                          <a:cs typeface="Microsoft YaHei" pitchFamily="34" charset="-120"/>
                        </a:rPr>
                        <a:t>Prototype kingship, writing emerges</a:t>
                      </a:r>
                      <a:endParaRPr lang="en-US" sz="1000" dirty="0">
                        <a:latin typeface="Microsoft YaHei" charset="0"/>
                        <a:ea typeface="Microsoft YaHei" charset="0"/>
                        <a:cs typeface="Microsoft YaHei" charset="0"/>
                      </a:endParaRPr>
                    </a:p>
                    <a:p>
                      <a:pPr indent="0" marL="0">
                        <a:buNone/>
                      </a:pPr>
                      <a:r>
                        <a:rPr lang="en-US" sz="1000" b="1" dirty="0">
                          <a:solidFill>
                            <a:srgbClr val="FDF8EC"/>
                          </a:solidFill>
                          <a:latin typeface="Microsoft YaHei" pitchFamily="34" charset="0"/>
                          <a:ea typeface="Microsoft YaHei" pitchFamily="34" charset="-122"/>
                          <a:cs typeface="Microsoft YaHei" pitchFamily="34" charset="-120"/>
                        </a:rPr>
                        <a:t>王权雏形 · 文字萌芽</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r>
            </a:tbl>
          </a:graphicData>
        </a:graphic>
      </p:graphicFrame>
      <p:sp>
        <p:nvSpPr>
          <p:cNvPr id="12" name="Shape 9"/>
          <p:cNvSpPr/>
          <p:nvPr/>
        </p:nvSpPr>
        <p:spPr>
          <a:xfrm>
            <a:off x="6583680" y="1508760"/>
            <a:ext cx="5120640" cy="4846320"/>
          </a:xfrm>
          <a:prstGeom prst="rect">
            <a:avLst/>
          </a:prstGeom>
          <a:solidFill>
            <a:srgbClr val="FFFFFF"/>
          </a:solidFill>
          <a:ln w="25400">
            <a:solidFill>
              <a:srgbClr val="D4A24C"/>
            </a:solidFill>
            <a:prstDash val="solid"/>
          </a:ln>
        </p:spPr>
      </p:sp>
      <p:pic>
        <p:nvPicPr>
          <p:cNvPr id="13" name="Image 0" descr="C:\Users\18367\Desktop\test\web-app-test\runtime\artifacts\chat_e26d2b322fed\document-assets\download-Predynastic_collage_(new_version).jpg">    </p:cNvPr>
          <p:cNvPicPr>
            <a:picLocks noChangeAspect="1"/>
          </p:cNvPicPr>
          <p:nvPr/>
        </p:nvPicPr>
        <p:blipFill>
          <a:blip r:embed="rId1"/>
          <a:stretch>
            <a:fillRect/>
          </a:stretch>
        </p:blipFill>
        <p:spPr>
          <a:xfrm>
            <a:off x="6720840" y="1645920"/>
            <a:ext cx="4846320" cy="4526280"/>
          </a:xfrm>
          <a:prstGeom prst="rect">
            <a:avLst/>
          </a:prstGeom>
        </p:spPr>
      </p:pic>
      <p:sp>
        <p:nvSpPr>
          <p:cNvPr id="14" name="Text 10"/>
          <p:cNvSpPr/>
          <p:nvPr/>
        </p:nvSpPr>
        <p:spPr>
          <a:xfrm>
            <a:off x="6583680" y="6199632"/>
            <a:ext cx="5120640" cy="228600"/>
          </a:xfrm>
          <a:prstGeom prst="rect">
            <a:avLst/>
          </a:prstGeom>
          <a:noFill/>
          <a:ln/>
        </p:spPr>
        <p:txBody>
          <a:bodyPr wrap="square" rtlCol="0" anchor="ctr"/>
          <a:lstStyle/>
          <a:p>
            <a:pPr algn="ctr" indent="0" marL="0">
              <a:buNone/>
            </a:pPr>
            <a:r>
              <a:rPr lang="en-US" sz="900" i="1" dirty="0">
                <a:solidFill>
                  <a:srgbClr val="0F2A4A"/>
                </a:solidFill>
              </a:rPr>
              <a:t>Predynastic Artefacts Collage · 前王朝文物精选</a:t>
            </a:r>
            <a:endParaRPr lang="en-US" sz="900" dirty="0"/>
          </a:p>
        </p:txBody>
      </p:sp>
      <p:sp>
        <p:nvSpPr>
          <p:cNvPr id="15" name="Shape 11"/>
          <p:cNvSpPr/>
          <p:nvPr/>
        </p:nvSpPr>
        <p:spPr>
          <a:xfrm>
            <a:off x="0" y="6537960"/>
            <a:ext cx="12191695" cy="320040"/>
          </a:xfrm>
          <a:prstGeom prst="rect">
            <a:avLst/>
          </a:prstGeom>
          <a:solidFill>
            <a:srgbClr val="0F2A4A"/>
          </a:solidFill>
          <a:ln w="12700">
            <a:solidFill>
              <a:srgbClr val="0F2A4A"/>
            </a:solidFill>
            <a:prstDash val="solid"/>
          </a:ln>
        </p:spPr>
      </p:sp>
      <p:sp>
        <p:nvSpPr>
          <p:cNvPr id="16" name="Text 12"/>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PREDYNASTIC · 前王朝</a:t>
            </a:r>
            <a:endParaRPr lang="en-US" sz="900" dirty="0"/>
          </a:p>
        </p:txBody>
      </p:sp>
      <p:sp>
        <p:nvSpPr>
          <p:cNvPr id="17" name="Text 13"/>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B8860B"/>
          </a:solidFill>
          <a:ln w="12700">
            <a:solidFill>
              <a:srgbClr val="B8860B"/>
            </a:solidFill>
            <a:prstDash val="solid"/>
          </a:ln>
        </p:spPr>
      </p:sp>
      <p:sp>
        <p:nvSpPr>
          <p:cNvPr id="3" name="Shape 1"/>
          <p:cNvSpPr/>
          <p:nvPr/>
        </p:nvSpPr>
        <p:spPr>
          <a:xfrm>
            <a:off x="0" y="1143000"/>
            <a:ext cx="12191695" cy="73152"/>
          </a:xfrm>
          <a:prstGeom prst="rect">
            <a:avLst/>
          </a:prstGeom>
          <a:solidFill>
            <a:srgbClr val="0F2A4A"/>
          </a:solidFill>
          <a:ln w="12700">
            <a:solidFill>
              <a:srgbClr val="0F2A4A"/>
            </a:solidFill>
            <a:prstDash val="solid"/>
          </a:ln>
        </p:spPr>
      </p:sp>
      <p:sp>
        <p:nvSpPr>
          <p:cNvPr id="4" name="Text 2"/>
          <p:cNvSpPr/>
          <p:nvPr/>
        </p:nvSpPr>
        <p:spPr>
          <a:xfrm>
            <a:off x="457200" y="201168"/>
            <a:ext cx="7315200" cy="274320"/>
          </a:xfrm>
          <a:prstGeom prst="rect">
            <a:avLst/>
          </a:prstGeom>
          <a:noFill/>
          <a:ln/>
        </p:spPr>
        <p:txBody>
          <a:bodyPr wrap="square" rtlCol="0" anchor="ctr"/>
          <a:lstStyle/>
          <a:p>
            <a:pPr indent="0" marL="0">
              <a:buNone/>
            </a:pPr>
            <a:r>
              <a:rPr lang="en-US" sz="1100" b="1" spc="1200" kern="0" dirty="0">
                <a:solidFill>
                  <a:srgbClr val="FDF8EC"/>
                </a:solidFill>
              </a:rPr>
              <a:t>05 · OLD KINGDOM</a:t>
            </a:r>
            <a:endParaRPr lang="en-US" sz="1100" dirty="0"/>
          </a:p>
        </p:txBody>
      </p:sp>
      <p:sp>
        <p:nvSpPr>
          <p:cNvPr id="5" name="Text 3"/>
          <p:cNvSpPr/>
          <p:nvPr/>
        </p:nvSpPr>
        <p:spPr>
          <a:xfrm>
            <a:off x="457200" y="457200"/>
            <a:ext cx="10058400" cy="594360"/>
          </a:xfrm>
          <a:prstGeom prst="rect">
            <a:avLst/>
          </a:prstGeom>
          <a:noFill/>
          <a:ln/>
        </p:spPr>
        <p:txBody>
          <a:bodyPr wrap="square" rtlCol="0" anchor="ctr"/>
          <a:lstStyle/>
          <a:p>
            <a:pPr indent="0" marL="0">
              <a:buNone/>
            </a:pPr>
            <a:r>
              <a:rPr lang="en-US" sz="3000" b="1" spc="400" kern="0" dirty="0">
                <a:solidFill>
                  <a:srgbClr val="FDF8EC"/>
                </a:solidFill>
                <a:latin typeface="Microsoft YaHei" pitchFamily="34" charset="0"/>
                <a:ea typeface="Microsoft YaHei" pitchFamily="34" charset="-122"/>
                <a:cs typeface="Microsoft YaHei" pitchFamily="34" charset="-120"/>
              </a:rPr>
              <a:t>古 王 国 · 金 字 塔 时 代</a:t>
            </a:r>
            <a:endParaRPr lang="en-US" sz="3000" dirty="0"/>
          </a:p>
        </p:txBody>
      </p:sp>
      <p:sp>
        <p:nvSpPr>
          <p:cNvPr id="6" name="Text 4"/>
          <p:cNvSpPr/>
          <p:nvPr/>
        </p:nvSpPr>
        <p:spPr>
          <a:xfrm>
            <a:off x="7162495" y="777240"/>
            <a:ext cx="4572000" cy="274320"/>
          </a:xfrm>
          <a:prstGeom prst="rect">
            <a:avLst/>
          </a:prstGeom>
          <a:noFill/>
          <a:ln/>
        </p:spPr>
        <p:txBody>
          <a:bodyPr wrap="square" rtlCol="0" anchor="ctr"/>
          <a:lstStyle/>
          <a:p>
            <a:pPr algn="r" indent="0" marL="0">
              <a:buNone/>
            </a:pPr>
            <a:r>
              <a:rPr lang="en-US" sz="1100" i="1" dirty="0">
                <a:solidFill>
                  <a:srgbClr val="F5E6C8"/>
                </a:solidFill>
              </a:rPr>
              <a:t>Age of the Pyramid Builders · 2686 – 2181 BC</a:t>
            </a:r>
            <a:endParaRPr lang="en-US" sz="1100" dirty="0"/>
          </a:p>
        </p:txBody>
      </p:sp>
      <p:sp>
        <p:nvSpPr>
          <p:cNvPr id="7" name="Shape 5"/>
          <p:cNvSpPr/>
          <p:nvPr/>
        </p:nvSpPr>
        <p:spPr>
          <a:xfrm>
            <a:off x="457200" y="1463040"/>
            <a:ext cx="3703320" cy="457200"/>
          </a:xfrm>
          <a:prstGeom prst="rect">
            <a:avLst/>
          </a:prstGeom>
          <a:solidFill>
            <a:srgbClr val="0F2A4A"/>
          </a:solidFill>
          <a:ln w="12700">
            <a:solidFill>
              <a:srgbClr val="0F2A4A"/>
            </a:solidFill>
            <a:prstDash val="solid"/>
          </a:ln>
        </p:spPr>
      </p:sp>
      <p:sp>
        <p:nvSpPr>
          <p:cNvPr id="8" name="Text 6"/>
          <p:cNvSpPr/>
          <p:nvPr/>
        </p:nvSpPr>
        <p:spPr>
          <a:xfrm>
            <a:off x="548640" y="1463040"/>
            <a:ext cx="457200" cy="457200"/>
          </a:xfrm>
          <a:prstGeom prst="rect">
            <a:avLst/>
          </a:prstGeom>
          <a:noFill/>
          <a:ln/>
        </p:spPr>
        <p:txBody>
          <a:bodyPr wrap="square" rtlCol="0" anchor="ctr"/>
          <a:lstStyle/>
          <a:p>
            <a:pPr algn="ctr" indent="0" marL="0">
              <a:buNone/>
            </a:pPr>
            <a:r>
              <a:rPr lang="en-US" sz="2200" dirty="0">
                <a:solidFill>
                  <a:srgbClr val="D4A24C"/>
                </a:solidFill>
              </a:rPr>
              <a:t>☥</a:t>
            </a:r>
            <a:endParaRPr lang="en-US" sz="2200" dirty="0"/>
          </a:p>
        </p:txBody>
      </p:sp>
      <p:sp>
        <p:nvSpPr>
          <p:cNvPr id="9" name="Text 7"/>
          <p:cNvSpPr/>
          <p:nvPr/>
        </p:nvSpPr>
        <p:spPr>
          <a:xfrm>
            <a:off x="1051560" y="1463040"/>
            <a:ext cx="3017520" cy="457200"/>
          </a:xfrm>
          <a:prstGeom prst="rect">
            <a:avLst/>
          </a:prstGeom>
          <a:noFill/>
          <a:ln/>
        </p:spPr>
        <p:txBody>
          <a:bodyPr wrap="square" rtlCol="0" anchor="ctr"/>
          <a:lstStyle/>
          <a:p>
            <a:pPr indent="0" marL="0">
              <a:buNone/>
            </a:pPr>
            <a:r>
              <a:rPr lang="en-US" sz="1400" b="1" spc="400" kern="0" dirty="0">
                <a:solidFill>
                  <a:srgbClr val="F5E6C8"/>
                </a:solidFill>
                <a:latin typeface="Microsoft YaHei" pitchFamily="34" charset="0"/>
                <a:ea typeface="Microsoft YaHei" pitchFamily="34" charset="-122"/>
                <a:cs typeface="Microsoft YaHei" pitchFamily="34" charset="-120"/>
              </a:rPr>
              <a:t>神 圣 王 权</a:t>
            </a:r>
            <a:endParaRPr lang="en-US" sz="1400" dirty="0"/>
          </a:p>
        </p:txBody>
      </p:sp>
      <p:sp>
        <p:nvSpPr>
          <p:cNvPr id="10" name="Shape 8"/>
          <p:cNvSpPr/>
          <p:nvPr/>
        </p:nvSpPr>
        <p:spPr>
          <a:xfrm>
            <a:off x="457200" y="1965960"/>
            <a:ext cx="3703320" cy="4206240"/>
          </a:xfrm>
          <a:prstGeom prst="rect">
            <a:avLst/>
          </a:prstGeom>
          <a:solidFill>
            <a:srgbClr val="FAF6E9"/>
          </a:solidFill>
          <a:ln w="12700">
            <a:solidFill>
              <a:srgbClr val="D4A24C"/>
            </a:solidFill>
            <a:prstDash val="solid"/>
          </a:ln>
        </p:spPr>
      </p:sp>
      <p:sp>
        <p:nvSpPr>
          <p:cNvPr id="11" name="Text 9"/>
          <p:cNvSpPr/>
          <p:nvPr/>
        </p:nvSpPr>
        <p:spPr>
          <a:xfrm>
            <a:off x="594360" y="2103120"/>
            <a:ext cx="3474720" cy="365760"/>
          </a:xfrm>
          <a:prstGeom prst="rect">
            <a:avLst/>
          </a:prstGeom>
          <a:noFill/>
          <a:ln/>
        </p:spPr>
        <p:txBody>
          <a:bodyPr wrap="square" rtlCol="0" anchor="ctr"/>
          <a:lstStyle/>
          <a:p>
            <a:pPr indent="0" marL="0">
              <a:buNone/>
            </a:pPr>
            <a:r>
              <a:rPr lang="en-US" sz="1400" b="1" dirty="0">
                <a:solidFill>
                  <a:srgbClr val="B8860B"/>
                </a:solidFill>
                <a:latin typeface="Georgia" pitchFamily="34" charset="0"/>
                <a:ea typeface="Georgia" pitchFamily="34" charset="-122"/>
                <a:cs typeface="Georgia" pitchFamily="34" charset="-120"/>
              </a:rPr>
              <a:t>Divine Kingship</a:t>
            </a:r>
            <a:endParaRPr lang="en-US" sz="1400" dirty="0"/>
          </a:p>
        </p:txBody>
      </p:sp>
      <p:sp>
        <p:nvSpPr>
          <p:cNvPr id="12" name="Shape 10"/>
          <p:cNvSpPr/>
          <p:nvPr/>
        </p:nvSpPr>
        <p:spPr>
          <a:xfrm>
            <a:off x="594360" y="2514600"/>
            <a:ext cx="731520" cy="0"/>
          </a:xfrm>
          <a:prstGeom prst="line">
            <a:avLst/>
          </a:prstGeom>
          <a:noFill/>
          <a:ln w="19050">
            <a:solidFill>
              <a:srgbClr val="A0522D"/>
            </a:solidFill>
            <a:prstDash val="solid"/>
          </a:ln>
        </p:spPr>
      </p:sp>
      <p:sp>
        <p:nvSpPr>
          <p:cNvPr id="13" name="Text 11"/>
          <p:cNvSpPr/>
          <p:nvPr/>
        </p:nvSpPr>
        <p:spPr>
          <a:xfrm>
            <a:off x="594360" y="2651760"/>
            <a:ext cx="3474720" cy="1463040"/>
          </a:xfrm>
          <a:prstGeom prst="rect">
            <a:avLst/>
          </a:prstGeom>
          <a:noFill/>
          <a:ln/>
        </p:spPr>
        <p:txBody>
          <a:bodyPr wrap="square" rtlCol="0" anchor="ctr"/>
          <a:lstStyle/>
          <a:p>
            <a:pPr indent="0" marL="0">
              <a:lnSpc>
                <a:spcPct val="130000"/>
              </a:lnSpc>
              <a:buNone/>
            </a:pPr>
            <a:r>
              <a:rPr lang="en-US" sz="1050" dirty="0">
                <a:solidFill>
                  <a:srgbClr val="1A1A1A"/>
                </a:solidFill>
              </a:rPr>
              <a:t>The pharaoh was worshipped as a living god, the intermediary between the gods and the people. The pyramid was both tomb and stairway to the eternal stars.</a:t>
            </a:r>
            <a:endParaRPr lang="en-US" sz="1050" dirty="0"/>
          </a:p>
        </p:txBody>
      </p:sp>
      <p:sp>
        <p:nvSpPr>
          <p:cNvPr id="14" name="Text 12"/>
          <p:cNvSpPr/>
          <p:nvPr/>
        </p:nvSpPr>
        <p:spPr>
          <a:xfrm>
            <a:off x="594360" y="4160520"/>
            <a:ext cx="3474720" cy="1828800"/>
          </a:xfrm>
          <a:prstGeom prst="rect">
            <a:avLst/>
          </a:prstGeom>
          <a:noFill/>
          <a:ln/>
        </p:spPr>
        <p:txBody>
          <a:bodyPr wrap="square" rtlCol="0" anchor="ctr"/>
          <a:lstStyle/>
          <a:p>
            <a:pPr indent="0" marL="0">
              <a:lnSpc>
                <a:spcPct val="135000"/>
              </a:lnSpc>
              <a:buNone/>
            </a:pPr>
            <a:r>
              <a:rPr lang="en-US" sz="1050" dirty="0">
                <a:solidFill>
                  <a:srgbClr val="1B3A5C"/>
                </a:solidFill>
                <a:latin typeface="Microsoft YaHei" pitchFamily="34" charset="0"/>
                <a:ea typeface="Microsoft YaHei" pitchFamily="34" charset="-122"/>
                <a:cs typeface="Microsoft YaHei" pitchFamily="34" charset="-120"/>
              </a:rPr>
              <a:t>法老被视为活神，是神人之间的中介。金字塔既是陵墓，也是通往永恒星辰的天梯。</a:t>
            </a:r>
            <a:endParaRPr lang="en-US" sz="1050" dirty="0"/>
          </a:p>
        </p:txBody>
      </p:sp>
      <p:sp>
        <p:nvSpPr>
          <p:cNvPr id="15" name="Shape 13"/>
          <p:cNvSpPr/>
          <p:nvPr/>
        </p:nvSpPr>
        <p:spPr>
          <a:xfrm>
            <a:off x="4343400" y="1463040"/>
            <a:ext cx="3703320" cy="457200"/>
          </a:xfrm>
          <a:prstGeom prst="rect">
            <a:avLst/>
          </a:prstGeom>
          <a:solidFill>
            <a:srgbClr val="0F2A4A"/>
          </a:solidFill>
          <a:ln w="12700">
            <a:solidFill>
              <a:srgbClr val="0F2A4A"/>
            </a:solidFill>
            <a:prstDash val="solid"/>
          </a:ln>
        </p:spPr>
      </p:sp>
      <p:sp>
        <p:nvSpPr>
          <p:cNvPr id="16" name="Text 14"/>
          <p:cNvSpPr/>
          <p:nvPr/>
        </p:nvSpPr>
        <p:spPr>
          <a:xfrm>
            <a:off x="4434840" y="1463040"/>
            <a:ext cx="457200" cy="457200"/>
          </a:xfrm>
          <a:prstGeom prst="rect">
            <a:avLst/>
          </a:prstGeom>
          <a:noFill/>
          <a:ln/>
        </p:spPr>
        <p:txBody>
          <a:bodyPr wrap="square" rtlCol="0" anchor="ctr"/>
          <a:lstStyle/>
          <a:p>
            <a:pPr algn="ctr" indent="0" marL="0">
              <a:buNone/>
            </a:pPr>
            <a:r>
              <a:rPr lang="en-US" sz="2200" dirty="0">
                <a:solidFill>
                  <a:srgbClr val="D4A24C"/>
                </a:solidFill>
              </a:rPr>
              <a:t>△</a:t>
            </a:r>
            <a:endParaRPr lang="en-US" sz="2200" dirty="0"/>
          </a:p>
        </p:txBody>
      </p:sp>
      <p:sp>
        <p:nvSpPr>
          <p:cNvPr id="17" name="Text 15"/>
          <p:cNvSpPr/>
          <p:nvPr/>
        </p:nvSpPr>
        <p:spPr>
          <a:xfrm>
            <a:off x="4937760" y="1463040"/>
            <a:ext cx="3017520" cy="457200"/>
          </a:xfrm>
          <a:prstGeom prst="rect">
            <a:avLst/>
          </a:prstGeom>
          <a:noFill/>
          <a:ln/>
        </p:spPr>
        <p:txBody>
          <a:bodyPr wrap="square" rtlCol="0" anchor="ctr"/>
          <a:lstStyle/>
          <a:p>
            <a:pPr indent="0" marL="0">
              <a:buNone/>
            </a:pPr>
            <a:r>
              <a:rPr lang="en-US" sz="1400" b="1" spc="400" kern="0" dirty="0">
                <a:solidFill>
                  <a:srgbClr val="F5E6C8"/>
                </a:solidFill>
                <a:latin typeface="Microsoft YaHei" pitchFamily="34" charset="0"/>
                <a:ea typeface="Microsoft YaHei" pitchFamily="34" charset="-122"/>
                <a:cs typeface="Microsoft YaHei" pitchFamily="34" charset="-120"/>
              </a:rPr>
              <a:t>纪 念 碑 建 筑</a:t>
            </a:r>
            <a:endParaRPr lang="en-US" sz="1400" dirty="0"/>
          </a:p>
        </p:txBody>
      </p:sp>
      <p:sp>
        <p:nvSpPr>
          <p:cNvPr id="18" name="Shape 16"/>
          <p:cNvSpPr/>
          <p:nvPr/>
        </p:nvSpPr>
        <p:spPr>
          <a:xfrm>
            <a:off x="4343400" y="1965960"/>
            <a:ext cx="3703320" cy="4206240"/>
          </a:xfrm>
          <a:prstGeom prst="rect">
            <a:avLst/>
          </a:prstGeom>
          <a:solidFill>
            <a:srgbClr val="FAF6E9"/>
          </a:solidFill>
          <a:ln w="12700">
            <a:solidFill>
              <a:srgbClr val="D4A24C"/>
            </a:solidFill>
            <a:prstDash val="solid"/>
          </a:ln>
        </p:spPr>
      </p:sp>
      <p:sp>
        <p:nvSpPr>
          <p:cNvPr id="19" name="Text 17"/>
          <p:cNvSpPr/>
          <p:nvPr/>
        </p:nvSpPr>
        <p:spPr>
          <a:xfrm>
            <a:off x="4480560" y="2103120"/>
            <a:ext cx="3474720" cy="365760"/>
          </a:xfrm>
          <a:prstGeom prst="rect">
            <a:avLst/>
          </a:prstGeom>
          <a:noFill/>
          <a:ln/>
        </p:spPr>
        <p:txBody>
          <a:bodyPr wrap="square" rtlCol="0" anchor="ctr"/>
          <a:lstStyle/>
          <a:p>
            <a:pPr indent="0" marL="0">
              <a:buNone/>
            </a:pPr>
            <a:r>
              <a:rPr lang="en-US" sz="1400" b="1" dirty="0">
                <a:solidFill>
                  <a:srgbClr val="B8860B"/>
                </a:solidFill>
                <a:latin typeface="Georgia" pitchFamily="34" charset="0"/>
                <a:ea typeface="Georgia" pitchFamily="34" charset="-122"/>
                <a:cs typeface="Georgia" pitchFamily="34" charset="-120"/>
              </a:rPr>
              <a:t>Monumental Architecture</a:t>
            </a:r>
            <a:endParaRPr lang="en-US" sz="1400" dirty="0"/>
          </a:p>
        </p:txBody>
      </p:sp>
      <p:sp>
        <p:nvSpPr>
          <p:cNvPr id="20" name="Shape 18"/>
          <p:cNvSpPr/>
          <p:nvPr/>
        </p:nvSpPr>
        <p:spPr>
          <a:xfrm>
            <a:off x="4480560" y="2514600"/>
            <a:ext cx="731520" cy="0"/>
          </a:xfrm>
          <a:prstGeom prst="line">
            <a:avLst/>
          </a:prstGeom>
          <a:noFill/>
          <a:ln w="19050">
            <a:solidFill>
              <a:srgbClr val="A0522D"/>
            </a:solidFill>
            <a:prstDash val="solid"/>
          </a:ln>
        </p:spPr>
      </p:sp>
      <p:sp>
        <p:nvSpPr>
          <p:cNvPr id="21" name="Text 19"/>
          <p:cNvSpPr/>
          <p:nvPr/>
        </p:nvSpPr>
        <p:spPr>
          <a:xfrm>
            <a:off x="4480560" y="2651760"/>
            <a:ext cx="3474720" cy="1463040"/>
          </a:xfrm>
          <a:prstGeom prst="rect">
            <a:avLst/>
          </a:prstGeom>
          <a:noFill/>
          <a:ln/>
        </p:spPr>
        <p:txBody>
          <a:bodyPr wrap="square" rtlCol="0" anchor="ctr"/>
          <a:lstStyle/>
          <a:p>
            <a:pPr indent="0" marL="0">
              <a:lnSpc>
                <a:spcPct val="130000"/>
              </a:lnSpc>
              <a:buNone/>
            </a:pPr>
            <a:r>
              <a:rPr lang="en-US" sz="1050" dirty="0">
                <a:solidFill>
                  <a:srgbClr val="1A1A1A"/>
                </a:solidFill>
              </a:rPr>
              <a:t>The Great Pyramid of Giza (Khufu), the Sphinx, and the sun temples of Abu Gurab define this era of stone. Engineering, mathematics, and labor organization reached new heights.</a:t>
            </a:r>
            <a:endParaRPr lang="en-US" sz="1050" dirty="0"/>
          </a:p>
        </p:txBody>
      </p:sp>
      <p:sp>
        <p:nvSpPr>
          <p:cNvPr id="22" name="Text 20"/>
          <p:cNvSpPr/>
          <p:nvPr/>
        </p:nvSpPr>
        <p:spPr>
          <a:xfrm>
            <a:off x="4480560" y="4160520"/>
            <a:ext cx="3474720" cy="1828800"/>
          </a:xfrm>
          <a:prstGeom prst="rect">
            <a:avLst/>
          </a:prstGeom>
          <a:noFill/>
          <a:ln/>
        </p:spPr>
        <p:txBody>
          <a:bodyPr wrap="square" rtlCol="0" anchor="ctr"/>
          <a:lstStyle/>
          <a:p>
            <a:pPr indent="0" marL="0">
              <a:lnSpc>
                <a:spcPct val="135000"/>
              </a:lnSpc>
              <a:buNone/>
            </a:pPr>
            <a:r>
              <a:rPr lang="en-US" sz="1050" dirty="0">
                <a:solidFill>
                  <a:srgbClr val="1B3A5C"/>
                </a:solidFill>
                <a:latin typeface="Microsoft YaHei" pitchFamily="34" charset="0"/>
                <a:ea typeface="Microsoft YaHei" pitchFamily="34" charset="-122"/>
                <a:cs typeface="Microsoft YaHei" pitchFamily="34" charset="-120"/>
              </a:rPr>
              <a:t>吉萨大金字塔（胡夫）、狮身人面像、阿布古拉布太阳神庙——石造建筑的巅峰。工程、数学与组织能力达到空前高度。</a:t>
            </a:r>
            <a:endParaRPr lang="en-US" sz="1050" dirty="0"/>
          </a:p>
        </p:txBody>
      </p:sp>
      <p:sp>
        <p:nvSpPr>
          <p:cNvPr id="23" name="Shape 21"/>
          <p:cNvSpPr/>
          <p:nvPr/>
        </p:nvSpPr>
        <p:spPr>
          <a:xfrm>
            <a:off x="8229600" y="1463040"/>
            <a:ext cx="3703320" cy="457200"/>
          </a:xfrm>
          <a:prstGeom prst="rect">
            <a:avLst/>
          </a:prstGeom>
          <a:solidFill>
            <a:srgbClr val="0F2A4A"/>
          </a:solidFill>
          <a:ln w="12700">
            <a:solidFill>
              <a:srgbClr val="0F2A4A"/>
            </a:solidFill>
            <a:prstDash val="solid"/>
          </a:ln>
        </p:spPr>
      </p:sp>
      <p:sp>
        <p:nvSpPr>
          <p:cNvPr id="24" name="Text 22"/>
          <p:cNvSpPr/>
          <p:nvPr/>
        </p:nvSpPr>
        <p:spPr>
          <a:xfrm>
            <a:off x="8321040" y="1463040"/>
            <a:ext cx="457200" cy="457200"/>
          </a:xfrm>
          <a:prstGeom prst="rect">
            <a:avLst/>
          </a:prstGeom>
          <a:noFill/>
          <a:ln/>
        </p:spPr>
        <p:txBody>
          <a:bodyPr wrap="square" rtlCol="0" anchor="ctr"/>
          <a:lstStyle/>
          <a:p>
            <a:pPr algn="ctr" indent="0" marL="0">
              <a:buNone/>
            </a:pPr>
            <a:r>
              <a:rPr lang="en-US" sz="2200" dirty="0">
                <a:solidFill>
                  <a:srgbClr val="D4A24C"/>
                </a:solidFill>
              </a:rPr>
              <a:t>☉</a:t>
            </a:r>
            <a:endParaRPr lang="en-US" sz="2200" dirty="0"/>
          </a:p>
        </p:txBody>
      </p:sp>
      <p:sp>
        <p:nvSpPr>
          <p:cNvPr id="25" name="Text 23"/>
          <p:cNvSpPr/>
          <p:nvPr/>
        </p:nvSpPr>
        <p:spPr>
          <a:xfrm>
            <a:off x="8823960" y="1463040"/>
            <a:ext cx="3017520" cy="457200"/>
          </a:xfrm>
          <a:prstGeom prst="rect">
            <a:avLst/>
          </a:prstGeom>
          <a:noFill/>
          <a:ln/>
        </p:spPr>
        <p:txBody>
          <a:bodyPr wrap="square" rtlCol="0" anchor="ctr"/>
          <a:lstStyle/>
          <a:p>
            <a:pPr indent="0" marL="0">
              <a:buNone/>
            </a:pPr>
            <a:r>
              <a:rPr lang="en-US" sz="1400" b="1" spc="400" kern="0" dirty="0">
                <a:solidFill>
                  <a:srgbClr val="F5E6C8"/>
                </a:solidFill>
                <a:latin typeface="Microsoft YaHei" pitchFamily="34" charset="0"/>
                <a:ea typeface="Microsoft YaHei" pitchFamily="34" charset="-122"/>
                <a:cs typeface="Microsoft YaHei" pitchFamily="34" charset="-120"/>
              </a:rPr>
              <a:t>太 阳 神 信 仰</a:t>
            </a:r>
            <a:endParaRPr lang="en-US" sz="1400" dirty="0"/>
          </a:p>
        </p:txBody>
      </p:sp>
      <p:sp>
        <p:nvSpPr>
          <p:cNvPr id="26" name="Shape 24"/>
          <p:cNvSpPr/>
          <p:nvPr/>
        </p:nvSpPr>
        <p:spPr>
          <a:xfrm>
            <a:off x="8229600" y="1965960"/>
            <a:ext cx="3703320" cy="4206240"/>
          </a:xfrm>
          <a:prstGeom prst="rect">
            <a:avLst/>
          </a:prstGeom>
          <a:solidFill>
            <a:srgbClr val="FAF6E9"/>
          </a:solidFill>
          <a:ln w="12700">
            <a:solidFill>
              <a:srgbClr val="D4A24C"/>
            </a:solidFill>
            <a:prstDash val="solid"/>
          </a:ln>
        </p:spPr>
      </p:sp>
      <p:sp>
        <p:nvSpPr>
          <p:cNvPr id="27" name="Text 25"/>
          <p:cNvSpPr/>
          <p:nvPr/>
        </p:nvSpPr>
        <p:spPr>
          <a:xfrm>
            <a:off x="8366760" y="2103120"/>
            <a:ext cx="3474720" cy="365760"/>
          </a:xfrm>
          <a:prstGeom prst="rect">
            <a:avLst/>
          </a:prstGeom>
          <a:noFill/>
          <a:ln/>
        </p:spPr>
        <p:txBody>
          <a:bodyPr wrap="square" rtlCol="0" anchor="ctr"/>
          <a:lstStyle/>
          <a:p>
            <a:pPr indent="0" marL="0">
              <a:buNone/>
            </a:pPr>
            <a:r>
              <a:rPr lang="en-US" sz="1400" b="1" dirty="0">
                <a:solidFill>
                  <a:srgbClr val="B8860B"/>
                </a:solidFill>
                <a:latin typeface="Georgia" pitchFamily="34" charset="0"/>
                <a:ea typeface="Georgia" pitchFamily="34" charset="-122"/>
                <a:cs typeface="Georgia" pitchFamily="34" charset="-120"/>
              </a:rPr>
              <a:t>Solar Religion</a:t>
            </a:r>
            <a:endParaRPr lang="en-US" sz="1400" dirty="0"/>
          </a:p>
        </p:txBody>
      </p:sp>
      <p:sp>
        <p:nvSpPr>
          <p:cNvPr id="28" name="Shape 26"/>
          <p:cNvSpPr/>
          <p:nvPr/>
        </p:nvSpPr>
        <p:spPr>
          <a:xfrm>
            <a:off x="8366760" y="2514600"/>
            <a:ext cx="731520" cy="0"/>
          </a:xfrm>
          <a:prstGeom prst="line">
            <a:avLst/>
          </a:prstGeom>
          <a:noFill/>
          <a:ln w="19050">
            <a:solidFill>
              <a:srgbClr val="A0522D"/>
            </a:solidFill>
            <a:prstDash val="solid"/>
          </a:ln>
        </p:spPr>
      </p:sp>
      <p:sp>
        <p:nvSpPr>
          <p:cNvPr id="29" name="Text 27"/>
          <p:cNvSpPr/>
          <p:nvPr/>
        </p:nvSpPr>
        <p:spPr>
          <a:xfrm>
            <a:off x="8366760" y="2651760"/>
            <a:ext cx="3474720" cy="1463040"/>
          </a:xfrm>
          <a:prstGeom prst="rect">
            <a:avLst/>
          </a:prstGeom>
          <a:noFill/>
          <a:ln/>
        </p:spPr>
        <p:txBody>
          <a:bodyPr wrap="square" rtlCol="0" anchor="ctr"/>
          <a:lstStyle/>
          <a:p>
            <a:pPr indent="0" marL="0">
              <a:lnSpc>
                <a:spcPct val="130000"/>
              </a:lnSpc>
              <a:buNone/>
            </a:pPr>
            <a:r>
              <a:rPr lang="en-US" sz="1050" dirty="0">
                <a:solidFill>
                  <a:srgbClr val="1A1A1A"/>
                </a:solidFill>
              </a:rPr>
              <a:t>The cult of Ra dominated. Pharaohs took the title "Son of Ra", and the Pyramid Texts inscribed on tomb walls ensured safe passage through the afterlife.</a:t>
            </a:r>
            <a:endParaRPr lang="en-US" sz="1050" dirty="0"/>
          </a:p>
        </p:txBody>
      </p:sp>
      <p:sp>
        <p:nvSpPr>
          <p:cNvPr id="30" name="Text 28"/>
          <p:cNvSpPr/>
          <p:nvPr/>
        </p:nvSpPr>
        <p:spPr>
          <a:xfrm>
            <a:off x="8366760" y="4160520"/>
            <a:ext cx="3474720" cy="1828800"/>
          </a:xfrm>
          <a:prstGeom prst="rect">
            <a:avLst/>
          </a:prstGeom>
          <a:noFill/>
          <a:ln/>
        </p:spPr>
        <p:txBody>
          <a:bodyPr wrap="square" rtlCol="0" anchor="ctr"/>
          <a:lstStyle/>
          <a:p>
            <a:pPr indent="0" marL="0">
              <a:lnSpc>
                <a:spcPct val="135000"/>
              </a:lnSpc>
              <a:buNone/>
            </a:pPr>
            <a:r>
              <a:rPr lang="en-US" sz="1050" dirty="0">
                <a:solidFill>
                  <a:srgbClr val="1B3A5C"/>
                </a:solidFill>
                <a:latin typeface="Microsoft YaHei" pitchFamily="34" charset="0"/>
                <a:ea typeface="Microsoft YaHei" pitchFamily="34" charset="-122"/>
                <a:cs typeface="Microsoft YaHei" pitchFamily="34" charset="-120"/>
              </a:rPr>
              <a:t>太阳神拉信仰占据主导。法老自称"拉之子"，金字塔铭文确保来世之旅的顺利。</a:t>
            </a:r>
            <a:endParaRPr lang="en-US" sz="1050" dirty="0"/>
          </a:p>
        </p:txBody>
      </p:sp>
      <p:sp>
        <p:nvSpPr>
          <p:cNvPr id="31" name="Shape 29"/>
          <p:cNvSpPr/>
          <p:nvPr/>
        </p:nvSpPr>
        <p:spPr>
          <a:xfrm>
            <a:off x="0" y="6309360"/>
            <a:ext cx="12191695" cy="182880"/>
          </a:xfrm>
          <a:prstGeom prst="rect">
            <a:avLst/>
          </a:prstGeom>
          <a:solidFill>
            <a:srgbClr val="D4A24C"/>
          </a:solidFill>
          <a:ln w="12700">
            <a:solidFill>
              <a:srgbClr val="D4A24C"/>
            </a:solidFill>
            <a:prstDash val="solid"/>
          </a:ln>
        </p:spPr>
      </p:sp>
      <p:sp>
        <p:nvSpPr>
          <p:cNvPr id="32" name="Text 30"/>
          <p:cNvSpPr/>
          <p:nvPr/>
        </p:nvSpPr>
        <p:spPr>
          <a:xfrm>
            <a:off x="0" y="6327648"/>
            <a:ext cx="12191695" cy="164592"/>
          </a:xfrm>
          <a:prstGeom prst="rect">
            <a:avLst/>
          </a:prstGeom>
          <a:noFill/>
          <a:ln/>
        </p:spPr>
        <p:txBody>
          <a:bodyPr wrap="square" rtlCol="0" anchor="ctr"/>
          <a:lstStyle/>
          <a:p>
            <a:pPr algn="ctr" indent="0" marL="0">
              <a:buNone/>
            </a:pPr>
            <a:r>
              <a:rPr lang="en-US" sz="1000" b="1" i="1" dirty="0">
                <a:solidFill>
                  <a:srgbClr val="0F2A4A"/>
                </a:solidFill>
              </a:rPr>
              <a:t>Dynasties 3 – 6  ·  Memphis as capital  ·  Birth of monumental funerary architecture</a:t>
            </a:r>
            <a:endParaRPr lang="en-US" sz="1000" dirty="0"/>
          </a:p>
        </p:txBody>
      </p:sp>
      <p:sp>
        <p:nvSpPr>
          <p:cNvPr id="33" name="Shape 31"/>
          <p:cNvSpPr/>
          <p:nvPr/>
        </p:nvSpPr>
        <p:spPr>
          <a:xfrm>
            <a:off x="0" y="6537960"/>
            <a:ext cx="12191695" cy="320040"/>
          </a:xfrm>
          <a:prstGeom prst="rect">
            <a:avLst/>
          </a:prstGeom>
          <a:solidFill>
            <a:srgbClr val="0F2A4A"/>
          </a:solidFill>
          <a:ln w="12700">
            <a:solidFill>
              <a:srgbClr val="0F2A4A"/>
            </a:solidFill>
            <a:prstDash val="solid"/>
          </a:ln>
        </p:spPr>
      </p:sp>
      <p:sp>
        <p:nvSpPr>
          <p:cNvPr id="34" name="Text 32"/>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OLD KINGDOM · 古王国</a:t>
            </a:r>
            <a:endParaRPr lang="en-US" sz="900" dirty="0"/>
          </a:p>
        </p:txBody>
      </p:sp>
      <p:sp>
        <p:nvSpPr>
          <p:cNvPr id="35" name="Text 33"/>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F2A4A"/>
          </a:solidFill>
          <a:ln w="12700">
            <a:solidFill>
              <a:srgbClr val="0F2A4A"/>
            </a:solidFill>
            <a:prstDash val="solid"/>
          </a:ln>
        </p:spPr>
      </p:sp>
      <p:sp>
        <p:nvSpPr>
          <p:cNvPr id="3" name="Shape 1"/>
          <p:cNvSpPr/>
          <p:nvPr/>
        </p:nvSpPr>
        <p:spPr>
          <a:xfrm>
            <a:off x="0" y="1143000"/>
            <a:ext cx="12191695" cy="73152"/>
          </a:xfrm>
          <a:prstGeom prst="rect">
            <a:avLst/>
          </a:prstGeom>
          <a:solidFill>
            <a:srgbClr val="D4A24C"/>
          </a:solidFill>
          <a:ln w="12700">
            <a:solidFill>
              <a:srgbClr val="D4A24C"/>
            </a:solidFill>
            <a:prstDash val="solid"/>
          </a:ln>
        </p:spPr>
      </p:sp>
      <p:sp>
        <p:nvSpPr>
          <p:cNvPr id="4" name="Text 2"/>
          <p:cNvSpPr/>
          <p:nvPr/>
        </p:nvSpPr>
        <p:spPr>
          <a:xfrm>
            <a:off x="457200" y="201168"/>
            <a:ext cx="9144000" cy="274320"/>
          </a:xfrm>
          <a:prstGeom prst="rect">
            <a:avLst/>
          </a:prstGeom>
          <a:noFill/>
          <a:ln/>
        </p:spPr>
        <p:txBody>
          <a:bodyPr wrap="square" rtlCol="0" anchor="ctr"/>
          <a:lstStyle/>
          <a:p>
            <a:pPr indent="0" marL="0">
              <a:buNone/>
            </a:pPr>
            <a:r>
              <a:rPr lang="en-US" sz="1100" b="1" spc="1200" kern="0" dirty="0">
                <a:solidFill>
                  <a:srgbClr val="E8C77A"/>
                </a:solidFill>
              </a:rPr>
              <a:t>06 · CLASSICAL &amp; IMPERIAL AGES</a:t>
            </a:r>
            <a:endParaRPr lang="en-US" sz="1100" dirty="0"/>
          </a:p>
        </p:txBody>
      </p:sp>
      <p:sp>
        <p:nvSpPr>
          <p:cNvPr id="5" name="Text 3"/>
          <p:cNvSpPr/>
          <p:nvPr/>
        </p:nvSpPr>
        <p:spPr>
          <a:xfrm>
            <a:off x="457200" y="457200"/>
            <a:ext cx="10058400" cy="594360"/>
          </a:xfrm>
          <a:prstGeom prst="rect">
            <a:avLst/>
          </a:prstGeom>
          <a:noFill/>
          <a:ln/>
        </p:spPr>
        <p:txBody>
          <a:bodyPr wrap="square" rtlCol="0" anchor="ctr"/>
          <a:lstStyle/>
          <a:p>
            <a:pPr indent="0" marL="0">
              <a:buNone/>
            </a:pPr>
            <a:r>
              <a:rPr lang="en-US" sz="3000" b="1" spc="400" kern="0" dirty="0">
                <a:solidFill>
                  <a:srgbClr val="F5E6C8"/>
                </a:solidFill>
                <a:latin typeface="Microsoft YaHei" pitchFamily="34" charset="0"/>
                <a:ea typeface="Microsoft YaHei" pitchFamily="34" charset="-122"/>
                <a:cs typeface="Microsoft YaHei" pitchFamily="34" charset="-120"/>
              </a:rPr>
              <a:t>中 王 国 与 新 王 国</a:t>
            </a:r>
            <a:endParaRPr lang="en-US" sz="3000" dirty="0"/>
          </a:p>
        </p:txBody>
      </p:sp>
      <p:sp>
        <p:nvSpPr>
          <p:cNvPr id="6" name="Text 4"/>
          <p:cNvSpPr/>
          <p:nvPr/>
        </p:nvSpPr>
        <p:spPr>
          <a:xfrm>
            <a:off x="7162495" y="777240"/>
            <a:ext cx="4572000" cy="274320"/>
          </a:xfrm>
          <a:prstGeom prst="rect">
            <a:avLst/>
          </a:prstGeom>
          <a:noFill/>
          <a:ln/>
        </p:spPr>
        <p:txBody>
          <a:bodyPr wrap="square" rtlCol="0" anchor="ctr"/>
          <a:lstStyle/>
          <a:p>
            <a:pPr algn="r" indent="0" marL="0">
              <a:buNone/>
            </a:pPr>
            <a:r>
              <a:rPr lang="en-US" sz="1100" i="1" dirty="0">
                <a:solidFill>
                  <a:srgbClr val="E8C77A"/>
                </a:solidFill>
              </a:rPr>
              <a:t>Classical Literature · Imperial Expansion</a:t>
            </a:r>
            <a:endParaRPr lang="en-US" sz="1100" dirty="0"/>
          </a:p>
        </p:txBody>
      </p:sp>
      <p:sp>
        <p:nvSpPr>
          <p:cNvPr id="7" name="Shape 5"/>
          <p:cNvSpPr/>
          <p:nvPr/>
        </p:nvSpPr>
        <p:spPr>
          <a:xfrm>
            <a:off x="457200" y="1554480"/>
            <a:ext cx="5577840" cy="4572000"/>
          </a:xfrm>
          <a:prstGeom prst="rect">
            <a:avLst/>
          </a:prstGeom>
          <a:solidFill>
            <a:srgbClr val="FAF6E9"/>
          </a:solidFill>
          <a:ln w="25400">
            <a:solidFill>
              <a:srgbClr val="B8860B"/>
            </a:solidFill>
            <a:prstDash val="solid"/>
          </a:ln>
        </p:spPr>
      </p:sp>
      <p:sp>
        <p:nvSpPr>
          <p:cNvPr id="8" name="Shape 6"/>
          <p:cNvSpPr/>
          <p:nvPr/>
        </p:nvSpPr>
        <p:spPr>
          <a:xfrm>
            <a:off x="457200" y="1554480"/>
            <a:ext cx="5577840" cy="548640"/>
          </a:xfrm>
          <a:prstGeom prst="rect">
            <a:avLst/>
          </a:prstGeom>
          <a:solidFill>
            <a:srgbClr val="1B3A5C"/>
          </a:solidFill>
          <a:ln w="12700">
            <a:solidFill>
              <a:srgbClr val="1B3A5C"/>
            </a:solidFill>
            <a:prstDash val="solid"/>
          </a:ln>
        </p:spPr>
      </p:sp>
      <p:sp>
        <p:nvSpPr>
          <p:cNvPr id="9" name="Text 7"/>
          <p:cNvSpPr/>
          <p:nvPr/>
        </p:nvSpPr>
        <p:spPr>
          <a:xfrm>
            <a:off x="548640" y="1554480"/>
            <a:ext cx="5394960" cy="274320"/>
          </a:xfrm>
          <a:prstGeom prst="rect">
            <a:avLst/>
          </a:prstGeom>
          <a:noFill/>
          <a:ln/>
        </p:spPr>
        <p:txBody>
          <a:bodyPr wrap="square" rtlCol="0" anchor="ctr"/>
          <a:lstStyle/>
          <a:p>
            <a:pPr indent="0" marL="0">
              <a:buNone/>
            </a:pPr>
            <a:r>
              <a:rPr lang="en-US" sz="1000" spc="800" kern="0" dirty="0">
                <a:solidFill>
                  <a:srgbClr val="E8C77A"/>
                </a:solidFill>
              </a:rPr>
              <a:t>MIDDLE KINGDOM</a:t>
            </a:r>
            <a:endParaRPr lang="en-US" sz="1000" dirty="0"/>
          </a:p>
        </p:txBody>
      </p:sp>
      <p:sp>
        <p:nvSpPr>
          <p:cNvPr id="10" name="Text 8"/>
          <p:cNvSpPr/>
          <p:nvPr/>
        </p:nvSpPr>
        <p:spPr>
          <a:xfrm>
            <a:off x="548640" y="1783080"/>
            <a:ext cx="5394960" cy="320040"/>
          </a:xfrm>
          <a:prstGeom prst="rect">
            <a:avLst/>
          </a:prstGeom>
          <a:noFill/>
          <a:ln/>
        </p:spPr>
        <p:txBody>
          <a:bodyPr wrap="square" rtlCol="0" anchor="ctr"/>
          <a:lstStyle/>
          <a:p>
            <a:pPr indent="0" marL="0">
              <a:buNone/>
            </a:pPr>
            <a:r>
              <a:rPr lang="en-US" sz="1800" b="1" spc="800" kern="0" dirty="0">
                <a:solidFill>
                  <a:srgbClr val="F5E6C8"/>
                </a:solidFill>
                <a:latin typeface="Microsoft YaHei" pitchFamily="34" charset="0"/>
                <a:ea typeface="Microsoft YaHei" pitchFamily="34" charset="-122"/>
                <a:cs typeface="Microsoft YaHei" pitchFamily="34" charset="-120"/>
              </a:rPr>
              <a:t>中 王 国</a:t>
            </a:r>
            <a:endParaRPr lang="en-US" sz="1800" dirty="0"/>
          </a:p>
        </p:txBody>
      </p:sp>
      <p:sp>
        <p:nvSpPr>
          <p:cNvPr id="11" name="Text 9"/>
          <p:cNvSpPr/>
          <p:nvPr/>
        </p:nvSpPr>
        <p:spPr>
          <a:xfrm>
            <a:off x="640080" y="2194560"/>
            <a:ext cx="5303520" cy="274320"/>
          </a:xfrm>
          <a:prstGeom prst="rect">
            <a:avLst/>
          </a:prstGeom>
          <a:noFill/>
          <a:ln/>
        </p:spPr>
        <p:txBody>
          <a:bodyPr wrap="square" rtlCol="0" anchor="ctr"/>
          <a:lstStyle/>
          <a:p>
            <a:pPr indent="0" marL="0">
              <a:buNone/>
            </a:pPr>
            <a:r>
              <a:rPr lang="en-US" sz="1000" i="1" dirty="0">
                <a:solidFill>
                  <a:srgbClr val="B8860B"/>
                </a:solidFill>
              </a:rPr>
              <a:t>2055 – 1650 BC  ·  Dynasty 11 – 14  ·  Capital: Thebes</a:t>
            </a:r>
            <a:endParaRPr lang="en-US" sz="1000" dirty="0"/>
          </a:p>
        </p:txBody>
      </p:sp>
      <p:sp>
        <p:nvSpPr>
          <p:cNvPr id="12" name="Shape 10"/>
          <p:cNvSpPr/>
          <p:nvPr/>
        </p:nvSpPr>
        <p:spPr>
          <a:xfrm>
            <a:off x="640080" y="2615184"/>
            <a:ext cx="109728" cy="109728"/>
          </a:xfrm>
          <a:prstGeom prst="ellipse">
            <a:avLst/>
          </a:prstGeom>
          <a:solidFill>
            <a:srgbClr val="A0522D"/>
          </a:solidFill>
          <a:ln w="12700">
            <a:solidFill>
              <a:srgbClr val="A0522D"/>
            </a:solidFill>
            <a:prstDash val="solid"/>
          </a:ln>
        </p:spPr>
      </p:sp>
      <p:sp>
        <p:nvSpPr>
          <p:cNvPr id="13" name="Text 11"/>
          <p:cNvSpPr/>
          <p:nvPr/>
        </p:nvSpPr>
        <p:spPr>
          <a:xfrm>
            <a:off x="868680" y="2560320"/>
            <a:ext cx="5029200" cy="256032"/>
          </a:xfrm>
          <a:prstGeom prst="rect">
            <a:avLst/>
          </a:prstGeom>
          <a:noFill/>
          <a:ln/>
        </p:spPr>
        <p:txBody>
          <a:bodyPr wrap="square" rtlCol="0" anchor="ctr"/>
          <a:lstStyle/>
          <a:p>
            <a:pPr indent="0" marL="0">
              <a:buNone/>
            </a:pPr>
            <a:r>
              <a:rPr lang="en-US" sz="1050" b="1" dirty="0">
                <a:solidFill>
                  <a:srgbClr val="1A1A1A"/>
                </a:solidFill>
              </a:rPr>
              <a:t>Reunification after 1st Intermediate</a:t>
            </a:r>
            <a:endParaRPr lang="en-US" sz="1050" dirty="0"/>
          </a:p>
        </p:txBody>
      </p:sp>
      <p:sp>
        <p:nvSpPr>
          <p:cNvPr id="14" name="Text 12"/>
          <p:cNvSpPr/>
          <p:nvPr/>
        </p:nvSpPr>
        <p:spPr>
          <a:xfrm>
            <a:off x="868680" y="2798064"/>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第一中间期后再度统一</a:t>
            </a:r>
            <a:endParaRPr lang="en-US" sz="950" dirty="0"/>
          </a:p>
        </p:txBody>
      </p:sp>
      <p:sp>
        <p:nvSpPr>
          <p:cNvPr id="15" name="Shape 13"/>
          <p:cNvSpPr/>
          <p:nvPr/>
        </p:nvSpPr>
        <p:spPr>
          <a:xfrm>
            <a:off x="640080" y="3182112"/>
            <a:ext cx="109728" cy="109728"/>
          </a:xfrm>
          <a:prstGeom prst="ellipse">
            <a:avLst/>
          </a:prstGeom>
          <a:solidFill>
            <a:srgbClr val="A0522D"/>
          </a:solidFill>
          <a:ln w="12700">
            <a:solidFill>
              <a:srgbClr val="A0522D"/>
            </a:solidFill>
            <a:prstDash val="solid"/>
          </a:ln>
        </p:spPr>
      </p:sp>
      <p:sp>
        <p:nvSpPr>
          <p:cNvPr id="16" name="Text 14"/>
          <p:cNvSpPr/>
          <p:nvPr/>
        </p:nvSpPr>
        <p:spPr>
          <a:xfrm>
            <a:off x="868680" y="3127248"/>
            <a:ext cx="5029200" cy="256032"/>
          </a:xfrm>
          <a:prstGeom prst="rect">
            <a:avLst/>
          </a:prstGeom>
          <a:noFill/>
          <a:ln/>
        </p:spPr>
        <p:txBody>
          <a:bodyPr wrap="square" rtlCol="0" anchor="ctr"/>
          <a:lstStyle/>
          <a:p>
            <a:pPr indent="0" marL="0">
              <a:buNone/>
            </a:pPr>
            <a:r>
              <a:rPr lang="en-US" sz="1050" b="1" dirty="0">
                <a:solidFill>
                  <a:srgbClr val="1A1A1A"/>
                </a:solidFill>
              </a:rPr>
              <a:t>Classical literature: Tale of Sinuhe, Story of the Shipwrecked Sailor</a:t>
            </a:r>
            <a:endParaRPr lang="en-US" sz="1050" dirty="0"/>
          </a:p>
        </p:txBody>
      </p:sp>
      <p:sp>
        <p:nvSpPr>
          <p:cNvPr id="17" name="Text 15"/>
          <p:cNvSpPr/>
          <p:nvPr/>
        </p:nvSpPr>
        <p:spPr>
          <a:xfrm>
            <a:off x="868680" y="3364992"/>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经典文学：《辛努赫的故事》《遇难水手》</a:t>
            </a:r>
            <a:endParaRPr lang="en-US" sz="950" dirty="0"/>
          </a:p>
        </p:txBody>
      </p:sp>
      <p:sp>
        <p:nvSpPr>
          <p:cNvPr id="18" name="Shape 16"/>
          <p:cNvSpPr/>
          <p:nvPr/>
        </p:nvSpPr>
        <p:spPr>
          <a:xfrm>
            <a:off x="640080" y="3749040"/>
            <a:ext cx="109728" cy="109728"/>
          </a:xfrm>
          <a:prstGeom prst="ellipse">
            <a:avLst/>
          </a:prstGeom>
          <a:solidFill>
            <a:srgbClr val="A0522D"/>
          </a:solidFill>
          <a:ln w="12700">
            <a:solidFill>
              <a:srgbClr val="A0522D"/>
            </a:solidFill>
            <a:prstDash val="solid"/>
          </a:ln>
        </p:spPr>
      </p:sp>
      <p:sp>
        <p:nvSpPr>
          <p:cNvPr id="19" name="Text 17"/>
          <p:cNvSpPr/>
          <p:nvPr/>
        </p:nvSpPr>
        <p:spPr>
          <a:xfrm>
            <a:off x="868680" y="3694176"/>
            <a:ext cx="5029200" cy="256032"/>
          </a:xfrm>
          <a:prstGeom prst="rect">
            <a:avLst/>
          </a:prstGeom>
          <a:noFill/>
          <a:ln/>
        </p:spPr>
        <p:txBody>
          <a:bodyPr wrap="square" rtlCol="0" anchor="ctr"/>
          <a:lstStyle/>
          <a:p>
            <a:pPr indent="0" marL="0">
              <a:buNone/>
            </a:pPr>
            <a:r>
              <a:rPr lang="en-US" sz="1050" b="1" dirty="0">
                <a:solidFill>
                  <a:srgbClr val="1A1A1A"/>
                </a:solidFill>
              </a:rPr>
              <a:t>Faiyum irrigation project; large scale agricultural expansion</a:t>
            </a:r>
            <a:endParaRPr lang="en-US" sz="1050" dirty="0"/>
          </a:p>
        </p:txBody>
      </p:sp>
      <p:sp>
        <p:nvSpPr>
          <p:cNvPr id="20" name="Text 18"/>
          <p:cNvSpPr/>
          <p:nvPr/>
        </p:nvSpPr>
        <p:spPr>
          <a:xfrm>
            <a:off x="868680" y="3931920"/>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法尤姆水利工程 · 农业大扩张</a:t>
            </a:r>
            <a:endParaRPr lang="en-US" sz="950" dirty="0"/>
          </a:p>
        </p:txBody>
      </p:sp>
      <p:sp>
        <p:nvSpPr>
          <p:cNvPr id="21" name="Shape 19"/>
          <p:cNvSpPr/>
          <p:nvPr/>
        </p:nvSpPr>
        <p:spPr>
          <a:xfrm>
            <a:off x="640080" y="4315968"/>
            <a:ext cx="109728" cy="109728"/>
          </a:xfrm>
          <a:prstGeom prst="ellipse">
            <a:avLst/>
          </a:prstGeom>
          <a:solidFill>
            <a:srgbClr val="A0522D"/>
          </a:solidFill>
          <a:ln w="12700">
            <a:solidFill>
              <a:srgbClr val="A0522D"/>
            </a:solidFill>
            <a:prstDash val="solid"/>
          </a:ln>
        </p:spPr>
      </p:sp>
      <p:sp>
        <p:nvSpPr>
          <p:cNvPr id="22" name="Text 20"/>
          <p:cNvSpPr/>
          <p:nvPr/>
        </p:nvSpPr>
        <p:spPr>
          <a:xfrm>
            <a:off x="868680" y="4261104"/>
            <a:ext cx="5029200" cy="256032"/>
          </a:xfrm>
          <a:prstGeom prst="rect">
            <a:avLst/>
          </a:prstGeom>
          <a:noFill/>
          <a:ln/>
        </p:spPr>
        <p:txBody>
          <a:bodyPr wrap="square" rtlCol="0" anchor="ctr"/>
          <a:lstStyle/>
          <a:p>
            <a:pPr indent="0" marL="0">
              <a:buNone/>
            </a:pPr>
            <a:r>
              <a:rPr lang="en-US" sz="1050" b="1" dirty="0">
                <a:solidFill>
                  <a:srgbClr val="1A1A1A"/>
                </a:solidFill>
              </a:rPr>
              <a:t>Nubia campaigns; trade with the Levant</a:t>
            </a:r>
            <a:endParaRPr lang="en-US" sz="1050" dirty="0"/>
          </a:p>
        </p:txBody>
      </p:sp>
      <p:sp>
        <p:nvSpPr>
          <p:cNvPr id="23" name="Text 21"/>
          <p:cNvSpPr/>
          <p:nvPr/>
        </p:nvSpPr>
        <p:spPr>
          <a:xfrm>
            <a:off x="868680" y="4498848"/>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努比亚战事 · 黎凡特贸易</a:t>
            </a:r>
            <a:endParaRPr lang="en-US" sz="950" dirty="0"/>
          </a:p>
        </p:txBody>
      </p:sp>
      <p:sp>
        <p:nvSpPr>
          <p:cNvPr id="24" name="Shape 22"/>
          <p:cNvSpPr/>
          <p:nvPr/>
        </p:nvSpPr>
        <p:spPr>
          <a:xfrm>
            <a:off x="640080" y="4882896"/>
            <a:ext cx="109728" cy="109728"/>
          </a:xfrm>
          <a:prstGeom prst="ellipse">
            <a:avLst/>
          </a:prstGeom>
          <a:solidFill>
            <a:srgbClr val="A0522D"/>
          </a:solidFill>
          <a:ln w="12700">
            <a:solidFill>
              <a:srgbClr val="A0522D"/>
            </a:solidFill>
            <a:prstDash val="solid"/>
          </a:ln>
        </p:spPr>
      </p:sp>
      <p:sp>
        <p:nvSpPr>
          <p:cNvPr id="25" name="Text 23"/>
          <p:cNvSpPr/>
          <p:nvPr/>
        </p:nvSpPr>
        <p:spPr>
          <a:xfrm>
            <a:off x="868680" y="4828032"/>
            <a:ext cx="5029200" cy="256032"/>
          </a:xfrm>
          <a:prstGeom prst="rect">
            <a:avLst/>
          </a:prstGeom>
          <a:noFill/>
          <a:ln/>
        </p:spPr>
        <p:txBody>
          <a:bodyPr wrap="square" rtlCol="0" anchor="ctr"/>
          <a:lstStyle/>
          <a:p>
            <a:pPr indent="0" marL="0">
              <a:buNone/>
            </a:pPr>
            <a:r>
              <a:rPr lang="en-US" sz="1050" b="1" dirty="0">
                <a:solidFill>
                  <a:srgbClr val="1A1A1A"/>
                </a:solidFill>
              </a:rPr>
              <a:t>Cataract forts along the Nile</a:t>
            </a:r>
            <a:endParaRPr lang="en-US" sz="1050" dirty="0"/>
          </a:p>
        </p:txBody>
      </p:sp>
      <p:sp>
        <p:nvSpPr>
          <p:cNvPr id="26" name="Text 24"/>
          <p:cNvSpPr/>
          <p:nvPr/>
        </p:nvSpPr>
        <p:spPr>
          <a:xfrm>
            <a:off x="868680" y="5065776"/>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尼罗河沿线的要塞</a:t>
            </a:r>
            <a:endParaRPr lang="en-US" sz="950" dirty="0"/>
          </a:p>
        </p:txBody>
      </p:sp>
      <p:sp>
        <p:nvSpPr>
          <p:cNvPr id="27" name="Shape 25"/>
          <p:cNvSpPr/>
          <p:nvPr/>
        </p:nvSpPr>
        <p:spPr>
          <a:xfrm>
            <a:off x="640080" y="5449824"/>
            <a:ext cx="109728" cy="109728"/>
          </a:xfrm>
          <a:prstGeom prst="ellipse">
            <a:avLst/>
          </a:prstGeom>
          <a:solidFill>
            <a:srgbClr val="A0522D"/>
          </a:solidFill>
          <a:ln w="12700">
            <a:solidFill>
              <a:srgbClr val="A0522D"/>
            </a:solidFill>
            <a:prstDash val="solid"/>
          </a:ln>
        </p:spPr>
      </p:sp>
      <p:sp>
        <p:nvSpPr>
          <p:cNvPr id="28" name="Text 26"/>
          <p:cNvSpPr/>
          <p:nvPr/>
        </p:nvSpPr>
        <p:spPr>
          <a:xfrm>
            <a:off x="868680" y="5394960"/>
            <a:ext cx="5029200" cy="256032"/>
          </a:xfrm>
          <a:prstGeom prst="rect">
            <a:avLst/>
          </a:prstGeom>
          <a:noFill/>
          <a:ln/>
        </p:spPr>
        <p:txBody>
          <a:bodyPr wrap="square" rtlCol="0" anchor="ctr"/>
          <a:lstStyle/>
          <a:p>
            <a:pPr indent="0" marL="0">
              <a:buNone/>
            </a:pPr>
            <a:r>
              <a:rPr lang="en-US" sz="1050" b="1" dirty="0">
                <a:solidFill>
                  <a:srgbClr val="1A1A1A"/>
                </a:solidFill>
              </a:rPr>
              <a:t>Democratization of the afterlife — Coffin Texts</a:t>
            </a:r>
            <a:endParaRPr lang="en-US" sz="1050" dirty="0"/>
          </a:p>
        </p:txBody>
      </p:sp>
      <p:sp>
        <p:nvSpPr>
          <p:cNvPr id="29" name="Text 27"/>
          <p:cNvSpPr/>
          <p:nvPr/>
        </p:nvSpPr>
        <p:spPr>
          <a:xfrm>
            <a:off x="868680" y="5632704"/>
            <a:ext cx="5029200" cy="256032"/>
          </a:xfrm>
          <a:prstGeom prst="rect">
            <a:avLst/>
          </a:prstGeom>
          <a:noFill/>
          <a:ln/>
        </p:spPr>
        <p:txBody>
          <a:bodyPr wrap="square" rtlCol="0" anchor="ctr"/>
          <a:lstStyle/>
          <a:p>
            <a:pPr indent="0" marL="0">
              <a:buNone/>
            </a:pPr>
            <a:r>
              <a:rPr lang="en-US" sz="950" dirty="0">
                <a:solidFill>
                  <a:srgbClr val="1B3A5C"/>
                </a:solidFill>
                <a:latin typeface="Microsoft YaHei" pitchFamily="34" charset="0"/>
                <a:ea typeface="Microsoft YaHei" pitchFamily="34" charset="-122"/>
                <a:cs typeface="Microsoft YaHei" pitchFamily="34" charset="-120"/>
              </a:rPr>
              <a:t>来世观念普及——《棺文》</a:t>
            </a:r>
            <a:endParaRPr lang="en-US" sz="950" dirty="0"/>
          </a:p>
        </p:txBody>
      </p:sp>
      <p:sp>
        <p:nvSpPr>
          <p:cNvPr id="30" name="Shape 28"/>
          <p:cNvSpPr/>
          <p:nvPr/>
        </p:nvSpPr>
        <p:spPr>
          <a:xfrm>
            <a:off x="6172200" y="1554480"/>
            <a:ext cx="5577840" cy="4572000"/>
          </a:xfrm>
          <a:prstGeom prst="rect">
            <a:avLst/>
          </a:prstGeom>
          <a:solidFill>
            <a:srgbClr val="FAF6E9"/>
          </a:solidFill>
          <a:ln w="25400">
            <a:solidFill>
              <a:srgbClr val="B8860B"/>
            </a:solidFill>
            <a:prstDash val="solid"/>
          </a:ln>
        </p:spPr>
      </p:sp>
      <p:sp>
        <p:nvSpPr>
          <p:cNvPr id="31" name="Shape 29"/>
          <p:cNvSpPr/>
          <p:nvPr/>
        </p:nvSpPr>
        <p:spPr>
          <a:xfrm>
            <a:off x="6172200" y="1554480"/>
            <a:ext cx="5577840" cy="548640"/>
          </a:xfrm>
          <a:prstGeom prst="rect">
            <a:avLst/>
          </a:prstGeom>
          <a:solidFill>
            <a:srgbClr val="B8860B"/>
          </a:solidFill>
          <a:ln w="12700">
            <a:solidFill>
              <a:srgbClr val="B8860B"/>
            </a:solidFill>
            <a:prstDash val="solid"/>
          </a:ln>
        </p:spPr>
      </p:sp>
      <p:sp>
        <p:nvSpPr>
          <p:cNvPr id="32" name="Text 30"/>
          <p:cNvSpPr/>
          <p:nvPr/>
        </p:nvSpPr>
        <p:spPr>
          <a:xfrm>
            <a:off x="6263640" y="1554480"/>
            <a:ext cx="5394960" cy="274320"/>
          </a:xfrm>
          <a:prstGeom prst="rect">
            <a:avLst/>
          </a:prstGeom>
          <a:noFill/>
          <a:ln/>
        </p:spPr>
        <p:txBody>
          <a:bodyPr wrap="square" rtlCol="0" anchor="ctr"/>
          <a:lstStyle/>
          <a:p>
            <a:pPr indent="0" marL="0">
              <a:buNone/>
            </a:pPr>
            <a:r>
              <a:rPr lang="en-US" sz="1000" spc="800" kern="0" dirty="0">
                <a:solidFill>
                  <a:srgbClr val="FDF8EC"/>
                </a:solidFill>
              </a:rPr>
              <a:t>NEW KINGDOM</a:t>
            </a:r>
            <a:endParaRPr lang="en-US" sz="1000" dirty="0"/>
          </a:p>
        </p:txBody>
      </p:sp>
      <p:sp>
        <p:nvSpPr>
          <p:cNvPr id="33" name="Text 31"/>
          <p:cNvSpPr/>
          <p:nvPr/>
        </p:nvSpPr>
        <p:spPr>
          <a:xfrm>
            <a:off x="6263640" y="1783080"/>
            <a:ext cx="5394960" cy="320040"/>
          </a:xfrm>
          <a:prstGeom prst="rect">
            <a:avLst/>
          </a:prstGeom>
          <a:noFill/>
          <a:ln/>
        </p:spPr>
        <p:txBody>
          <a:bodyPr wrap="square" rtlCol="0" anchor="ctr"/>
          <a:lstStyle/>
          <a:p>
            <a:pPr indent="0" marL="0">
              <a:buNone/>
            </a:pPr>
            <a:r>
              <a:rPr lang="en-US" sz="1800" b="1" spc="800" kern="0" dirty="0">
                <a:solidFill>
                  <a:srgbClr val="FDF8EC"/>
                </a:solidFill>
                <a:latin typeface="Microsoft YaHei" pitchFamily="34" charset="0"/>
                <a:ea typeface="Microsoft YaHei" pitchFamily="34" charset="-122"/>
                <a:cs typeface="Microsoft YaHei" pitchFamily="34" charset="-120"/>
              </a:rPr>
              <a:t>新 王 国</a:t>
            </a:r>
            <a:endParaRPr lang="en-US" sz="1800" dirty="0"/>
          </a:p>
        </p:txBody>
      </p:sp>
      <p:sp>
        <p:nvSpPr>
          <p:cNvPr id="34" name="Text 32"/>
          <p:cNvSpPr/>
          <p:nvPr/>
        </p:nvSpPr>
        <p:spPr>
          <a:xfrm>
            <a:off x="6355080" y="2194560"/>
            <a:ext cx="5303520" cy="274320"/>
          </a:xfrm>
          <a:prstGeom prst="rect">
            <a:avLst/>
          </a:prstGeom>
          <a:noFill/>
          <a:ln/>
        </p:spPr>
        <p:txBody>
          <a:bodyPr wrap="square" rtlCol="0" anchor="ctr"/>
          <a:lstStyle/>
          <a:p>
            <a:pPr indent="0" marL="0">
              <a:buNone/>
            </a:pPr>
            <a:r>
              <a:rPr lang="en-US" sz="1000" i="1" dirty="0">
                <a:solidFill>
                  <a:srgbClr val="B8860B"/>
                </a:solidFill>
              </a:rPr>
              <a:t>1550 – 1069 BC  ·  Dynasty 18 – 20  ·  Imperial Egypt</a:t>
            </a:r>
            <a:endParaRPr lang="en-US" sz="1000" dirty="0"/>
          </a:p>
        </p:txBody>
      </p:sp>
      <p:sp>
        <p:nvSpPr>
          <p:cNvPr id="35" name="Shape 33"/>
          <p:cNvSpPr/>
          <p:nvPr/>
        </p:nvSpPr>
        <p:spPr>
          <a:xfrm>
            <a:off x="6355080" y="2596896"/>
            <a:ext cx="109728" cy="109728"/>
          </a:xfrm>
          <a:prstGeom prst="ellipse">
            <a:avLst/>
          </a:prstGeom>
          <a:solidFill>
            <a:srgbClr val="B8860B"/>
          </a:solidFill>
          <a:ln w="12700">
            <a:solidFill>
              <a:srgbClr val="B8860B"/>
            </a:solidFill>
            <a:prstDash val="solid"/>
          </a:ln>
        </p:spPr>
      </p:sp>
      <p:sp>
        <p:nvSpPr>
          <p:cNvPr id="36" name="Text 34"/>
          <p:cNvSpPr/>
          <p:nvPr/>
        </p:nvSpPr>
        <p:spPr>
          <a:xfrm>
            <a:off x="6583680" y="2560320"/>
            <a:ext cx="5029200" cy="228600"/>
          </a:xfrm>
          <a:prstGeom prst="rect">
            <a:avLst/>
          </a:prstGeom>
          <a:noFill/>
          <a:ln/>
        </p:spPr>
        <p:txBody>
          <a:bodyPr wrap="square" rtlCol="0" anchor="ctr"/>
          <a:lstStyle/>
          <a:p>
            <a:pPr indent="0" marL="0">
              <a:buNone/>
            </a:pPr>
            <a:r>
              <a:rPr lang="en-US" sz="1000" b="1" dirty="0">
                <a:solidFill>
                  <a:srgbClr val="1A1A1A"/>
                </a:solidFill>
              </a:rPr>
              <a:t>Expulsion of the Hyksos; reunification</a:t>
            </a:r>
            <a:endParaRPr lang="en-US" sz="1000" dirty="0"/>
          </a:p>
        </p:txBody>
      </p:sp>
      <p:sp>
        <p:nvSpPr>
          <p:cNvPr id="37" name="Text 35"/>
          <p:cNvSpPr/>
          <p:nvPr/>
        </p:nvSpPr>
        <p:spPr>
          <a:xfrm>
            <a:off x="6583680" y="277977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驱逐喜克索斯人 · 重新统一</a:t>
            </a:r>
            <a:endParaRPr lang="en-US" sz="900" dirty="0"/>
          </a:p>
        </p:txBody>
      </p:sp>
      <p:sp>
        <p:nvSpPr>
          <p:cNvPr id="38" name="Shape 36"/>
          <p:cNvSpPr/>
          <p:nvPr/>
        </p:nvSpPr>
        <p:spPr>
          <a:xfrm>
            <a:off x="6355080" y="3099816"/>
            <a:ext cx="109728" cy="109728"/>
          </a:xfrm>
          <a:prstGeom prst="ellipse">
            <a:avLst/>
          </a:prstGeom>
          <a:solidFill>
            <a:srgbClr val="B8860B"/>
          </a:solidFill>
          <a:ln w="12700">
            <a:solidFill>
              <a:srgbClr val="B8860B"/>
            </a:solidFill>
            <a:prstDash val="solid"/>
          </a:ln>
        </p:spPr>
      </p:sp>
      <p:sp>
        <p:nvSpPr>
          <p:cNvPr id="39" name="Text 37"/>
          <p:cNvSpPr/>
          <p:nvPr/>
        </p:nvSpPr>
        <p:spPr>
          <a:xfrm>
            <a:off x="6583680" y="3063240"/>
            <a:ext cx="5029200" cy="228600"/>
          </a:xfrm>
          <a:prstGeom prst="rect">
            <a:avLst/>
          </a:prstGeom>
          <a:noFill/>
          <a:ln/>
        </p:spPr>
        <p:txBody>
          <a:bodyPr wrap="square" rtlCol="0" anchor="ctr"/>
          <a:lstStyle/>
          <a:p>
            <a:pPr indent="0" marL="0">
              <a:buNone/>
            </a:pPr>
            <a:r>
              <a:rPr lang="en-US" sz="1000" b="1" dirty="0">
                <a:solidFill>
                  <a:srgbClr val="1A1A1A"/>
                </a:solidFill>
              </a:rPr>
              <a:t>Hatshepsut — female pharaoh, Punt expedition</a:t>
            </a:r>
            <a:endParaRPr lang="en-US" sz="1000" dirty="0"/>
          </a:p>
        </p:txBody>
      </p:sp>
      <p:sp>
        <p:nvSpPr>
          <p:cNvPr id="40" name="Text 38"/>
          <p:cNvSpPr/>
          <p:nvPr/>
        </p:nvSpPr>
        <p:spPr>
          <a:xfrm>
            <a:off x="6583680" y="328269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哈特谢普苏特女王 · 蓬特远征</a:t>
            </a:r>
            <a:endParaRPr lang="en-US" sz="900" dirty="0"/>
          </a:p>
        </p:txBody>
      </p:sp>
      <p:sp>
        <p:nvSpPr>
          <p:cNvPr id="41" name="Shape 39"/>
          <p:cNvSpPr/>
          <p:nvPr/>
        </p:nvSpPr>
        <p:spPr>
          <a:xfrm>
            <a:off x="6355080" y="3602736"/>
            <a:ext cx="109728" cy="109728"/>
          </a:xfrm>
          <a:prstGeom prst="ellipse">
            <a:avLst/>
          </a:prstGeom>
          <a:solidFill>
            <a:srgbClr val="B8860B"/>
          </a:solidFill>
          <a:ln w="12700">
            <a:solidFill>
              <a:srgbClr val="B8860B"/>
            </a:solidFill>
            <a:prstDash val="solid"/>
          </a:ln>
        </p:spPr>
      </p:sp>
      <p:sp>
        <p:nvSpPr>
          <p:cNvPr id="42" name="Text 40"/>
          <p:cNvSpPr/>
          <p:nvPr/>
        </p:nvSpPr>
        <p:spPr>
          <a:xfrm>
            <a:off x="6583680" y="3566160"/>
            <a:ext cx="5029200" cy="228600"/>
          </a:xfrm>
          <a:prstGeom prst="rect">
            <a:avLst/>
          </a:prstGeom>
          <a:noFill/>
          <a:ln/>
        </p:spPr>
        <p:txBody>
          <a:bodyPr wrap="square" rtlCol="0" anchor="ctr"/>
          <a:lstStyle/>
          <a:p>
            <a:pPr indent="0" marL="0">
              <a:buNone/>
            </a:pPr>
            <a:r>
              <a:rPr lang="en-US" sz="1000" b="1" dirty="0">
                <a:solidFill>
                  <a:srgbClr val="1A1A1A"/>
                </a:solidFill>
              </a:rPr>
              <a:t>Akhenaten's monotheistic Aten cult</a:t>
            </a:r>
            <a:endParaRPr lang="en-US" sz="1000" dirty="0"/>
          </a:p>
        </p:txBody>
      </p:sp>
      <p:sp>
        <p:nvSpPr>
          <p:cNvPr id="43" name="Text 41"/>
          <p:cNvSpPr/>
          <p:nvPr/>
        </p:nvSpPr>
        <p:spPr>
          <a:xfrm>
            <a:off x="6583680" y="378561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埃赫那顿一神教改革</a:t>
            </a:r>
            <a:endParaRPr lang="en-US" sz="900" dirty="0"/>
          </a:p>
        </p:txBody>
      </p:sp>
      <p:sp>
        <p:nvSpPr>
          <p:cNvPr id="44" name="Shape 42"/>
          <p:cNvSpPr/>
          <p:nvPr/>
        </p:nvSpPr>
        <p:spPr>
          <a:xfrm>
            <a:off x="6355080" y="4105656"/>
            <a:ext cx="109728" cy="109728"/>
          </a:xfrm>
          <a:prstGeom prst="ellipse">
            <a:avLst/>
          </a:prstGeom>
          <a:solidFill>
            <a:srgbClr val="B8860B"/>
          </a:solidFill>
          <a:ln w="12700">
            <a:solidFill>
              <a:srgbClr val="B8860B"/>
            </a:solidFill>
            <a:prstDash val="solid"/>
          </a:ln>
        </p:spPr>
      </p:sp>
      <p:sp>
        <p:nvSpPr>
          <p:cNvPr id="45" name="Text 43"/>
          <p:cNvSpPr/>
          <p:nvPr/>
        </p:nvSpPr>
        <p:spPr>
          <a:xfrm>
            <a:off x="6583680" y="4069080"/>
            <a:ext cx="5029200" cy="228600"/>
          </a:xfrm>
          <a:prstGeom prst="rect">
            <a:avLst/>
          </a:prstGeom>
          <a:noFill/>
          <a:ln/>
        </p:spPr>
        <p:txBody>
          <a:bodyPr wrap="square" rtlCol="0" anchor="ctr"/>
          <a:lstStyle/>
          <a:p>
            <a:pPr indent="0" marL="0">
              <a:buNone/>
            </a:pPr>
            <a:r>
              <a:rPr lang="en-US" sz="1000" b="1" dirty="0">
                <a:solidFill>
                  <a:srgbClr val="1A1A1A"/>
                </a:solidFill>
              </a:rPr>
              <a:t>Tutankhamun restores traditional religion</a:t>
            </a:r>
            <a:endParaRPr lang="en-US" sz="1000" dirty="0"/>
          </a:p>
        </p:txBody>
      </p:sp>
      <p:sp>
        <p:nvSpPr>
          <p:cNvPr id="46" name="Text 44"/>
          <p:cNvSpPr/>
          <p:nvPr/>
        </p:nvSpPr>
        <p:spPr>
          <a:xfrm>
            <a:off x="6583680" y="428853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图坦卡蒙恢复传统宗教</a:t>
            </a:r>
            <a:endParaRPr lang="en-US" sz="900" dirty="0"/>
          </a:p>
        </p:txBody>
      </p:sp>
      <p:sp>
        <p:nvSpPr>
          <p:cNvPr id="47" name="Shape 45"/>
          <p:cNvSpPr/>
          <p:nvPr/>
        </p:nvSpPr>
        <p:spPr>
          <a:xfrm>
            <a:off x="6355080" y="4608576"/>
            <a:ext cx="109728" cy="109728"/>
          </a:xfrm>
          <a:prstGeom prst="ellipse">
            <a:avLst/>
          </a:prstGeom>
          <a:solidFill>
            <a:srgbClr val="B8860B"/>
          </a:solidFill>
          <a:ln w="12700">
            <a:solidFill>
              <a:srgbClr val="B8860B"/>
            </a:solidFill>
            <a:prstDash val="solid"/>
          </a:ln>
        </p:spPr>
      </p:sp>
      <p:sp>
        <p:nvSpPr>
          <p:cNvPr id="48" name="Text 46"/>
          <p:cNvSpPr/>
          <p:nvPr/>
        </p:nvSpPr>
        <p:spPr>
          <a:xfrm>
            <a:off x="6583680" y="4572000"/>
            <a:ext cx="5029200" cy="228600"/>
          </a:xfrm>
          <a:prstGeom prst="rect">
            <a:avLst/>
          </a:prstGeom>
          <a:noFill/>
          <a:ln/>
        </p:spPr>
        <p:txBody>
          <a:bodyPr wrap="square" rtlCol="0" anchor="ctr"/>
          <a:lstStyle/>
          <a:p>
            <a:pPr indent="0" marL="0">
              <a:buNone/>
            </a:pPr>
            <a:r>
              <a:rPr lang="en-US" sz="1000" b="1" dirty="0">
                <a:solidFill>
                  <a:srgbClr val="1A1A1A"/>
                </a:solidFill>
              </a:rPr>
              <a:t>Ramesses II — Battle of Kadesh, first peace treaty</a:t>
            </a:r>
            <a:endParaRPr lang="en-US" sz="1000" dirty="0"/>
          </a:p>
        </p:txBody>
      </p:sp>
      <p:sp>
        <p:nvSpPr>
          <p:cNvPr id="49" name="Text 47"/>
          <p:cNvSpPr/>
          <p:nvPr/>
        </p:nvSpPr>
        <p:spPr>
          <a:xfrm>
            <a:off x="6583680" y="479145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拉美西斯二世 · 卡迭石战役 · 世界上最早的和约</a:t>
            </a:r>
            <a:endParaRPr lang="en-US" sz="900" dirty="0"/>
          </a:p>
        </p:txBody>
      </p:sp>
      <p:sp>
        <p:nvSpPr>
          <p:cNvPr id="50" name="Shape 48"/>
          <p:cNvSpPr/>
          <p:nvPr/>
        </p:nvSpPr>
        <p:spPr>
          <a:xfrm>
            <a:off x="6355080" y="5111496"/>
            <a:ext cx="109728" cy="109728"/>
          </a:xfrm>
          <a:prstGeom prst="ellipse">
            <a:avLst/>
          </a:prstGeom>
          <a:solidFill>
            <a:srgbClr val="B8860B"/>
          </a:solidFill>
          <a:ln w="12700">
            <a:solidFill>
              <a:srgbClr val="B8860B"/>
            </a:solidFill>
            <a:prstDash val="solid"/>
          </a:ln>
        </p:spPr>
      </p:sp>
      <p:sp>
        <p:nvSpPr>
          <p:cNvPr id="51" name="Text 49"/>
          <p:cNvSpPr/>
          <p:nvPr/>
        </p:nvSpPr>
        <p:spPr>
          <a:xfrm>
            <a:off x="6583680" y="5074920"/>
            <a:ext cx="5029200" cy="228600"/>
          </a:xfrm>
          <a:prstGeom prst="rect">
            <a:avLst/>
          </a:prstGeom>
          <a:noFill/>
          <a:ln/>
        </p:spPr>
        <p:txBody>
          <a:bodyPr wrap="square" rtlCol="0" anchor="ctr"/>
          <a:lstStyle/>
          <a:p>
            <a:pPr indent="0" marL="0">
              <a:buNone/>
            </a:pPr>
            <a:r>
              <a:rPr lang="en-US" sz="1000" b="1" dirty="0">
                <a:solidFill>
                  <a:srgbClr val="1A1A1A"/>
                </a:solidFill>
              </a:rPr>
              <a:t>Tomb of the Kings in the Valley of the Kings</a:t>
            </a:r>
            <a:endParaRPr lang="en-US" sz="1000" dirty="0"/>
          </a:p>
        </p:txBody>
      </p:sp>
      <p:sp>
        <p:nvSpPr>
          <p:cNvPr id="52" name="Text 50"/>
          <p:cNvSpPr/>
          <p:nvPr/>
        </p:nvSpPr>
        <p:spPr>
          <a:xfrm>
            <a:off x="6583680" y="529437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帝王谷王陵</a:t>
            </a:r>
            <a:endParaRPr lang="en-US" sz="900" dirty="0"/>
          </a:p>
        </p:txBody>
      </p:sp>
      <p:sp>
        <p:nvSpPr>
          <p:cNvPr id="53" name="Shape 51"/>
          <p:cNvSpPr/>
          <p:nvPr/>
        </p:nvSpPr>
        <p:spPr>
          <a:xfrm>
            <a:off x="6355080" y="5614416"/>
            <a:ext cx="109728" cy="109728"/>
          </a:xfrm>
          <a:prstGeom prst="ellipse">
            <a:avLst/>
          </a:prstGeom>
          <a:solidFill>
            <a:srgbClr val="B8860B"/>
          </a:solidFill>
          <a:ln w="12700">
            <a:solidFill>
              <a:srgbClr val="B8860B"/>
            </a:solidFill>
            <a:prstDash val="solid"/>
          </a:ln>
        </p:spPr>
      </p:sp>
      <p:sp>
        <p:nvSpPr>
          <p:cNvPr id="54" name="Text 52"/>
          <p:cNvSpPr/>
          <p:nvPr/>
        </p:nvSpPr>
        <p:spPr>
          <a:xfrm>
            <a:off x="6583680" y="5577840"/>
            <a:ext cx="5029200" cy="228600"/>
          </a:xfrm>
          <a:prstGeom prst="rect">
            <a:avLst/>
          </a:prstGeom>
          <a:noFill/>
          <a:ln/>
        </p:spPr>
        <p:txBody>
          <a:bodyPr wrap="square" rtlCol="0" anchor="ctr"/>
          <a:lstStyle/>
          <a:p>
            <a:pPr indent="0" marL="0">
              <a:buNone/>
            </a:pPr>
            <a:r>
              <a:rPr lang="en-US" sz="1000" b="1" dirty="0">
                <a:solidFill>
                  <a:srgbClr val="1A1A1A"/>
                </a:solidFill>
              </a:rPr>
              <a:t>Temples of Karnak &amp; Luxor; Abu Simbel</a:t>
            </a:r>
            <a:endParaRPr lang="en-US" sz="1000" dirty="0"/>
          </a:p>
        </p:txBody>
      </p:sp>
      <p:sp>
        <p:nvSpPr>
          <p:cNvPr id="55" name="Text 53"/>
          <p:cNvSpPr/>
          <p:nvPr/>
        </p:nvSpPr>
        <p:spPr>
          <a:xfrm>
            <a:off x="6583680" y="5797296"/>
            <a:ext cx="5029200" cy="237744"/>
          </a:xfrm>
          <a:prstGeom prst="rect">
            <a:avLst/>
          </a:prstGeom>
          <a:noFill/>
          <a:ln/>
        </p:spPr>
        <p:txBody>
          <a:bodyPr wrap="square" rtlCol="0" anchor="ctr"/>
          <a:lstStyle/>
          <a:p>
            <a:pPr indent="0" marL="0">
              <a:buNone/>
            </a:pPr>
            <a:r>
              <a:rPr lang="en-US" sz="900" dirty="0">
                <a:solidFill>
                  <a:srgbClr val="1B3A5C"/>
                </a:solidFill>
                <a:latin typeface="Microsoft YaHei" pitchFamily="34" charset="0"/>
                <a:ea typeface="Microsoft YaHei" pitchFamily="34" charset="-122"/>
                <a:cs typeface="Microsoft YaHei" pitchFamily="34" charset="-120"/>
              </a:rPr>
              <a:t>卡纳克、卢克索神庙；阿布辛贝</a:t>
            </a:r>
            <a:endParaRPr lang="en-US" sz="900" dirty="0"/>
          </a:p>
        </p:txBody>
      </p:sp>
      <p:sp>
        <p:nvSpPr>
          <p:cNvPr id="56" name="Shape 54"/>
          <p:cNvSpPr/>
          <p:nvPr/>
        </p:nvSpPr>
        <p:spPr>
          <a:xfrm>
            <a:off x="0" y="6537960"/>
            <a:ext cx="12191695" cy="320040"/>
          </a:xfrm>
          <a:prstGeom prst="rect">
            <a:avLst/>
          </a:prstGeom>
          <a:solidFill>
            <a:srgbClr val="0F2A4A"/>
          </a:solidFill>
          <a:ln w="12700">
            <a:solidFill>
              <a:srgbClr val="0F2A4A"/>
            </a:solidFill>
            <a:prstDash val="solid"/>
          </a:ln>
        </p:spPr>
      </p:sp>
      <p:sp>
        <p:nvSpPr>
          <p:cNvPr id="57" name="Text 55"/>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MIDDLE &amp; NEW KINGDOMS</a:t>
            </a:r>
            <a:endParaRPr lang="en-US" sz="900" dirty="0"/>
          </a:p>
        </p:txBody>
      </p:sp>
      <p:sp>
        <p:nvSpPr>
          <p:cNvPr id="58" name="Text 56"/>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9"/>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A0522D"/>
          </a:solidFill>
          <a:ln w="12700">
            <a:solidFill>
              <a:srgbClr val="A0522D"/>
            </a:solidFill>
            <a:prstDash val="solid"/>
          </a:ln>
        </p:spPr>
      </p:sp>
      <p:sp>
        <p:nvSpPr>
          <p:cNvPr id="3" name="Shape 1"/>
          <p:cNvSpPr/>
          <p:nvPr/>
        </p:nvSpPr>
        <p:spPr>
          <a:xfrm>
            <a:off x="0" y="1143000"/>
            <a:ext cx="12191695" cy="73152"/>
          </a:xfrm>
          <a:prstGeom prst="rect">
            <a:avLst/>
          </a:prstGeom>
          <a:solidFill>
            <a:srgbClr val="D4A24C"/>
          </a:solidFill>
          <a:ln w="12700">
            <a:solidFill>
              <a:srgbClr val="D4A24C"/>
            </a:solidFill>
            <a:prstDash val="solid"/>
          </a:ln>
        </p:spPr>
      </p:sp>
      <p:sp>
        <p:nvSpPr>
          <p:cNvPr id="4" name="Text 2"/>
          <p:cNvSpPr/>
          <p:nvPr/>
        </p:nvSpPr>
        <p:spPr>
          <a:xfrm>
            <a:off x="457200" y="201168"/>
            <a:ext cx="7315200" cy="274320"/>
          </a:xfrm>
          <a:prstGeom prst="rect">
            <a:avLst/>
          </a:prstGeom>
          <a:noFill/>
          <a:ln/>
        </p:spPr>
        <p:txBody>
          <a:bodyPr wrap="square" rtlCol="0" anchor="ctr"/>
          <a:lstStyle/>
          <a:p>
            <a:pPr indent="0" marL="0">
              <a:buNone/>
            </a:pPr>
            <a:r>
              <a:rPr lang="en-US" sz="1100" b="1" spc="1200" kern="0" dirty="0">
                <a:solidFill>
                  <a:srgbClr val="F5E6C8"/>
                </a:solidFill>
              </a:rPr>
              <a:t>07 · RELIGION &amp; GODS</a:t>
            </a:r>
            <a:endParaRPr lang="en-US" sz="1100" dirty="0"/>
          </a:p>
        </p:txBody>
      </p:sp>
      <p:sp>
        <p:nvSpPr>
          <p:cNvPr id="5" name="Text 3"/>
          <p:cNvSpPr/>
          <p:nvPr/>
        </p:nvSpPr>
        <p:spPr>
          <a:xfrm>
            <a:off x="457200" y="457200"/>
            <a:ext cx="8229600" cy="594360"/>
          </a:xfrm>
          <a:prstGeom prst="rect">
            <a:avLst/>
          </a:prstGeom>
          <a:noFill/>
          <a:ln/>
        </p:spPr>
        <p:txBody>
          <a:bodyPr wrap="square" rtlCol="0" anchor="ctr"/>
          <a:lstStyle/>
          <a:p>
            <a:pPr indent="0" marL="0">
              <a:buNone/>
            </a:pPr>
            <a:r>
              <a:rPr lang="en-US" sz="3000" b="1" spc="400" kern="0" dirty="0">
                <a:solidFill>
                  <a:srgbClr val="FDF8EC"/>
                </a:solidFill>
                <a:latin typeface="Microsoft YaHei" pitchFamily="34" charset="0"/>
                <a:ea typeface="Microsoft YaHei" pitchFamily="34" charset="-122"/>
                <a:cs typeface="Microsoft YaHei" pitchFamily="34" charset="-120"/>
              </a:rPr>
              <a:t>宗 教 与 诸 神</a:t>
            </a:r>
            <a:endParaRPr lang="en-US" sz="3000" dirty="0"/>
          </a:p>
        </p:txBody>
      </p:sp>
      <p:sp>
        <p:nvSpPr>
          <p:cNvPr id="6" name="Text 4"/>
          <p:cNvSpPr/>
          <p:nvPr/>
        </p:nvSpPr>
        <p:spPr>
          <a:xfrm>
            <a:off x="7162495" y="777240"/>
            <a:ext cx="4572000" cy="274320"/>
          </a:xfrm>
          <a:prstGeom prst="rect">
            <a:avLst/>
          </a:prstGeom>
          <a:noFill/>
          <a:ln/>
        </p:spPr>
        <p:txBody>
          <a:bodyPr wrap="square" rtlCol="0" anchor="ctr"/>
          <a:lstStyle/>
          <a:p>
            <a:pPr algn="r" indent="0" marL="0">
              <a:buNone/>
            </a:pPr>
            <a:r>
              <a:rPr lang="en-US" sz="1100" i="1" dirty="0">
                <a:solidFill>
                  <a:srgbClr val="F5E6C8"/>
                </a:solidFill>
              </a:rPr>
              <a:t>From household amulets to cosmic theology</a:t>
            </a:r>
            <a:endParaRPr lang="en-US" sz="1100" dirty="0"/>
          </a:p>
        </p:txBody>
      </p:sp>
      <p:sp>
        <p:nvSpPr>
          <p:cNvPr id="7" name="Shape 5"/>
          <p:cNvSpPr/>
          <p:nvPr/>
        </p:nvSpPr>
        <p:spPr>
          <a:xfrm>
            <a:off x="457200" y="1508760"/>
            <a:ext cx="2743200" cy="4663440"/>
          </a:xfrm>
          <a:prstGeom prst="rect">
            <a:avLst/>
          </a:prstGeom>
          <a:solidFill>
            <a:srgbClr val="FDF8EC"/>
          </a:solidFill>
          <a:ln w="19050">
            <a:solidFill>
              <a:srgbClr val="D4A24C"/>
            </a:solidFill>
            <a:prstDash val="solid"/>
          </a:ln>
        </p:spPr>
      </p:sp>
      <p:sp>
        <p:nvSpPr>
          <p:cNvPr id="8" name="Shape 6"/>
          <p:cNvSpPr/>
          <p:nvPr/>
        </p:nvSpPr>
        <p:spPr>
          <a:xfrm>
            <a:off x="594360" y="1691640"/>
            <a:ext cx="2468880" cy="2286000"/>
          </a:xfrm>
          <a:prstGeom prst="rect">
            <a:avLst/>
          </a:prstGeom>
          <a:solidFill>
            <a:srgbClr val="F5E6C8"/>
          </a:solidFill>
          <a:ln w="12700">
            <a:solidFill>
              <a:srgbClr val="E8D5A8"/>
            </a:solidFill>
            <a:prstDash val="solid"/>
          </a:ln>
        </p:spPr>
      </p:sp>
      <p:pic>
        <p:nvPicPr>
          <p:cNvPr id="9" name="Image 0" descr="C:\Users\18367\Desktop\test\web-app-test\runtime\artifacts\chat_e26d2b322fed\document-assets\download-Amulet_of_Bes,_the_protector_of_households,_Birmingham_Museum_and_Art_Gallery.jpg">    </p:cNvPr>
          <p:cNvPicPr>
            <a:picLocks noChangeAspect="1"/>
          </p:cNvPicPr>
          <p:nvPr/>
        </p:nvPicPr>
        <p:blipFill>
          <a:blip r:embed="rId1"/>
          <a:stretch>
            <a:fillRect/>
          </a:stretch>
        </p:blipFill>
        <p:spPr>
          <a:xfrm>
            <a:off x="1068998" y="1737360"/>
            <a:ext cx="1519603" cy="2194560"/>
          </a:xfrm>
          <a:prstGeom prst="rect">
            <a:avLst/>
          </a:prstGeom>
        </p:spPr>
      </p:pic>
      <p:sp>
        <p:nvSpPr>
          <p:cNvPr id="10" name="Shape 7"/>
          <p:cNvSpPr/>
          <p:nvPr/>
        </p:nvSpPr>
        <p:spPr>
          <a:xfrm>
            <a:off x="594360" y="4069080"/>
            <a:ext cx="2468880" cy="411480"/>
          </a:xfrm>
          <a:prstGeom prst="rect">
            <a:avLst/>
          </a:prstGeom>
          <a:solidFill>
            <a:srgbClr val="0F2A4A"/>
          </a:solidFill>
          <a:ln w="12700">
            <a:solidFill>
              <a:srgbClr val="0F2A4A"/>
            </a:solidFill>
            <a:prstDash val="solid"/>
          </a:ln>
        </p:spPr>
      </p:sp>
      <p:sp>
        <p:nvSpPr>
          <p:cNvPr id="11" name="Text 8"/>
          <p:cNvSpPr/>
          <p:nvPr/>
        </p:nvSpPr>
        <p:spPr>
          <a:xfrm>
            <a:off x="594360" y="4069080"/>
            <a:ext cx="2468880" cy="411480"/>
          </a:xfrm>
          <a:prstGeom prst="rect">
            <a:avLst/>
          </a:prstGeom>
          <a:noFill/>
          <a:ln/>
        </p:spPr>
        <p:txBody>
          <a:bodyPr wrap="square" rtlCol="0" anchor="ctr"/>
          <a:lstStyle/>
          <a:p>
            <a:pPr algn="ctr" indent="0" marL="0">
              <a:buNone/>
            </a:pPr>
            <a:r>
              <a:rPr lang="en-US" sz="1600" b="1" spc="800" kern="0" dirty="0">
                <a:solidFill>
                  <a:srgbClr val="D4A24C"/>
                </a:solidFill>
              </a:rPr>
              <a:t>BES</a:t>
            </a:r>
            <a:endParaRPr lang="en-US" sz="1600" dirty="0"/>
          </a:p>
        </p:txBody>
      </p:sp>
      <p:sp>
        <p:nvSpPr>
          <p:cNvPr id="12" name="Text 9"/>
          <p:cNvSpPr/>
          <p:nvPr/>
        </p:nvSpPr>
        <p:spPr>
          <a:xfrm>
            <a:off x="594360" y="4572000"/>
            <a:ext cx="2468880" cy="548640"/>
          </a:xfrm>
          <a:prstGeom prst="rect">
            <a:avLst/>
          </a:prstGeom>
          <a:noFill/>
          <a:ln/>
        </p:spPr>
        <p:txBody>
          <a:bodyPr wrap="square" rtlCol="0" anchor="ctr"/>
          <a:lstStyle/>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Protector of Households</a:t>
            </a:r>
            <a:endParaRPr lang="en-US" sz="950" dirty="0"/>
          </a:p>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家庭守护神 · 驱邪避凶</a:t>
            </a:r>
            <a:endParaRPr lang="en-US" sz="950" dirty="0"/>
          </a:p>
        </p:txBody>
      </p:sp>
      <p:sp>
        <p:nvSpPr>
          <p:cNvPr id="13" name="Text 10"/>
          <p:cNvSpPr/>
          <p:nvPr/>
        </p:nvSpPr>
        <p:spPr>
          <a:xfrm>
            <a:off x="640080" y="5212080"/>
            <a:ext cx="2377440" cy="914400"/>
          </a:xfrm>
          <a:prstGeom prst="rect">
            <a:avLst/>
          </a:prstGeom>
          <a:noFill/>
          <a:ln/>
        </p:spPr>
        <p:txBody>
          <a:bodyPr wrap="square" rtlCol="0" anchor="ctr"/>
          <a:lstStyle/>
          <a:p>
            <a:pPr indent="0" marL="0">
              <a:lnSpc>
                <a:spcPct val="125000"/>
              </a:lnSpc>
              <a:buNone/>
            </a:pPr>
            <a:r>
              <a:rPr lang="en-US" sz="850" dirty="0">
                <a:solidFill>
                  <a:srgbClr val="1A1A1A"/>
                </a:solidFill>
              </a:rPr>
              <a:t>A friendly grotesque dwarf deity who warded off evil spirits and protected mothers, children, and homes. Often shown with a leonine mane, protruding tongue, and bow-legged stance.</a:t>
            </a:r>
            <a:endParaRPr lang="en-US" sz="850" dirty="0"/>
          </a:p>
        </p:txBody>
      </p:sp>
      <p:sp>
        <p:nvSpPr>
          <p:cNvPr id="14" name="Shape 11"/>
          <p:cNvSpPr/>
          <p:nvPr/>
        </p:nvSpPr>
        <p:spPr>
          <a:xfrm>
            <a:off x="3337560" y="1508760"/>
            <a:ext cx="2743200" cy="4663440"/>
          </a:xfrm>
          <a:prstGeom prst="rect">
            <a:avLst/>
          </a:prstGeom>
          <a:solidFill>
            <a:srgbClr val="FDF8EC"/>
          </a:solidFill>
          <a:ln w="19050">
            <a:solidFill>
              <a:srgbClr val="D4A24C"/>
            </a:solidFill>
            <a:prstDash val="solid"/>
          </a:ln>
        </p:spPr>
      </p:sp>
      <p:sp>
        <p:nvSpPr>
          <p:cNvPr id="15" name="Shape 12"/>
          <p:cNvSpPr/>
          <p:nvPr/>
        </p:nvSpPr>
        <p:spPr>
          <a:xfrm>
            <a:off x="3474720" y="1691640"/>
            <a:ext cx="2468880" cy="2286000"/>
          </a:xfrm>
          <a:prstGeom prst="rect">
            <a:avLst/>
          </a:prstGeom>
          <a:solidFill>
            <a:srgbClr val="F5E6C8"/>
          </a:solidFill>
          <a:ln w="12700">
            <a:solidFill>
              <a:srgbClr val="E8D5A8"/>
            </a:solidFill>
            <a:prstDash val="solid"/>
          </a:ln>
        </p:spPr>
      </p:sp>
      <p:pic>
        <p:nvPicPr>
          <p:cNvPr id="16" name="Image 1" descr="C:\Users\18367\Desktop\test\web-app-test\runtime\artifacts\chat_e26d2b322fed\document-assets\download-Amulet_of_Ptah,_the_local_God_of_Memphis,_Birmingham_Museum_and_Art_Gallery.jpg">    </p:cNvPr>
          <p:cNvPicPr>
            <a:picLocks noChangeAspect="1"/>
          </p:cNvPicPr>
          <p:nvPr/>
        </p:nvPicPr>
        <p:blipFill>
          <a:blip r:embed="rId2"/>
          <a:stretch>
            <a:fillRect/>
          </a:stretch>
        </p:blipFill>
        <p:spPr>
          <a:xfrm>
            <a:off x="3930480" y="1737360"/>
            <a:ext cx="1557361" cy="2194560"/>
          </a:xfrm>
          <a:prstGeom prst="rect">
            <a:avLst/>
          </a:prstGeom>
        </p:spPr>
      </p:pic>
      <p:sp>
        <p:nvSpPr>
          <p:cNvPr id="17" name="Shape 13"/>
          <p:cNvSpPr/>
          <p:nvPr/>
        </p:nvSpPr>
        <p:spPr>
          <a:xfrm>
            <a:off x="3474720" y="4069080"/>
            <a:ext cx="2468880" cy="411480"/>
          </a:xfrm>
          <a:prstGeom prst="rect">
            <a:avLst/>
          </a:prstGeom>
          <a:solidFill>
            <a:srgbClr val="0F2A4A"/>
          </a:solidFill>
          <a:ln w="12700">
            <a:solidFill>
              <a:srgbClr val="0F2A4A"/>
            </a:solidFill>
            <a:prstDash val="solid"/>
          </a:ln>
        </p:spPr>
      </p:sp>
      <p:sp>
        <p:nvSpPr>
          <p:cNvPr id="18" name="Text 14"/>
          <p:cNvSpPr/>
          <p:nvPr/>
        </p:nvSpPr>
        <p:spPr>
          <a:xfrm>
            <a:off x="3474720" y="4069080"/>
            <a:ext cx="2468880" cy="411480"/>
          </a:xfrm>
          <a:prstGeom prst="rect">
            <a:avLst/>
          </a:prstGeom>
          <a:noFill/>
          <a:ln/>
        </p:spPr>
        <p:txBody>
          <a:bodyPr wrap="square" rtlCol="0" anchor="ctr"/>
          <a:lstStyle/>
          <a:p>
            <a:pPr algn="ctr" indent="0" marL="0">
              <a:buNone/>
            </a:pPr>
            <a:r>
              <a:rPr lang="en-US" sz="1600" b="1" spc="800" kern="0" dirty="0">
                <a:solidFill>
                  <a:srgbClr val="D4A24C"/>
                </a:solidFill>
              </a:rPr>
              <a:t>PTAH</a:t>
            </a:r>
            <a:endParaRPr lang="en-US" sz="1600" dirty="0"/>
          </a:p>
        </p:txBody>
      </p:sp>
      <p:sp>
        <p:nvSpPr>
          <p:cNvPr id="19" name="Text 15"/>
          <p:cNvSpPr/>
          <p:nvPr/>
        </p:nvSpPr>
        <p:spPr>
          <a:xfrm>
            <a:off x="3474720" y="4572000"/>
            <a:ext cx="2468880" cy="548640"/>
          </a:xfrm>
          <a:prstGeom prst="rect">
            <a:avLst/>
          </a:prstGeom>
          <a:noFill/>
          <a:ln/>
        </p:spPr>
        <p:txBody>
          <a:bodyPr wrap="square" rtlCol="0" anchor="ctr"/>
          <a:lstStyle/>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God of Memphis &amp; Creation</a:t>
            </a:r>
            <a:endParaRPr lang="en-US" sz="950" dirty="0"/>
          </a:p>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孟菲斯主神 · 创造之神</a:t>
            </a:r>
            <a:endParaRPr lang="en-US" sz="950" dirty="0"/>
          </a:p>
        </p:txBody>
      </p:sp>
      <p:sp>
        <p:nvSpPr>
          <p:cNvPr id="20" name="Text 16"/>
          <p:cNvSpPr/>
          <p:nvPr/>
        </p:nvSpPr>
        <p:spPr>
          <a:xfrm>
            <a:off x="3520440" y="5212080"/>
            <a:ext cx="2377440" cy="914400"/>
          </a:xfrm>
          <a:prstGeom prst="rect">
            <a:avLst/>
          </a:prstGeom>
          <a:noFill/>
          <a:ln/>
        </p:spPr>
        <p:txBody>
          <a:bodyPr wrap="square" rtlCol="0" anchor="ctr"/>
          <a:lstStyle/>
          <a:p>
            <a:pPr indent="0" marL="0">
              <a:lnSpc>
                <a:spcPct val="125000"/>
              </a:lnSpc>
              <a:buNone/>
            </a:pPr>
            <a:r>
              <a:rPr lang="en-US" sz="850" dirty="0">
                <a:solidFill>
                  <a:srgbClr val="1A1A1A"/>
                </a:solidFill>
              </a:rPr>
              <a:t>Dressed as a mummified man with a tight cap and a staff combining the ankh, djed and was. Patron of craftsmen and architects; "Nefertum" and "Imhotep" were associated with him.</a:t>
            </a:r>
            <a:endParaRPr lang="en-US" sz="850" dirty="0"/>
          </a:p>
        </p:txBody>
      </p:sp>
      <p:sp>
        <p:nvSpPr>
          <p:cNvPr id="21" name="Shape 17"/>
          <p:cNvSpPr/>
          <p:nvPr/>
        </p:nvSpPr>
        <p:spPr>
          <a:xfrm>
            <a:off x="6217920" y="1508760"/>
            <a:ext cx="2743200" cy="4663440"/>
          </a:xfrm>
          <a:prstGeom prst="rect">
            <a:avLst/>
          </a:prstGeom>
          <a:solidFill>
            <a:srgbClr val="FDF8EC"/>
          </a:solidFill>
          <a:ln w="19050">
            <a:solidFill>
              <a:srgbClr val="D4A24C"/>
            </a:solidFill>
            <a:prstDash val="solid"/>
          </a:ln>
        </p:spPr>
      </p:sp>
      <p:sp>
        <p:nvSpPr>
          <p:cNvPr id="22" name="Shape 18"/>
          <p:cNvSpPr/>
          <p:nvPr/>
        </p:nvSpPr>
        <p:spPr>
          <a:xfrm>
            <a:off x="6355080" y="1691640"/>
            <a:ext cx="2468880" cy="2286000"/>
          </a:xfrm>
          <a:prstGeom prst="rect">
            <a:avLst/>
          </a:prstGeom>
          <a:solidFill>
            <a:srgbClr val="F5E6C8"/>
          </a:solidFill>
          <a:ln w="12700">
            <a:solidFill>
              <a:srgbClr val="E8D5A8"/>
            </a:solidFill>
            <a:prstDash val="solid"/>
          </a:ln>
        </p:spPr>
      </p:sp>
      <p:pic>
        <p:nvPicPr>
          <p:cNvPr id="23" name="Image 2" descr="C:\Users\18367\Desktop\test\web-app-test\runtime\artifacts\chat_e26d2b322fed\document-assets\download-Amulet_of_Shu,_the_God_of_Air,_Birmingham_Museum_and_Art_Gallery.jpg">    </p:cNvPr>
          <p:cNvPicPr>
            <a:picLocks noChangeAspect="1"/>
          </p:cNvPicPr>
          <p:nvPr/>
        </p:nvPicPr>
        <p:blipFill>
          <a:blip r:embed="rId3"/>
          <a:stretch>
            <a:fillRect/>
          </a:stretch>
        </p:blipFill>
        <p:spPr>
          <a:xfrm>
            <a:off x="6789918" y="1737360"/>
            <a:ext cx="1599204" cy="2194560"/>
          </a:xfrm>
          <a:prstGeom prst="rect">
            <a:avLst/>
          </a:prstGeom>
        </p:spPr>
      </p:pic>
      <p:sp>
        <p:nvSpPr>
          <p:cNvPr id="24" name="Shape 19"/>
          <p:cNvSpPr/>
          <p:nvPr/>
        </p:nvSpPr>
        <p:spPr>
          <a:xfrm>
            <a:off x="6355080" y="4069080"/>
            <a:ext cx="2468880" cy="411480"/>
          </a:xfrm>
          <a:prstGeom prst="rect">
            <a:avLst/>
          </a:prstGeom>
          <a:solidFill>
            <a:srgbClr val="0F2A4A"/>
          </a:solidFill>
          <a:ln w="12700">
            <a:solidFill>
              <a:srgbClr val="0F2A4A"/>
            </a:solidFill>
            <a:prstDash val="solid"/>
          </a:ln>
        </p:spPr>
      </p:sp>
      <p:sp>
        <p:nvSpPr>
          <p:cNvPr id="25" name="Text 20"/>
          <p:cNvSpPr/>
          <p:nvPr/>
        </p:nvSpPr>
        <p:spPr>
          <a:xfrm>
            <a:off x="6355080" y="4069080"/>
            <a:ext cx="2468880" cy="411480"/>
          </a:xfrm>
          <a:prstGeom prst="rect">
            <a:avLst/>
          </a:prstGeom>
          <a:noFill/>
          <a:ln/>
        </p:spPr>
        <p:txBody>
          <a:bodyPr wrap="square" rtlCol="0" anchor="ctr"/>
          <a:lstStyle/>
          <a:p>
            <a:pPr algn="ctr" indent="0" marL="0">
              <a:buNone/>
            </a:pPr>
            <a:r>
              <a:rPr lang="en-US" sz="1600" b="1" spc="800" kern="0" dirty="0">
                <a:solidFill>
                  <a:srgbClr val="D4A24C"/>
                </a:solidFill>
              </a:rPr>
              <a:t>SHU</a:t>
            </a:r>
            <a:endParaRPr lang="en-US" sz="1600" dirty="0"/>
          </a:p>
        </p:txBody>
      </p:sp>
      <p:sp>
        <p:nvSpPr>
          <p:cNvPr id="26" name="Text 21"/>
          <p:cNvSpPr/>
          <p:nvPr/>
        </p:nvSpPr>
        <p:spPr>
          <a:xfrm>
            <a:off x="6355080" y="4572000"/>
            <a:ext cx="2468880" cy="548640"/>
          </a:xfrm>
          <a:prstGeom prst="rect">
            <a:avLst/>
          </a:prstGeom>
          <a:noFill/>
          <a:ln/>
        </p:spPr>
        <p:txBody>
          <a:bodyPr wrap="square" rtlCol="0" anchor="ctr"/>
          <a:lstStyle/>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God of Air · 空气之神</a:t>
            </a:r>
            <a:endParaRPr lang="en-US" sz="950" dirty="0"/>
          </a:p>
        </p:txBody>
      </p:sp>
      <p:sp>
        <p:nvSpPr>
          <p:cNvPr id="27" name="Text 22"/>
          <p:cNvSpPr/>
          <p:nvPr/>
        </p:nvSpPr>
        <p:spPr>
          <a:xfrm>
            <a:off x="6400800" y="5212080"/>
            <a:ext cx="2377440" cy="914400"/>
          </a:xfrm>
          <a:prstGeom prst="rect">
            <a:avLst/>
          </a:prstGeom>
          <a:noFill/>
          <a:ln/>
        </p:spPr>
        <p:txBody>
          <a:bodyPr wrap="square" rtlCol="0" anchor="ctr"/>
          <a:lstStyle/>
          <a:p>
            <a:pPr indent="0" marL="0">
              <a:lnSpc>
                <a:spcPct val="125000"/>
              </a:lnSpc>
              <a:buNone/>
            </a:pPr>
            <a:r>
              <a:rPr lang="en-US" sz="850" dirty="0">
                <a:solidFill>
                  <a:srgbClr val="1A1A1A"/>
                </a:solidFill>
              </a:rPr>
              <a:t>His upraised arms hold up the sky, separating it from the earth. Son of Atum/Ra; with his sister Tefnut (moisture) he began the world's order.</a:t>
            </a:r>
            <a:endParaRPr lang="en-US" sz="850" dirty="0"/>
          </a:p>
        </p:txBody>
      </p:sp>
      <p:sp>
        <p:nvSpPr>
          <p:cNvPr id="28" name="Shape 23"/>
          <p:cNvSpPr/>
          <p:nvPr/>
        </p:nvSpPr>
        <p:spPr>
          <a:xfrm>
            <a:off x="9098280" y="1508760"/>
            <a:ext cx="2743200" cy="4663440"/>
          </a:xfrm>
          <a:prstGeom prst="rect">
            <a:avLst/>
          </a:prstGeom>
          <a:solidFill>
            <a:srgbClr val="FDF8EC"/>
          </a:solidFill>
          <a:ln w="19050">
            <a:solidFill>
              <a:srgbClr val="D4A24C"/>
            </a:solidFill>
            <a:prstDash val="solid"/>
          </a:ln>
        </p:spPr>
      </p:sp>
      <p:sp>
        <p:nvSpPr>
          <p:cNvPr id="29" name="Shape 24"/>
          <p:cNvSpPr/>
          <p:nvPr/>
        </p:nvSpPr>
        <p:spPr>
          <a:xfrm>
            <a:off x="9235440" y="1691640"/>
            <a:ext cx="2468880" cy="2286000"/>
          </a:xfrm>
          <a:prstGeom prst="rect">
            <a:avLst/>
          </a:prstGeom>
          <a:solidFill>
            <a:srgbClr val="F5E6C8"/>
          </a:solidFill>
          <a:ln w="12700">
            <a:solidFill>
              <a:srgbClr val="E8D5A8"/>
            </a:solidFill>
            <a:prstDash val="solid"/>
          </a:ln>
        </p:spPr>
      </p:sp>
      <p:pic>
        <p:nvPicPr>
          <p:cNvPr id="30" name="Image 3" descr="C:\Users\18367\Desktop\test\web-app-test\runtime\artifacts\chat_e26d2b322fed\document-assets\download-Amulets_of_Horus,Birmingham_Museum_and_Art_Gallery.jpg">    </p:cNvPr>
          <p:cNvPicPr>
            <a:picLocks noChangeAspect="1"/>
          </p:cNvPicPr>
          <p:nvPr/>
        </p:nvPicPr>
        <p:blipFill>
          <a:blip r:embed="rId4"/>
          <a:stretch>
            <a:fillRect/>
          </a:stretch>
        </p:blipFill>
        <p:spPr>
          <a:xfrm>
            <a:off x="9592056" y="1737360"/>
            <a:ext cx="1755648" cy="2194560"/>
          </a:xfrm>
          <a:prstGeom prst="rect">
            <a:avLst/>
          </a:prstGeom>
        </p:spPr>
      </p:pic>
      <p:sp>
        <p:nvSpPr>
          <p:cNvPr id="31" name="Shape 25"/>
          <p:cNvSpPr/>
          <p:nvPr/>
        </p:nvSpPr>
        <p:spPr>
          <a:xfrm>
            <a:off x="9235440" y="4069080"/>
            <a:ext cx="2468880" cy="411480"/>
          </a:xfrm>
          <a:prstGeom prst="rect">
            <a:avLst/>
          </a:prstGeom>
          <a:solidFill>
            <a:srgbClr val="0F2A4A"/>
          </a:solidFill>
          <a:ln w="12700">
            <a:solidFill>
              <a:srgbClr val="0F2A4A"/>
            </a:solidFill>
            <a:prstDash val="solid"/>
          </a:ln>
        </p:spPr>
      </p:sp>
      <p:sp>
        <p:nvSpPr>
          <p:cNvPr id="32" name="Text 26"/>
          <p:cNvSpPr/>
          <p:nvPr/>
        </p:nvSpPr>
        <p:spPr>
          <a:xfrm>
            <a:off x="9235440" y="4069080"/>
            <a:ext cx="2468880" cy="411480"/>
          </a:xfrm>
          <a:prstGeom prst="rect">
            <a:avLst/>
          </a:prstGeom>
          <a:noFill/>
          <a:ln/>
        </p:spPr>
        <p:txBody>
          <a:bodyPr wrap="square" rtlCol="0" anchor="ctr"/>
          <a:lstStyle/>
          <a:p>
            <a:pPr algn="ctr" indent="0" marL="0">
              <a:buNone/>
            </a:pPr>
            <a:r>
              <a:rPr lang="en-US" sz="1600" b="1" spc="800" kern="0" dirty="0">
                <a:solidFill>
                  <a:srgbClr val="D4A24C"/>
                </a:solidFill>
              </a:rPr>
              <a:t>HORUS</a:t>
            </a:r>
            <a:endParaRPr lang="en-US" sz="1600" dirty="0"/>
          </a:p>
        </p:txBody>
      </p:sp>
      <p:sp>
        <p:nvSpPr>
          <p:cNvPr id="33" name="Text 27"/>
          <p:cNvSpPr/>
          <p:nvPr/>
        </p:nvSpPr>
        <p:spPr>
          <a:xfrm>
            <a:off x="9235440" y="4572000"/>
            <a:ext cx="2468880" cy="548640"/>
          </a:xfrm>
          <a:prstGeom prst="rect">
            <a:avLst/>
          </a:prstGeom>
          <a:noFill/>
          <a:ln/>
        </p:spPr>
        <p:txBody>
          <a:bodyPr wrap="square" rtlCol="0" anchor="ctr"/>
          <a:lstStyle/>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Sky God of Kingship</a:t>
            </a:r>
            <a:endParaRPr lang="en-US" sz="950" dirty="0"/>
          </a:p>
          <a:p>
            <a:pPr algn="ctr" indent="0" marL="0">
              <a:buNone/>
            </a:pPr>
            <a:r>
              <a:rPr lang="en-US" sz="950" b="1" dirty="0">
                <a:solidFill>
                  <a:srgbClr val="B8860B"/>
                </a:solidFill>
                <a:latin typeface="Microsoft YaHei" pitchFamily="34" charset="0"/>
                <a:ea typeface="Microsoft YaHei" pitchFamily="34" charset="-122"/>
                <a:cs typeface="Microsoft YaHei" pitchFamily="34" charset="-120"/>
              </a:rPr>
              <a:t>天空之神 · 王权象征</a:t>
            </a:r>
            <a:endParaRPr lang="en-US" sz="950" dirty="0"/>
          </a:p>
        </p:txBody>
      </p:sp>
      <p:sp>
        <p:nvSpPr>
          <p:cNvPr id="34" name="Text 28"/>
          <p:cNvSpPr/>
          <p:nvPr/>
        </p:nvSpPr>
        <p:spPr>
          <a:xfrm>
            <a:off x="9281160" y="5212080"/>
            <a:ext cx="2377440" cy="914400"/>
          </a:xfrm>
          <a:prstGeom prst="rect">
            <a:avLst/>
          </a:prstGeom>
          <a:noFill/>
          <a:ln/>
        </p:spPr>
        <p:txBody>
          <a:bodyPr wrap="square" rtlCol="0" anchor="ctr"/>
          <a:lstStyle/>
          <a:p>
            <a:pPr indent="0" marL="0">
              <a:lnSpc>
                <a:spcPct val="125000"/>
              </a:lnSpc>
              <a:buNone/>
            </a:pPr>
            <a:r>
              <a:rPr lang="en-US" sz="850" dirty="0">
                <a:solidFill>
                  <a:srgbClr val="1A1A1A"/>
                </a:solidFill>
              </a:rPr>
              <a:t>Falcon-headed son of Osiris and Isis. The living pharaoh was the earthly embodiment of Horus; his eye (the wedjat) became a powerful protective symbol.</a:t>
            </a:r>
            <a:endParaRPr lang="en-US" sz="850" dirty="0"/>
          </a:p>
        </p:txBody>
      </p:sp>
      <p:sp>
        <p:nvSpPr>
          <p:cNvPr id="35" name="Text 29"/>
          <p:cNvSpPr/>
          <p:nvPr/>
        </p:nvSpPr>
        <p:spPr>
          <a:xfrm>
            <a:off x="0" y="6245352"/>
            <a:ext cx="12191695" cy="228600"/>
          </a:xfrm>
          <a:prstGeom prst="rect">
            <a:avLst/>
          </a:prstGeom>
          <a:noFill/>
          <a:ln/>
        </p:spPr>
        <p:txBody>
          <a:bodyPr wrap="square" rtlCol="0" anchor="ctr"/>
          <a:lstStyle/>
          <a:p>
            <a:pPr algn="ctr" indent="0" marL="0">
              <a:buNone/>
            </a:pPr>
            <a:r>
              <a:rPr lang="en-US" sz="900" b="1" i="1" dirty="0">
                <a:solidFill>
                  <a:srgbClr val="A0522D"/>
                </a:solidFill>
              </a:rPr>
              <a:t>Amulets, Birmingham Museum &amp; Art Gallery · 伯明翰博物馆与艺术馆馆藏</a:t>
            </a:r>
            <a:endParaRPr lang="en-US" sz="900" dirty="0"/>
          </a:p>
        </p:txBody>
      </p:sp>
      <p:sp>
        <p:nvSpPr>
          <p:cNvPr id="36" name="Shape 30"/>
          <p:cNvSpPr/>
          <p:nvPr/>
        </p:nvSpPr>
        <p:spPr>
          <a:xfrm>
            <a:off x="0" y="6537960"/>
            <a:ext cx="12191695" cy="320040"/>
          </a:xfrm>
          <a:prstGeom prst="rect">
            <a:avLst/>
          </a:prstGeom>
          <a:solidFill>
            <a:srgbClr val="0F2A4A"/>
          </a:solidFill>
          <a:ln w="12700">
            <a:solidFill>
              <a:srgbClr val="0F2A4A"/>
            </a:solidFill>
            <a:prstDash val="solid"/>
          </a:ln>
        </p:spPr>
      </p:sp>
      <p:sp>
        <p:nvSpPr>
          <p:cNvPr id="37" name="Text 31"/>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RELIGION &amp; GODS · 宗教与神祇</a:t>
            </a:r>
            <a:endParaRPr lang="en-US" sz="900" dirty="0"/>
          </a:p>
        </p:txBody>
      </p:sp>
      <p:sp>
        <p:nvSpPr>
          <p:cNvPr id="38" name="Text 32"/>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EC"/>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F2A4A"/>
          </a:solidFill>
          <a:ln w="12700">
            <a:solidFill>
              <a:srgbClr val="0F2A4A"/>
            </a:solidFill>
            <a:prstDash val="solid"/>
          </a:ln>
        </p:spPr>
      </p:sp>
      <p:sp>
        <p:nvSpPr>
          <p:cNvPr id="3" name="Shape 1"/>
          <p:cNvSpPr/>
          <p:nvPr/>
        </p:nvSpPr>
        <p:spPr>
          <a:xfrm>
            <a:off x="0" y="1143000"/>
            <a:ext cx="12191695" cy="73152"/>
          </a:xfrm>
          <a:prstGeom prst="rect">
            <a:avLst/>
          </a:prstGeom>
          <a:solidFill>
            <a:srgbClr val="D4A24C"/>
          </a:solidFill>
          <a:ln w="12700">
            <a:solidFill>
              <a:srgbClr val="D4A24C"/>
            </a:solidFill>
            <a:prstDash val="solid"/>
          </a:ln>
        </p:spPr>
      </p:sp>
      <p:sp>
        <p:nvSpPr>
          <p:cNvPr id="4" name="Text 2"/>
          <p:cNvSpPr/>
          <p:nvPr/>
        </p:nvSpPr>
        <p:spPr>
          <a:xfrm>
            <a:off x="457200" y="201168"/>
            <a:ext cx="9144000" cy="274320"/>
          </a:xfrm>
          <a:prstGeom prst="rect">
            <a:avLst/>
          </a:prstGeom>
          <a:noFill/>
          <a:ln/>
        </p:spPr>
        <p:txBody>
          <a:bodyPr wrap="square" rtlCol="0" anchor="ctr"/>
          <a:lstStyle/>
          <a:p>
            <a:pPr indent="0" marL="0">
              <a:buNone/>
            </a:pPr>
            <a:r>
              <a:rPr lang="en-US" sz="1100" b="1" spc="1200" kern="0" dirty="0">
                <a:solidFill>
                  <a:srgbClr val="E8C77A"/>
                </a:solidFill>
              </a:rPr>
              <a:t>08 · LANGUAGE &amp; MATHEMATICS</a:t>
            </a:r>
            <a:endParaRPr lang="en-US" sz="1100" dirty="0"/>
          </a:p>
        </p:txBody>
      </p:sp>
      <p:sp>
        <p:nvSpPr>
          <p:cNvPr id="5" name="Text 3"/>
          <p:cNvSpPr/>
          <p:nvPr/>
        </p:nvSpPr>
        <p:spPr>
          <a:xfrm>
            <a:off x="457200" y="457200"/>
            <a:ext cx="10058400" cy="594360"/>
          </a:xfrm>
          <a:prstGeom prst="rect">
            <a:avLst/>
          </a:prstGeom>
          <a:noFill/>
          <a:ln/>
        </p:spPr>
        <p:txBody>
          <a:bodyPr wrap="square" rtlCol="0" anchor="ctr"/>
          <a:lstStyle/>
          <a:p>
            <a:pPr indent="0" marL="0">
              <a:buNone/>
            </a:pPr>
            <a:r>
              <a:rPr lang="en-US" sz="3000" b="1" spc="400" kern="0" dirty="0">
                <a:solidFill>
                  <a:srgbClr val="F5E6C8"/>
                </a:solidFill>
                <a:latin typeface="Microsoft YaHei" pitchFamily="34" charset="0"/>
                <a:ea typeface="Microsoft YaHei" pitchFamily="34" charset="-122"/>
                <a:cs typeface="Microsoft YaHei" pitchFamily="34" charset="-120"/>
              </a:rPr>
              <a:t>语 言 · 文 字 · 数 学</a:t>
            </a:r>
            <a:endParaRPr lang="en-US" sz="3000" dirty="0"/>
          </a:p>
        </p:txBody>
      </p:sp>
      <p:sp>
        <p:nvSpPr>
          <p:cNvPr id="6" name="Text 4"/>
          <p:cNvSpPr/>
          <p:nvPr/>
        </p:nvSpPr>
        <p:spPr>
          <a:xfrm>
            <a:off x="457200" y="1554480"/>
            <a:ext cx="5486400" cy="320040"/>
          </a:xfrm>
          <a:prstGeom prst="rect">
            <a:avLst/>
          </a:prstGeom>
          <a:noFill/>
          <a:ln/>
        </p:spPr>
        <p:txBody>
          <a:bodyPr wrap="square" rtlCol="0" anchor="ctr"/>
          <a:lstStyle/>
          <a:p>
            <a:pPr indent="0" marL="0">
              <a:buNone/>
            </a:pPr>
            <a:r>
              <a:rPr lang="en-US" sz="1300" b="1" spc="600" kern="0" dirty="0">
                <a:solidFill>
                  <a:srgbClr val="B8860B"/>
                </a:solidFill>
              </a:rPr>
              <a:t>WRITING SYSTEMS</a:t>
            </a:r>
            <a:endParaRPr lang="en-US" sz="1300" dirty="0"/>
          </a:p>
        </p:txBody>
      </p:sp>
      <p:sp>
        <p:nvSpPr>
          <p:cNvPr id="7" name="Text 5"/>
          <p:cNvSpPr/>
          <p:nvPr/>
        </p:nvSpPr>
        <p:spPr>
          <a:xfrm>
            <a:off x="457200" y="1828800"/>
            <a:ext cx="5486400" cy="365760"/>
          </a:xfrm>
          <a:prstGeom prst="rect">
            <a:avLst/>
          </a:prstGeom>
          <a:noFill/>
          <a:ln/>
        </p:spPr>
        <p:txBody>
          <a:bodyPr wrap="square" rtlCol="0" anchor="ctr"/>
          <a:lstStyle/>
          <a:p>
            <a:pPr indent="0" marL="0">
              <a:buNone/>
            </a:pPr>
            <a:r>
              <a:rPr lang="en-US" sz="1800" b="1" dirty="0">
                <a:solidFill>
                  <a:srgbClr val="0F2A4A"/>
                </a:solidFill>
                <a:latin typeface="Microsoft YaHei" pitchFamily="34" charset="0"/>
                <a:ea typeface="Microsoft YaHei" pitchFamily="34" charset="-122"/>
                <a:cs typeface="Microsoft YaHei" pitchFamily="34" charset="-120"/>
              </a:rPr>
              <a:t>文 字 系 统</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6400800" cy="1828800"/>
        </p:xfrm>
        <a:graphic>
          <a:graphicData uri="http://schemas.openxmlformats.org/drawingml/2006/table">
            <a:tbl>
              <a:tblPr/>
              <a:tblGrid>
                <a:gridCol w="1645920"/>
                <a:gridCol w="2286000"/>
                <a:gridCol w="2468880"/>
              </a:tblGrid>
              <a:tr h="365760">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Script · 字体</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Use · 用途</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Notes · 备注</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r>
              <a:tr h="36576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Hieroglyphic</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象形文字</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Monuments, tombs</a:t>
                      </a:r>
                      <a:endParaRPr lang="en-US" sz="1050" dirty="0">
                        <a:latin typeface="Microsoft YaHei" charset="0"/>
                        <a:ea typeface="Microsoft YaHei" charset="0"/>
                        <a:cs typeface="Microsoft YaHei" charset="0"/>
                      </a:endParaRPr>
                    </a:p>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纪念碑 · 陵墓</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800+ symbols</a:t>
                      </a:r>
                      <a:endParaRPr lang="en-US" sz="1000" dirty="0">
                        <a:latin typeface="Calibri" charset="0"/>
                        <a:ea typeface="Calibri" charset="0"/>
                        <a:cs typeface="Calibri" charset="0"/>
                      </a:endParaRPr>
                    </a:p>
                    <a:p>
                      <a:pPr algn="ctr" indent="0" marL="0">
                        <a:buNone/>
                      </a:pPr>
                      <a:r>
                        <a:rPr lang="en-US" sz="1000" dirty="0">
                          <a:solidFill>
                            <a:srgbClr val="1A1A1A"/>
                          </a:solidFill>
                          <a:latin typeface="Calibri" pitchFamily="34" charset="0"/>
                          <a:ea typeface="Calibri" pitchFamily="34" charset="-122"/>
                          <a:cs typeface="Calibri" pitchFamily="34" charset="-120"/>
                        </a:rPr>
                        <a:t>800+ 符号</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36576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Hieratic</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僧侣体</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Administrative, literary</a:t>
                      </a:r>
                      <a:endParaRPr lang="en-US" sz="1050" dirty="0">
                        <a:latin typeface="Microsoft YaHei" charset="0"/>
                        <a:ea typeface="Microsoft YaHei" charset="0"/>
                        <a:cs typeface="Microsoft YaHei" charset="0"/>
                      </a:endParaRPr>
                    </a:p>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行政 · 文学</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Cursive shorthand</a:t>
                      </a:r>
                      <a:endParaRPr lang="en-US" sz="1000" dirty="0">
                        <a:latin typeface="Microsoft YaHei" charset="0"/>
                        <a:ea typeface="Microsoft YaHei" charset="0"/>
                        <a:cs typeface="Microsoft YaHei" charset="0"/>
                      </a:endParaRPr>
                    </a:p>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简化的草书体</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365760">
                <a:tc>
                  <a:txBody>
                    <a:bodyPr/>
                    <a:lstStyle/>
                    <a:p>
                      <a:pPr indent="0" marL="0">
                        <a:buNone/>
                      </a:pPr>
                      <a:r>
                        <a:rPr lang="en-US" sz="1050" b="1" dirty="0">
                          <a:solidFill>
                            <a:srgbClr val="0F2A4A"/>
                          </a:solidFill>
                          <a:latin typeface="Microsoft YaHei" pitchFamily="34" charset="0"/>
                          <a:ea typeface="Microsoft YaHei" pitchFamily="34" charset="-122"/>
                          <a:cs typeface="Microsoft YaHei" pitchFamily="34" charset="-120"/>
                        </a:rPr>
                        <a:t>Demotic</a:t>
                      </a:r>
                      <a:endParaRPr lang="en-US" sz="1050" dirty="0">
                        <a:latin typeface="Microsoft YaHei" charset="0"/>
                        <a:ea typeface="Microsoft YaHei" charset="0"/>
                        <a:cs typeface="Microsoft YaHei" charset="0"/>
                      </a:endParaRPr>
                    </a:p>
                    <a:p>
                      <a:pPr indent="0" marL="0">
                        <a:buNone/>
                      </a:pPr>
                      <a:r>
                        <a:rPr lang="en-US" sz="1050" b="1" dirty="0">
                          <a:solidFill>
                            <a:srgbClr val="0F2A4A"/>
                          </a:solidFill>
                          <a:latin typeface="Microsoft YaHei" pitchFamily="34" charset="0"/>
                          <a:ea typeface="Microsoft YaHei" pitchFamily="34" charset="-122"/>
                          <a:cs typeface="Microsoft YaHei" pitchFamily="34" charset="-120"/>
                        </a:rPr>
                        <a:t>世俗体</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Daily business</a:t>
                      </a:r>
                      <a:endParaRPr lang="en-US" sz="1050" dirty="0">
                        <a:latin typeface="Microsoft YaHei" charset="0"/>
                        <a:ea typeface="Microsoft YaHei" charset="0"/>
                        <a:cs typeface="Microsoft YaHei" charset="0"/>
                      </a:endParaRPr>
                    </a:p>
                    <a:p>
                      <a:pPr algn="ctr" indent="0" marL="0">
                        <a:buNone/>
                      </a:pPr>
                      <a:r>
                        <a:rPr lang="en-US" sz="1050" dirty="0">
                          <a:solidFill>
                            <a:srgbClr val="1A1A1A"/>
                          </a:solidFill>
                          <a:latin typeface="Microsoft YaHei" pitchFamily="34" charset="0"/>
                          <a:ea typeface="Microsoft YaHei" pitchFamily="34" charset="-122"/>
                          <a:cs typeface="Microsoft YaHei" pitchFamily="34" charset="-120"/>
                        </a:rPr>
                        <a:t>日常商务</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From 7th c. BC</a:t>
                      </a:r>
                      <a:endParaRPr lang="en-US" sz="1000" dirty="0">
                        <a:latin typeface="Microsoft YaHei" charset="0"/>
                        <a:ea typeface="Microsoft YaHei" charset="0"/>
                        <a:cs typeface="Microsoft YaHei" charset="0"/>
                      </a:endParaRPr>
                    </a:p>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公元前7世纪起</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365760">
                <a:tc>
                  <a:txBody>
                    <a:bodyPr/>
                    <a:lstStyle/>
                    <a:p>
                      <a:pPr indent="0" marL="0">
                        <a:buNone/>
                      </a:pPr>
                      <a:r>
                        <a:rPr lang="en-US" sz="1050" b="1" dirty="0">
                          <a:solidFill>
                            <a:srgbClr val="FDF8EC"/>
                          </a:solidFill>
                          <a:latin typeface="Microsoft YaHei" pitchFamily="34" charset="0"/>
                          <a:ea typeface="Microsoft YaHei" pitchFamily="34" charset="-122"/>
                          <a:cs typeface="Microsoft YaHei" pitchFamily="34" charset="-120"/>
                        </a:rPr>
                        <a:t>Coptic</a:t>
                      </a:r>
                      <a:endParaRPr lang="en-US" sz="1050" dirty="0">
                        <a:latin typeface="Microsoft YaHei" charset="0"/>
                        <a:ea typeface="Microsoft YaHei" charset="0"/>
                        <a:cs typeface="Microsoft YaHei" charset="0"/>
                      </a:endParaRPr>
                    </a:p>
                    <a:p>
                      <a:pPr indent="0" marL="0">
                        <a:buNone/>
                      </a:pPr>
                      <a:r>
                        <a:rPr lang="en-US" sz="1050" b="1" dirty="0">
                          <a:solidFill>
                            <a:srgbClr val="FDF8EC"/>
                          </a:solidFill>
                          <a:latin typeface="Microsoft YaHei" pitchFamily="34" charset="0"/>
                          <a:ea typeface="Microsoft YaHei" pitchFamily="34" charset="-122"/>
                          <a:cs typeface="Microsoft YaHei" pitchFamily="34" charset="-120"/>
                        </a:rPr>
                        <a:t>科普特文</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c>
                  <a:txBody>
                    <a:bodyPr/>
                    <a:lstStyle/>
                    <a:p>
                      <a:pPr algn="ctr" indent="0" marL="0">
                        <a:buNone/>
                      </a:pPr>
                      <a:r>
                        <a:rPr lang="en-US" sz="1050" b="1" dirty="0">
                          <a:solidFill>
                            <a:srgbClr val="FDF8EC"/>
                          </a:solidFill>
                          <a:latin typeface="Microsoft YaHei" pitchFamily="34" charset="0"/>
                          <a:ea typeface="Microsoft YaHei" pitchFamily="34" charset="-122"/>
                          <a:cs typeface="Microsoft YaHei" pitchFamily="34" charset="-120"/>
                        </a:rPr>
                        <a:t>Late Egyptian</a:t>
                      </a:r>
                      <a:endParaRPr lang="en-US" sz="1050" dirty="0">
                        <a:latin typeface="Microsoft YaHei" charset="0"/>
                        <a:ea typeface="Microsoft YaHei" charset="0"/>
                        <a:cs typeface="Microsoft YaHei" charset="0"/>
                      </a:endParaRPr>
                    </a:p>
                    <a:p>
                      <a:pPr algn="ctr" indent="0" marL="0">
                        <a:buNone/>
                      </a:pPr>
                      <a:r>
                        <a:rPr lang="en-US" sz="1050" b="1" dirty="0">
                          <a:solidFill>
                            <a:srgbClr val="FDF8EC"/>
                          </a:solidFill>
                          <a:latin typeface="Microsoft YaHei" pitchFamily="34" charset="0"/>
                          <a:ea typeface="Microsoft YaHei" pitchFamily="34" charset="-122"/>
                          <a:cs typeface="Microsoft YaHei" pitchFamily="34" charset="-120"/>
                        </a:rPr>
                        <a:t>晚期埃及</a:t>
                      </a:r>
                      <a:endParaRPr lang="en-US" sz="10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DF8EC"/>
                          </a:solidFill>
                          <a:latin typeface="Microsoft YaHei" pitchFamily="34" charset="0"/>
                          <a:ea typeface="Microsoft YaHei" pitchFamily="34" charset="-122"/>
                          <a:cs typeface="Microsoft YaHei" pitchFamily="34" charset="-120"/>
                        </a:rPr>
                        <a:t>Greek-based alphabet</a:t>
                      </a:r>
                      <a:endParaRPr lang="en-US" sz="1000" dirty="0">
                        <a:latin typeface="Microsoft YaHei" charset="0"/>
                        <a:ea typeface="Microsoft YaHei" charset="0"/>
                        <a:cs typeface="Microsoft YaHei" charset="0"/>
                      </a:endParaRPr>
                    </a:p>
                    <a:p>
                      <a:pPr algn="ctr" indent="0" marL="0">
                        <a:buNone/>
                      </a:pPr>
                      <a:r>
                        <a:rPr lang="en-US" sz="1000" b="1" dirty="0">
                          <a:solidFill>
                            <a:srgbClr val="FDF8EC"/>
                          </a:solidFill>
                          <a:latin typeface="Microsoft YaHei" pitchFamily="34" charset="0"/>
                          <a:ea typeface="Microsoft YaHei" pitchFamily="34" charset="-122"/>
                          <a:cs typeface="Microsoft YaHei" pitchFamily="34" charset="-120"/>
                        </a:rPr>
                        <a:t>希腊字母改造</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B3A5C"/>
                    </a:solidFill>
                  </a:tcPr>
                </a:tc>
              </a:tr>
            </a:tbl>
          </a:graphicData>
        </a:graphic>
      </p:graphicFrame>
      <p:sp>
        <p:nvSpPr>
          <p:cNvPr id="9" name="Text 6"/>
          <p:cNvSpPr/>
          <p:nvPr/>
        </p:nvSpPr>
        <p:spPr>
          <a:xfrm>
            <a:off x="457200" y="4297680"/>
            <a:ext cx="6400800" cy="320040"/>
          </a:xfrm>
          <a:prstGeom prst="rect">
            <a:avLst/>
          </a:prstGeom>
          <a:noFill/>
          <a:ln/>
        </p:spPr>
        <p:txBody>
          <a:bodyPr wrap="square" rtlCol="0" anchor="ctr"/>
          <a:lstStyle/>
          <a:p>
            <a:pPr indent="0" marL="0">
              <a:buNone/>
            </a:pPr>
            <a:r>
              <a:rPr lang="en-US" sz="1200" b="1" dirty="0">
                <a:solidFill>
                  <a:srgbClr val="B8860B"/>
                </a:solidFill>
              </a:rPr>
              <a:t>Three Sacred Symbols</a:t>
            </a:r>
            <a:endParaRPr lang="en-US" sz="1200" dirty="0"/>
          </a:p>
        </p:txBody>
      </p:sp>
      <p:sp>
        <p:nvSpPr>
          <p:cNvPr id="10" name="Text 7"/>
          <p:cNvSpPr/>
          <p:nvPr/>
        </p:nvSpPr>
        <p:spPr>
          <a:xfrm>
            <a:off x="457200" y="4572000"/>
            <a:ext cx="6400800" cy="320040"/>
          </a:xfrm>
          <a:prstGeom prst="rect">
            <a:avLst/>
          </a:prstGeom>
          <a:noFill/>
          <a:ln/>
        </p:spPr>
        <p:txBody>
          <a:bodyPr wrap="square" rtlCol="0" anchor="ctr"/>
          <a:lstStyle/>
          <a:p>
            <a:pPr indent="0" marL="0">
              <a:buNone/>
            </a:pPr>
            <a:r>
              <a:rPr lang="en-US" sz="1400" b="1" spc="400" kern="0" dirty="0">
                <a:solidFill>
                  <a:srgbClr val="0F2A4A"/>
                </a:solidFill>
                <a:latin typeface="Microsoft YaHei" pitchFamily="34" charset="0"/>
                <a:ea typeface="Microsoft YaHei" pitchFamily="34" charset="-122"/>
                <a:cs typeface="Microsoft YaHei" pitchFamily="34" charset="-120"/>
              </a:rPr>
              <a:t>三 大 神 圣 符 号</a:t>
            </a:r>
            <a:endParaRPr lang="en-US" sz="1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57200" y="4937760"/>
          <a:ext cx="6400800" cy="1280160"/>
        </p:xfrm>
        <a:graphic>
          <a:graphicData uri="http://schemas.openxmlformats.org/drawingml/2006/table">
            <a:tbl>
              <a:tblPr/>
              <a:tblGrid>
                <a:gridCol w="2743200"/>
                <a:gridCol w="3657600"/>
              </a:tblGrid>
              <a:tr h="426720">
                <a:tc>
                  <a:txBody>
                    <a:bodyPr/>
                    <a:lstStyle/>
                    <a:p>
                      <a:pPr algn="ctr" indent="0" marL="0">
                        <a:buNone/>
                      </a:pPr>
                      <a:r>
                        <a:rPr lang="en-US" sz="1200" b="1" dirty="0">
                          <a:solidFill>
                            <a:srgbClr val="0F2A4A"/>
                          </a:solidFill>
                          <a:latin typeface="Microsoft YaHei" pitchFamily="34" charset="0"/>
                          <a:ea typeface="Microsoft YaHei" pitchFamily="34" charset="-122"/>
                          <a:cs typeface="Microsoft YaHei" pitchFamily="34" charset="-120"/>
                        </a:rPr>
                        <a:t>☥ Ankh · 生命之符</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Life &amp; immortality</a:t>
                      </a:r>
                      <a:endParaRPr lang="en-US" sz="1000" dirty="0">
                        <a:latin typeface="Microsoft YaHei" charset="0"/>
                        <a:ea typeface="Microsoft YaHei" charset="0"/>
                        <a:cs typeface="Microsoft YaHei" charset="0"/>
                      </a:endParaRPr>
                    </a:p>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生命与永生</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26720">
                <a:tc>
                  <a:txBody>
                    <a:bodyPr/>
                    <a:lstStyle/>
                    <a:p>
                      <a:pPr algn="ctr" indent="0" marL="0">
                        <a:buNone/>
                      </a:pPr>
                      <a:r>
                        <a:rPr lang="en-US" sz="1200" b="1" dirty="0">
                          <a:solidFill>
                            <a:srgbClr val="0F2A4A"/>
                          </a:solidFill>
                          <a:latin typeface="Microsoft YaHei" pitchFamily="34" charset="0"/>
                          <a:ea typeface="Microsoft YaHei" pitchFamily="34" charset="-122"/>
                          <a:cs typeface="Microsoft YaHei" pitchFamily="34" charset="-120"/>
                        </a:rPr>
                        <a:t>𓊽 Djed · 稳定之柱</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Stability · 稳定</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426720">
                <a:tc>
                  <a:txBody>
                    <a:bodyPr/>
                    <a:lstStyle/>
                    <a:p>
                      <a:pPr algn="ctr" indent="0" marL="0">
                        <a:buNone/>
                      </a:pPr>
                      <a:r>
                        <a:rPr lang="en-US" sz="1200" b="1" dirty="0">
                          <a:solidFill>
                            <a:srgbClr val="0F2A4A"/>
                          </a:solidFill>
                          <a:latin typeface="Microsoft YaHei" pitchFamily="34" charset="0"/>
                          <a:ea typeface="Microsoft YaHei" pitchFamily="34" charset="-122"/>
                          <a:cs typeface="Microsoft YaHei" pitchFamily="34" charset="-120"/>
                        </a:rPr>
                        <a:t>𓌀 Was · 权 杖 之 神</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Power &amp; dominion</a:t>
                      </a:r>
                      <a:endParaRPr lang="en-US" sz="1000" dirty="0">
                        <a:latin typeface="Microsoft YaHei" charset="0"/>
                        <a:ea typeface="Microsoft YaHei" charset="0"/>
                        <a:cs typeface="Microsoft YaHei" charset="0"/>
                      </a:endParaRPr>
                    </a:p>
                    <a:p>
                      <a:pPr algn="ctr" indent="0" marL="0">
                        <a:buNone/>
                      </a:pPr>
                      <a:r>
                        <a:rPr lang="en-US" sz="1000" dirty="0">
                          <a:solidFill>
                            <a:srgbClr val="1A1A1A"/>
                          </a:solidFill>
                          <a:latin typeface="Microsoft YaHei" pitchFamily="34" charset="0"/>
                          <a:ea typeface="Microsoft YaHei" pitchFamily="34" charset="-122"/>
                          <a:cs typeface="Microsoft YaHei" pitchFamily="34" charset="-120"/>
                        </a:rPr>
                        <a:t>权力与统辖</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bl>
          </a:graphicData>
        </a:graphic>
      </p:graphicFrame>
      <p:sp>
        <p:nvSpPr>
          <p:cNvPr id="12" name="Shape 8"/>
          <p:cNvSpPr/>
          <p:nvPr/>
        </p:nvSpPr>
        <p:spPr>
          <a:xfrm>
            <a:off x="7178040" y="1554480"/>
            <a:ext cx="4572000" cy="4663440"/>
          </a:xfrm>
          <a:prstGeom prst="rect">
            <a:avLst/>
          </a:prstGeom>
          <a:solidFill>
            <a:srgbClr val="FAF6E9"/>
          </a:solidFill>
          <a:ln w="25400">
            <a:solidFill>
              <a:srgbClr val="D4A24C"/>
            </a:solidFill>
            <a:prstDash val="solid"/>
          </a:ln>
        </p:spPr>
      </p:sp>
      <p:sp>
        <p:nvSpPr>
          <p:cNvPr id="13" name="Text 9"/>
          <p:cNvSpPr/>
          <p:nvPr/>
        </p:nvSpPr>
        <p:spPr>
          <a:xfrm>
            <a:off x="7269480" y="1691640"/>
            <a:ext cx="4389120" cy="320040"/>
          </a:xfrm>
          <a:prstGeom prst="rect">
            <a:avLst/>
          </a:prstGeom>
          <a:noFill/>
          <a:ln/>
        </p:spPr>
        <p:txBody>
          <a:bodyPr wrap="square" rtlCol="0" anchor="ctr"/>
          <a:lstStyle/>
          <a:p>
            <a:pPr indent="0" marL="0">
              <a:buNone/>
            </a:pPr>
            <a:r>
              <a:rPr lang="en-US" sz="1300" b="1" spc="600" kern="0" dirty="0">
                <a:solidFill>
                  <a:srgbClr val="B8860B"/>
                </a:solidFill>
              </a:rPr>
              <a:t>MATHEMATICS</a:t>
            </a:r>
            <a:endParaRPr lang="en-US" sz="1300" dirty="0"/>
          </a:p>
        </p:txBody>
      </p:sp>
      <p:sp>
        <p:nvSpPr>
          <p:cNvPr id="14" name="Text 10"/>
          <p:cNvSpPr/>
          <p:nvPr/>
        </p:nvSpPr>
        <p:spPr>
          <a:xfrm>
            <a:off x="7269480" y="1965960"/>
            <a:ext cx="4389120" cy="365760"/>
          </a:xfrm>
          <a:prstGeom prst="rect">
            <a:avLst/>
          </a:prstGeom>
          <a:noFill/>
          <a:ln/>
        </p:spPr>
        <p:txBody>
          <a:bodyPr wrap="square" rtlCol="0" anchor="ctr"/>
          <a:lstStyle/>
          <a:p>
            <a:pPr indent="0" marL="0">
              <a:buNone/>
            </a:pPr>
            <a:r>
              <a:rPr lang="en-US" sz="1800" b="1" dirty="0">
                <a:solidFill>
                  <a:srgbClr val="0F2A4A"/>
                </a:solidFill>
                <a:latin typeface="Microsoft YaHei" pitchFamily="34" charset="0"/>
                <a:ea typeface="Microsoft YaHei" pitchFamily="34" charset="-122"/>
                <a:cs typeface="Microsoft YaHei" pitchFamily="34" charset="-120"/>
              </a:rPr>
              <a:t>古 埃 及 数 学</a:t>
            </a:r>
            <a:endParaRPr lang="en-US" sz="1800" dirty="0"/>
          </a:p>
        </p:txBody>
      </p:sp>
      <p:sp>
        <p:nvSpPr>
          <p:cNvPr id="15" name="Text 11"/>
          <p:cNvSpPr/>
          <p:nvPr/>
        </p:nvSpPr>
        <p:spPr>
          <a:xfrm>
            <a:off x="7269480" y="2423160"/>
            <a:ext cx="4389120" cy="914400"/>
          </a:xfrm>
          <a:prstGeom prst="rect">
            <a:avLst/>
          </a:prstGeom>
          <a:noFill/>
          <a:ln/>
        </p:spPr>
        <p:txBody>
          <a:bodyPr wrap="square" rtlCol="0" anchor="ctr"/>
          <a:lstStyle/>
          <a:p>
            <a:pPr indent="0" marL="0">
              <a:lnSpc>
                <a:spcPct val="130000"/>
              </a:lnSpc>
              <a:buNone/>
            </a:pPr>
            <a:r>
              <a:rPr lang="en-US" sz="1000" dirty="0">
                <a:solidFill>
                  <a:srgbClr val="1A1A1A"/>
                </a:solidFill>
              </a:rPr>
              <a:t>Egyptian mathematics — visible on the Rhind Mathematical Papyrus (~1650 BC) — used hieratic numerals and fractions. Scribes solved problems of surveying, grain storage, and pyramid construction.</a:t>
            </a:r>
            <a:endParaRPr lang="en-US" sz="1000" dirty="0"/>
          </a:p>
        </p:txBody>
      </p:sp>
      <p:sp>
        <p:nvSpPr>
          <p:cNvPr id="16" name="Shape 12"/>
          <p:cNvSpPr/>
          <p:nvPr/>
        </p:nvSpPr>
        <p:spPr>
          <a:xfrm>
            <a:off x="7315200" y="3429000"/>
            <a:ext cx="4297680" cy="2011680"/>
          </a:xfrm>
          <a:prstGeom prst="rect">
            <a:avLst/>
          </a:prstGeom>
          <a:solidFill>
            <a:srgbClr val="F5E6C8"/>
          </a:solidFill>
          <a:ln w="12700">
            <a:solidFill>
              <a:srgbClr val="B8860B"/>
            </a:solidFill>
            <a:prstDash val="solid"/>
          </a:ln>
        </p:spPr>
      </p:sp>
      <p:pic>
        <p:nvPicPr>
          <p:cNvPr id="17" name="Image 0" descr="C:\Users\18367\Desktop\test\web-app-test\runtime\artifacts\chat_e26d2b322fed\document-assets\download-A_series_of_mathematical_equations,c.50_BCE-10_CE,_Egypt,_Ashmolean_Museum,_Oxford.jpg">    </p:cNvPr>
          <p:cNvPicPr>
            <a:picLocks noChangeAspect="1"/>
          </p:cNvPicPr>
          <p:nvPr/>
        </p:nvPicPr>
        <p:blipFill>
          <a:blip r:embed="rId1"/>
          <a:stretch>
            <a:fillRect/>
          </a:stretch>
        </p:blipFill>
        <p:spPr>
          <a:xfrm>
            <a:off x="7498080" y="3520440"/>
            <a:ext cx="3931920" cy="1828800"/>
          </a:xfrm>
          <a:prstGeom prst="rect">
            <a:avLst/>
          </a:prstGeom>
        </p:spPr>
      </p:pic>
      <p:sp>
        <p:nvSpPr>
          <p:cNvPr id="18" name="Text 13"/>
          <p:cNvSpPr/>
          <p:nvPr/>
        </p:nvSpPr>
        <p:spPr>
          <a:xfrm>
            <a:off x="7269480" y="5440680"/>
            <a:ext cx="4389120" cy="365760"/>
          </a:xfrm>
          <a:prstGeom prst="rect">
            <a:avLst/>
          </a:prstGeom>
          <a:noFill/>
          <a:ln/>
        </p:spPr>
        <p:txBody>
          <a:bodyPr wrap="square" rtlCol="0" anchor="ctr"/>
          <a:lstStyle/>
          <a:p>
            <a:pPr algn="ctr" indent="0" marL="0">
              <a:buNone/>
            </a:pPr>
            <a:r>
              <a:rPr lang="en-US" sz="850" i="1" dirty="0">
                <a:solidFill>
                  <a:srgbClr val="1B3A5C"/>
                </a:solidFill>
              </a:rPr>
              <a:t>Mathematical ostracon, c. 50 BCE – 10 CE · Ashmolean Museum</a:t>
            </a:r>
            <a:endParaRPr lang="en-US" sz="850" dirty="0"/>
          </a:p>
        </p:txBody>
      </p:sp>
      <p:sp>
        <p:nvSpPr>
          <p:cNvPr id="19" name="Text 14"/>
          <p:cNvSpPr/>
          <p:nvPr/>
        </p:nvSpPr>
        <p:spPr>
          <a:xfrm>
            <a:off x="7269480" y="5806440"/>
            <a:ext cx="4389120" cy="365760"/>
          </a:xfrm>
          <a:prstGeom prst="rect">
            <a:avLst/>
          </a:prstGeom>
          <a:noFill/>
          <a:ln/>
        </p:spPr>
        <p:txBody>
          <a:bodyPr wrap="square" rtlCol="0" anchor="ctr"/>
          <a:lstStyle/>
          <a:p>
            <a:pPr indent="0" marL="0">
              <a:buNone/>
            </a:pPr>
            <a:r>
              <a:rPr lang="en-US" sz="900" i="1" dirty="0">
                <a:solidFill>
                  <a:srgbClr val="B8860B"/>
                </a:solidFill>
                <a:latin typeface="Georgia" pitchFamily="34" charset="0"/>
                <a:ea typeface="Georgia" pitchFamily="34" charset="-122"/>
                <a:cs typeface="Georgia" pitchFamily="34" charset="-120"/>
              </a:rPr>
              <a:t>"The earliest mathematical texts demonstrate sophisticated multiplication, division, and geometric methods."</a:t>
            </a:r>
            <a:endParaRPr lang="en-US" sz="900" dirty="0"/>
          </a:p>
        </p:txBody>
      </p:sp>
      <p:sp>
        <p:nvSpPr>
          <p:cNvPr id="20" name="Shape 15"/>
          <p:cNvSpPr/>
          <p:nvPr/>
        </p:nvSpPr>
        <p:spPr>
          <a:xfrm>
            <a:off x="0" y="6537960"/>
            <a:ext cx="12191695" cy="320040"/>
          </a:xfrm>
          <a:prstGeom prst="rect">
            <a:avLst/>
          </a:prstGeom>
          <a:solidFill>
            <a:srgbClr val="0F2A4A"/>
          </a:solidFill>
          <a:ln w="12700">
            <a:solidFill>
              <a:srgbClr val="0F2A4A"/>
            </a:solidFill>
            <a:prstDash val="solid"/>
          </a:ln>
        </p:spPr>
      </p:sp>
      <p:sp>
        <p:nvSpPr>
          <p:cNvPr id="21" name="Text 16"/>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WRITING &amp; MATH · 文字与数学</a:t>
            </a:r>
            <a:endParaRPr lang="en-US" sz="900" dirty="0"/>
          </a:p>
        </p:txBody>
      </p:sp>
      <p:sp>
        <p:nvSpPr>
          <p:cNvPr id="22" name="Text 17"/>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9"/>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B8860B"/>
          </a:solidFill>
          <a:ln w="12700">
            <a:solidFill>
              <a:srgbClr val="B8860B"/>
            </a:solidFill>
            <a:prstDash val="solid"/>
          </a:ln>
        </p:spPr>
      </p:sp>
      <p:sp>
        <p:nvSpPr>
          <p:cNvPr id="3" name="Shape 1"/>
          <p:cNvSpPr/>
          <p:nvPr/>
        </p:nvSpPr>
        <p:spPr>
          <a:xfrm>
            <a:off x="0" y="1143000"/>
            <a:ext cx="12191695" cy="73152"/>
          </a:xfrm>
          <a:prstGeom prst="rect">
            <a:avLst/>
          </a:prstGeom>
          <a:solidFill>
            <a:srgbClr val="0F2A4A"/>
          </a:solidFill>
          <a:ln w="12700">
            <a:solidFill>
              <a:srgbClr val="0F2A4A"/>
            </a:solidFill>
            <a:prstDash val="solid"/>
          </a:ln>
        </p:spPr>
      </p:sp>
      <p:sp>
        <p:nvSpPr>
          <p:cNvPr id="4" name="Text 2"/>
          <p:cNvSpPr/>
          <p:nvPr/>
        </p:nvSpPr>
        <p:spPr>
          <a:xfrm>
            <a:off x="457200" y="201168"/>
            <a:ext cx="7315200" cy="274320"/>
          </a:xfrm>
          <a:prstGeom prst="rect">
            <a:avLst/>
          </a:prstGeom>
          <a:noFill/>
          <a:ln/>
        </p:spPr>
        <p:txBody>
          <a:bodyPr wrap="square" rtlCol="0" anchor="ctr"/>
          <a:lstStyle/>
          <a:p>
            <a:pPr indent="0" marL="0">
              <a:buNone/>
            </a:pPr>
            <a:r>
              <a:rPr lang="en-US" sz="1100" b="1" spc="1200" kern="0" dirty="0">
                <a:solidFill>
                  <a:srgbClr val="FDF8EC"/>
                </a:solidFill>
              </a:rPr>
              <a:t>09 · ARCHITECTURE &amp; ART</a:t>
            </a:r>
            <a:endParaRPr lang="en-US" sz="1100" dirty="0"/>
          </a:p>
        </p:txBody>
      </p:sp>
      <p:sp>
        <p:nvSpPr>
          <p:cNvPr id="5" name="Text 3"/>
          <p:cNvSpPr/>
          <p:nvPr/>
        </p:nvSpPr>
        <p:spPr>
          <a:xfrm>
            <a:off x="457200" y="457200"/>
            <a:ext cx="8229600" cy="594360"/>
          </a:xfrm>
          <a:prstGeom prst="rect">
            <a:avLst/>
          </a:prstGeom>
          <a:noFill/>
          <a:ln/>
        </p:spPr>
        <p:txBody>
          <a:bodyPr wrap="square" rtlCol="0" anchor="ctr"/>
          <a:lstStyle/>
          <a:p>
            <a:pPr indent="0" marL="0">
              <a:buNone/>
            </a:pPr>
            <a:r>
              <a:rPr lang="en-US" sz="3000" b="1" spc="400" kern="0" dirty="0">
                <a:solidFill>
                  <a:srgbClr val="FDF8EC"/>
                </a:solidFill>
                <a:latin typeface="Microsoft YaHei" pitchFamily="34" charset="0"/>
                <a:ea typeface="Microsoft YaHei" pitchFamily="34" charset="-122"/>
                <a:cs typeface="Microsoft YaHei" pitchFamily="34" charset="-120"/>
              </a:rPr>
              <a:t>建 筑 与 艺 术</a:t>
            </a:r>
            <a:endParaRPr lang="en-US" sz="3000" dirty="0"/>
          </a:p>
        </p:txBody>
      </p:sp>
      <p:sp>
        <p:nvSpPr>
          <p:cNvPr id="6" name="Text 4"/>
          <p:cNvSpPr/>
          <p:nvPr/>
        </p:nvSpPr>
        <p:spPr>
          <a:xfrm>
            <a:off x="7162495" y="777240"/>
            <a:ext cx="4572000" cy="274320"/>
          </a:xfrm>
          <a:prstGeom prst="rect">
            <a:avLst/>
          </a:prstGeom>
          <a:noFill/>
          <a:ln/>
        </p:spPr>
        <p:txBody>
          <a:bodyPr wrap="square" rtlCol="0" anchor="ctr"/>
          <a:lstStyle/>
          <a:p>
            <a:pPr algn="r" indent="0" marL="0">
              <a:buNone/>
            </a:pPr>
            <a:r>
              <a:rPr lang="en-US" sz="1100" i="1" dirty="0">
                <a:solidFill>
                  <a:srgbClr val="F5E6C8"/>
                </a:solidFill>
              </a:rPr>
              <a:t>Stone, Symbol, and Story</a:t>
            </a:r>
            <a:endParaRPr lang="en-US" sz="1100" dirty="0"/>
          </a:p>
        </p:txBody>
      </p:sp>
      <p:sp>
        <p:nvSpPr>
          <p:cNvPr id="7" name="Shape 5"/>
          <p:cNvSpPr/>
          <p:nvPr/>
        </p:nvSpPr>
        <p:spPr>
          <a:xfrm>
            <a:off x="457200" y="1508760"/>
            <a:ext cx="5486400" cy="4754880"/>
          </a:xfrm>
          <a:prstGeom prst="rect">
            <a:avLst/>
          </a:prstGeom>
          <a:solidFill>
            <a:srgbClr val="FFFFFF"/>
          </a:solidFill>
          <a:ln w="25400">
            <a:solidFill>
              <a:srgbClr val="D4A24C"/>
            </a:solidFill>
            <a:prstDash val="solid"/>
          </a:ln>
        </p:spPr>
      </p:sp>
      <p:pic>
        <p:nvPicPr>
          <p:cNvPr id="8" name="Image 0" descr="C:\Users\18367\Desktop\test\web-app-test\runtime\artifacts\chat_e26d2b322fed\document-assets\download-Predynastic_collage_(new_version).jpg">    </p:cNvPr>
          <p:cNvPicPr>
            <a:picLocks noChangeAspect="1"/>
          </p:cNvPicPr>
          <p:nvPr/>
        </p:nvPicPr>
        <p:blipFill>
          <a:blip r:embed="rId1"/>
          <a:stretch>
            <a:fillRect/>
          </a:stretch>
        </p:blipFill>
        <p:spPr>
          <a:xfrm>
            <a:off x="594360" y="1645920"/>
            <a:ext cx="5212080" cy="4480560"/>
          </a:xfrm>
          <a:prstGeom prst="rect">
            <a:avLst/>
          </a:prstGeom>
        </p:spPr>
      </p:pic>
      <p:sp>
        <p:nvSpPr>
          <p:cNvPr id="9" name="Text 6"/>
          <p:cNvSpPr/>
          <p:nvPr/>
        </p:nvSpPr>
        <p:spPr>
          <a:xfrm>
            <a:off x="457200" y="6080760"/>
            <a:ext cx="5486400" cy="228600"/>
          </a:xfrm>
          <a:prstGeom prst="rect">
            <a:avLst/>
          </a:prstGeom>
          <a:noFill/>
          <a:ln/>
        </p:spPr>
        <p:txBody>
          <a:bodyPr wrap="square" rtlCol="0" anchor="ctr"/>
          <a:lstStyle/>
          <a:p>
            <a:pPr algn="ctr" indent="0" marL="0">
              <a:buNone/>
            </a:pPr>
            <a:r>
              <a:rPr lang="en-US" sz="900" i="1" dirty="0">
                <a:solidFill>
                  <a:srgbClr val="0F2A4A"/>
                </a:solidFill>
              </a:rPr>
              <a:t>Predynastic Egyptian artefacts  ·  Idols, pottery, palettes, maceheads</a:t>
            </a:r>
            <a:endParaRPr lang="en-US" sz="900" dirty="0"/>
          </a:p>
        </p:txBody>
      </p:sp>
      <p:sp>
        <p:nvSpPr>
          <p:cNvPr id="10" name="Text 7"/>
          <p:cNvSpPr/>
          <p:nvPr/>
        </p:nvSpPr>
        <p:spPr>
          <a:xfrm>
            <a:off x="6126480" y="1554480"/>
            <a:ext cx="5669280" cy="320040"/>
          </a:xfrm>
          <a:prstGeom prst="rect">
            <a:avLst/>
          </a:prstGeom>
          <a:noFill/>
          <a:ln/>
        </p:spPr>
        <p:txBody>
          <a:bodyPr wrap="square" rtlCol="0" anchor="ctr"/>
          <a:lstStyle/>
          <a:p>
            <a:pPr indent="0" marL="0">
              <a:buNone/>
            </a:pPr>
            <a:r>
              <a:rPr lang="en-US" sz="1300" b="1" spc="600" kern="0" dirty="0">
                <a:solidFill>
                  <a:srgbClr val="B8860B"/>
                </a:solidFill>
              </a:rPr>
              <a:t>ARCHITECTURAL MARVELS</a:t>
            </a:r>
            <a:endParaRPr lang="en-US" sz="1300" dirty="0"/>
          </a:p>
        </p:txBody>
      </p:sp>
      <p:sp>
        <p:nvSpPr>
          <p:cNvPr id="11" name="Text 8"/>
          <p:cNvSpPr/>
          <p:nvPr/>
        </p:nvSpPr>
        <p:spPr>
          <a:xfrm>
            <a:off x="6126480" y="1828800"/>
            <a:ext cx="5669280" cy="365760"/>
          </a:xfrm>
          <a:prstGeom prst="rect">
            <a:avLst/>
          </a:prstGeom>
          <a:noFill/>
          <a:ln/>
        </p:spPr>
        <p:txBody>
          <a:bodyPr wrap="square" rtlCol="0" anchor="ctr"/>
          <a:lstStyle/>
          <a:p>
            <a:pPr indent="0" marL="0">
              <a:buNone/>
            </a:pPr>
            <a:r>
              <a:rPr lang="en-US" sz="1800" b="1" spc="400" kern="0" dirty="0">
                <a:solidFill>
                  <a:srgbClr val="0F2A4A"/>
                </a:solidFill>
                <a:latin typeface="Microsoft YaHei" pitchFamily="34" charset="0"/>
                <a:ea typeface="Microsoft YaHei" pitchFamily="34" charset="-122"/>
                <a:cs typeface="Microsoft YaHei" pitchFamily="34" charset="-120"/>
              </a:rPr>
              <a:t>建 筑 奇 迹</a:t>
            </a:r>
            <a:endParaRPr lang="en-US" sz="1800" dirty="0"/>
          </a:p>
        </p:txBody>
      </p:sp>
      <p:sp>
        <p:nvSpPr>
          <p:cNvPr id="12" name="Shape 9"/>
          <p:cNvSpPr/>
          <p:nvPr/>
        </p:nvSpPr>
        <p:spPr>
          <a:xfrm>
            <a:off x="6126480" y="2286000"/>
            <a:ext cx="914400" cy="0"/>
          </a:xfrm>
          <a:prstGeom prst="line">
            <a:avLst/>
          </a:prstGeom>
          <a:noFill/>
          <a:ln w="25400">
            <a:solidFill>
              <a:srgbClr val="D4A24C"/>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6480" y="2423160"/>
          <a:ext cx="5623560" cy="3840480"/>
        </p:xfrm>
        <a:graphic>
          <a:graphicData uri="http://schemas.openxmlformats.org/drawingml/2006/table">
            <a:tbl>
              <a:tblPr/>
              <a:tblGrid>
                <a:gridCol w="1828800"/>
                <a:gridCol w="1280160"/>
                <a:gridCol w="2514600"/>
              </a:tblGrid>
              <a:tr h="640080">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Monument · 建筑</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Era · 年代</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c>
                  <a:txBody>
                    <a:bodyPr/>
                    <a:lstStyle/>
                    <a:p>
                      <a:pPr algn="ctr" indent="0" marL="0">
                        <a:buNone/>
                      </a:pPr>
                      <a:r>
                        <a:rPr lang="en-US" sz="1100" b="1" dirty="0">
                          <a:solidFill>
                            <a:srgbClr val="FDF8EC"/>
                          </a:solidFill>
                          <a:latin typeface="Calibri" pitchFamily="34" charset="0"/>
                          <a:ea typeface="Calibri" pitchFamily="34" charset="-122"/>
                          <a:cs typeface="Calibri" pitchFamily="34" charset="-120"/>
                        </a:rPr>
                        <a:t>Note · 描述</a:t>
                      </a:r>
                      <a:endParaRPr lang="en-US" sz="11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0F2A4A"/>
                    </a:solidFill>
                  </a:tcPr>
                </a:tc>
              </a:tr>
              <a:tr h="640080">
                <a:tc>
                  <a:txBody>
                    <a:bodyPr/>
                    <a:lstStyle/>
                    <a:p>
                      <a:pPr indent="0" marL="0">
                        <a:buNone/>
                      </a:pPr>
                      <a:r>
                        <a:rPr lang="en-US" sz="1000" b="1" dirty="0">
                          <a:solidFill>
                            <a:srgbClr val="0F2A4A"/>
                          </a:solidFill>
                          <a:latin typeface="Microsoft YaHei" pitchFamily="34" charset="0"/>
                          <a:ea typeface="Microsoft YaHei" pitchFamily="34" charset="-122"/>
                          <a:cs typeface="Microsoft YaHei" pitchFamily="34" charset="-120"/>
                        </a:rPr>
                        <a:t>Pyramid of Djoser</a:t>
                      </a:r>
                      <a:endParaRPr lang="en-US" sz="1000" dirty="0">
                        <a:latin typeface="Microsoft YaHei" charset="0"/>
                        <a:ea typeface="Microsoft YaHei" charset="0"/>
                        <a:cs typeface="Microsoft YaHei" charset="0"/>
                      </a:endParaRPr>
                    </a:p>
                    <a:p>
                      <a:pPr indent="0" marL="0">
                        <a:buNone/>
                      </a:pPr>
                      <a:r>
                        <a:rPr lang="en-US" sz="1000" b="1" dirty="0">
                          <a:solidFill>
                            <a:srgbClr val="0F2A4A"/>
                          </a:solidFill>
                          <a:latin typeface="Microsoft YaHei" pitchFamily="34" charset="0"/>
                          <a:ea typeface="Microsoft YaHei" pitchFamily="34" charset="-122"/>
                          <a:cs typeface="Microsoft YaHei" pitchFamily="34" charset="-120"/>
                        </a:rPr>
                        <a:t>乔塞尔金字塔</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27th c.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950" dirty="0">
                          <a:solidFill>
                            <a:srgbClr val="1A1A1A"/>
                          </a:solidFill>
                          <a:latin typeface="Microsoft YaHei" pitchFamily="34" charset="0"/>
                          <a:ea typeface="Microsoft YaHei" pitchFamily="34" charset="-122"/>
                          <a:cs typeface="Microsoft YaHei" pitchFamily="34" charset="-120"/>
                        </a:rPr>
                        <a:t>First stone pyramid; Imhotep</a:t>
                      </a:r>
                      <a:endParaRPr lang="en-US" sz="950" dirty="0">
                        <a:latin typeface="Microsoft YaHei" charset="0"/>
                        <a:ea typeface="Microsoft YaHei" charset="0"/>
                        <a:cs typeface="Microsoft YaHei" charset="0"/>
                      </a:endParaRPr>
                    </a:p>
                    <a:p>
                      <a:pPr indent="0" marL="0">
                        <a:buNone/>
                      </a:pPr>
                      <a:r>
                        <a:rPr lang="en-US" sz="950" dirty="0">
                          <a:solidFill>
                            <a:srgbClr val="1A1A1A"/>
                          </a:solidFill>
                          <a:latin typeface="Microsoft YaHei" pitchFamily="34" charset="0"/>
                          <a:ea typeface="Microsoft YaHei" pitchFamily="34" charset="-122"/>
                          <a:cs typeface="Microsoft YaHei" pitchFamily="34" charset="-120"/>
                        </a:rPr>
                        <a:t>首座石造金字塔 · 印何阗设计</a:t>
                      </a:r>
                      <a:endParaRPr lang="en-US" sz="9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640080">
                <a:tc>
                  <a:txBody>
                    <a:bodyPr/>
                    <a:lstStyle/>
                    <a:p>
                      <a:pPr indent="0" marL="0">
                        <a:buNone/>
                      </a:pPr>
                      <a:r>
                        <a:rPr lang="en-US" sz="1000" b="1" dirty="0">
                          <a:solidFill>
                            <a:srgbClr val="0F2A4A"/>
                          </a:solidFill>
                          <a:latin typeface="Microsoft YaHei" pitchFamily="34" charset="0"/>
                          <a:ea typeface="Microsoft YaHei" pitchFamily="34" charset="-122"/>
                          <a:cs typeface="Microsoft YaHei" pitchFamily="34" charset="-120"/>
                        </a:rPr>
                        <a:t>Great Pyramid of Giza</a:t>
                      </a:r>
                      <a:endParaRPr lang="en-US" sz="1000" dirty="0">
                        <a:latin typeface="Microsoft YaHei" charset="0"/>
                        <a:ea typeface="Microsoft YaHei" charset="0"/>
                        <a:cs typeface="Microsoft YaHei" charset="0"/>
                      </a:endParaRPr>
                    </a:p>
                    <a:p>
                      <a:pPr indent="0" marL="0">
                        <a:buNone/>
                      </a:pPr>
                      <a:r>
                        <a:rPr lang="en-US" sz="1000" b="1" dirty="0">
                          <a:solidFill>
                            <a:srgbClr val="0F2A4A"/>
                          </a:solidFill>
                          <a:latin typeface="Microsoft YaHei" pitchFamily="34" charset="0"/>
                          <a:ea typeface="Microsoft YaHei" pitchFamily="34" charset="-122"/>
                          <a:cs typeface="Microsoft YaHei" pitchFamily="34" charset="-120"/>
                        </a:rPr>
                        <a:t>吉萨大金字塔</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c. 2560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950" dirty="0">
                          <a:solidFill>
                            <a:srgbClr val="1A1A1A"/>
                          </a:solidFill>
                          <a:latin typeface="Microsoft YaHei" pitchFamily="34" charset="0"/>
                          <a:ea typeface="Microsoft YaHei" pitchFamily="34" charset="-122"/>
                          <a:cs typeface="Microsoft YaHei" pitchFamily="34" charset="-120"/>
                        </a:rPr>
                        <a:t>146 m; ancient wonder</a:t>
                      </a:r>
                      <a:endParaRPr lang="en-US" sz="950" dirty="0">
                        <a:latin typeface="Microsoft YaHei" charset="0"/>
                        <a:ea typeface="Microsoft YaHei" charset="0"/>
                        <a:cs typeface="Microsoft YaHei" charset="0"/>
                      </a:endParaRPr>
                    </a:p>
                    <a:p>
                      <a:pPr indent="0" marL="0">
                        <a:buNone/>
                      </a:pPr>
                      <a:r>
                        <a:rPr lang="en-US" sz="950" dirty="0">
                          <a:solidFill>
                            <a:srgbClr val="1A1A1A"/>
                          </a:solidFill>
                          <a:latin typeface="Microsoft YaHei" pitchFamily="34" charset="0"/>
                          <a:ea typeface="Microsoft YaHei" pitchFamily="34" charset="-122"/>
                          <a:cs typeface="Microsoft YaHei" pitchFamily="34" charset="-120"/>
                        </a:rPr>
                        <a:t>146米 · 古代世界七大奇迹之一</a:t>
                      </a:r>
                      <a:endParaRPr lang="en-US" sz="9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640080">
                <a:tc>
                  <a:txBody>
                    <a:bodyPr/>
                    <a:lstStyle/>
                    <a:p>
                      <a:pPr indent="0" marL="0">
                        <a:buNone/>
                      </a:pPr>
                      <a:r>
                        <a:rPr lang="en-US" sz="1000" b="1" dirty="0">
                          <a:solidFill>
                            <a:srgbClr val="0F2A4A"/>
                          </a:solidFill>
                          <a:latin typeface="Microsoft YaHei" pitchFamily="34" charset="0"/>
                          <a:ea typeface="Microsoft YaHei" pitchFamily="34" charset="-122"/>
                          <a:cs typeface="Microsoft YaHei" pitchFamily="34" charset="-120"/>
                        </a:rPr>
                        <a:t>Karnak Temple Complex</a:t>
                      </a:r>
                      <a:endParaRPr lang="en-US" sz="1000" dirty="0">
                        <a:latin typeface="Microsoft YaHei" charset="0"/>
                        <a:ea typeface="Microsoft YaHei" charset="0"/>
                        <a:cs typeface="Microsoft YaHei" charset="0"/>
                      </a:endParaRPr>
                    </a:p>
                    <a:p>
                      <a:pPr indent="0" marL="0">
                        <a:buNone/>
                      </a:pPr>
                      <a:r>
                        <a:rPr lang="en-US" sz="1000" b="1" dirty="0">
                          <a:solidFill>
                            <a:srgbClr val="0F2A4A"/>
                          </a:solidFill>
                          <a:latin typeface="Microsoft YaHei" pitchFamily="34" charset="0"/>
                          <a:ea typeface="Microsoft YaHei" pitchFamily="34" charset="-122"/>
                          <a:cs typeface="Microsoft YaHei" pitchFamily="34" charset="-120"/>
                        </a:rPr>
                        <a:t>卡纳克神庙群</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Middle – Late</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950" dirty="0">
                          <a:solidFill>
                            <a:srgbClr val="1A1A1A"/>
                          </a:solidFill>
                          <a:latin typeface="Microsoft YaHei" pitchFamily="34" charset="0"/>
                          <a:ea typeface="Microsoft YaHei" pitchFamily="34" charset="-122"/>
                          <a:cs typeface="Microsoft YaHei" pitchFamily="34" charset="-120"/>
                        </a:rPr>
                        <a:t>Largest religious complex</a:t>
                      </a:r>
                      <a:endParaRPr lang="en-US" sz="950" dirty="0">
                        <a:latin typeface="Microsoft YaHei" charset="0"/>
                        <a:ea typeface="Microsoft YaHei" charset="0"/>
                        <a:cs typeface="Microsoft YaHei" charset="0"/>
                      </a:endParaRPr>
                    </a:p>
                    <a:p>
                      <a:pPr indent="0" marL="0">
                        <a:buNone/>
                      </a:pPr>
                      <a:r>
                        <a:rPr lang="en-US" sz="950" dirty="0">
                          <a:solidFill>
                            <a:srgbClr val="1A1A1A"/>
                          </a:solidFill>
                          <a:latin typeface="Microsoft YaHei" pitchFamily="34" charset="0"/>
                          <a:ea typeface="Microsoft YaHei" pitchFamily="34" charset="-122"/>
                          <a:cs typeface="Microsoft YaHei" pitchFamily="34" charset="-120"/>
                        </a:rPr>
                        <a:t>最大宗教建筑群</a:t>
                      </a:r>
                      <a:endParaRPr lang="en-US" sz="9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640080">
                <a:tc>
                  <a:txBody>
                    <a:bodyPr/>
                    <a:lstStyle/>
                    <a:p>
                      <a:pPr indent="0" marL="0">
                        <a:buNone/>
                      </a:pPr>
                      <a:r>
                        <a:rPr lang="en-US" sz="1000" b="1" dirty="0">
                          <a:solidFill>
                            <a:srgbClr val="0F2A4A"/>
                          </a:solidFill>
                          <a:latin typeface="Microsoft YaHei" pitchFamily="34" charset="0"/>
                          <a:ea typeface="Microsoft YaHei" pitchFamily="34" charset="-122"/>
                          <a:cs typeface="Microsoft YaHei" pitchFamily="34" charset="-120"/>
                        </a:rPr>
                        <a:t>Abu Simbel</a:t>
                      </a:r>
                      <a:endParaRPr lang="en-US" sz="1000" dirty="0">
                        <a:latin typeface="Microsoft YaHei" charset="0"/>
                        <a:ea typeface="Microsoft YaHei" charset="0"/>
                        <a:cs typeface="Microsoft YaHei" charset="0"/>
                      </a:endParaRPr>
                    </a:p>
                    <a:p>
                      <a:pPr indent="0" marL="0">
                        <a:buNone/>
                      </a:pPr>
                      <a:r>
                        <a:rPr lang="en-US" sz="1000" b="1" dirty="0">
                          <a:solidFill>
                            <a:srgbClr val="0F2A4A"/>
                          </a:solidFill>
                          <a:latin typeface="Microsoft YaHei" pitchFamily="34" charset="0"/>
                          <a:ea typeface="Microsoft YaHei" pitchFamily="34" charset="-122"/>
                          <a:cs typeface="Microsoft YaHei" pitchFamily="34" charset="-120"/>
                        </a:rPr>
                        <a:t>阿布辛贝神庙</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13th c. BC</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950" dirty="0">
                          <a:solidFill>
                            <a:srgbClr val="1A1A1A"/>
                          </a:solidFill>
                          <a:latin typeface="Microsoft YaHei" pitchFamily="34" charset="0"/>
                          <a:ea typeface="Microsoft YaHei" pitchFamily="34" charset="-122"/>
                          <a:cs typeface="Microsoft YaHei" pitchFamily="34" charset="-120"/>
                        </a:rPr>
                        <a:t>Ramesses II rock-cut temple</a:t>
                      </a:r>
                      <a:endParaRPr lang="en-US" sz="950" dirty="0">
                        <a:latin typeface="Microsoft YaHei" charset="0"/>
                        <a:ea typeface="Microsoft YaHei" charset="0"/>
                        <a:cs typeface="Microsoft YaHei" charset="0"/>
                      </a:endParaRPr>
                    </a:p>
                    <a:p>
                      <a:pPr indent="0" marL="0">
                        <a:buNone/>
                      </a:pPr>
                      <a:r>
                        <a:rPr lang="en-US" sz="950" dirty="0">
                          <a:solidFill>
                            <a:srgbClr val="1A1A1A"/>
                          </a:solidFill>
                          <a:latin typeface="Microsoft YaHei" pitchFamily="34" charset="0"/>
                          <a:ea typeface="Microsoft YaHei" pitchFamily="34" charset="-122"/>
                          <a:cs typeface="Microsoft YaHei" pitchFamily="34" charset="-120"/>
                        </a:rPr>
                        <a:t>拉美西斯二世岩凿神庙</a:t>
                      </a:r>
                      <a:endParaRPr lang="en-US" sz="9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r h="640080">
                <a:tc>
                  <a:txBody>
                    <a:bodyPr/>
                    <a:lstStyle/>
                    <a:p>
                      <a:pPr indent="0" marL="0">
                        <a:buNone/>
                      </a:pPr>
                      <a:r>
                        <a:rPr lang="en-US" sz="1000" b="1" dirty="0">
                          <a:solidFill>
                            <a:srgbClr val="0F2A4A"/>
                          </a:solidFill>
                          <a:latin typeface="Microsoft YaHei" pitchFamily="34" charset="0"/>
                          <a:ea typeface="Microsoft YaHei" pitchFamily="34" charset="-122"/>
                          <a:cs typeface="Microsoft YaHei" pitchFamily="34" charset="-120"/>
                        </a:rPr>
                        <a:t>Valley of the Kings</a:t>
                      </a:r>
                      <a:endParaRPr lang="en-US" sz="1000" dirty="0">
                        <a:latin typeface="Microsoft YaHei" charset="0"/>
                        <a:ea typeface="Microsoft YaHei" charset="0"/>
                        <a:cs typeface="Microsoft YaHei" charset="0"/>
                      </a:endParaRPr>
                    </a:p>
                    <a:p>
                      <a:pPr indent="0" marL="0">
                        <a:buNone/>
                      </a:pPr>
                      <a:r>
                        <a:rPr lang="en-US" sz="1000" b="1" dirty="0">
                          <a:solidFill>
                            <a:srgbClr val="0F2A4A"/>
                          </a:solidFill>
                          <a:latin typeface="Microsoft YaHei" pitchFamily="34" charset="0"/>
                          <a:ea typeface="Microsoft YaHei" pitchFamily="34" charset="-122"/>
                          <a:cs typeface="Microsoft YaHei" pitchFamily="34" charset="-120"/>
                        </a:rPr>
                        <a:t>帝王谷</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5E6C8"/>
                    </a:solidFill>
                  </a:tcPr>
                </a:tc>
                <a:tc>
                  <a:txBody>
                    <a:bodyPr/>
                    <a:lstStyle/>
                    <a:p>
                      <a:pPr algn="ctr" indent="0" marL="0">
                        <a:buNone/>
                      </a:pPr>
                      <a:r>
                        <a:rPr lang="en-US" sz="1000" dirty="0">
                          <a:solidFill>
                            <a:srgbClr val="1B3A5C"/>
                          </a:solidFill>
                          <a:latin typeface="Calibri" pitchFamily="34" charset="0"/>
                          <a:ea typeface="Calibri" pitchFamily="34" charset="-122"/>
                          <a:cs typeface="Calibri" pitchFamily="34" charset="-120"/>
                        </a:rPr>
                        <a:t>New Kingdom</a:t>
                      </a:r>
                      <a:endParaRPr lang="en-US" sz="10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c>
                  <a:txBody>
                    <a:bodyPr/>
                    <a:lstStyle/>
                    <a:p>
                      <a:pPr indent="0" marL="0">
                        <a:buNone/>
                      </a:pPr>
                      <a:r>
                        <a:rPr lang="en-US" sz="950" dirty="0">
                          <a:solidFill>
                            <a:srgbClr val="1A1A1A"/>
                          </a:solidFill>
                          <a:latin typeface="Microsoft YaHei" pitchFamily="34" charset="0"/>
                          <a:ea typeface="Microsoft YaHei" pitchFamily="34" charset="-122"/>
                          <a:cs typeface="Microsoft YaHei" pitchFamily="34" charset="-120"/>
                        </a:rPr>
                        <a:t>Royal tombs including Tutankhamun</a:t>
                      </a:r>
                      <a:endParaRPr lang="en-US" sz="950" dirty="0">
                        <a:latin typeface="Microsoft YaHei" charset="0"/>
                        <a:ea typeface="Microsoft YaHei" charset="0"/>
                        <a:cs typeface="Microsoft YaHei" charset="0"/>
                      </a:endParaRPr>
                    </a:p>
                    <a:p>
                      <a:pPr indent="0" marL="0">
                        <a:buNone/>
                      </a:pPr>
                      <a:r>
                        <a:rPr lang="en-US" sz="950" dirty="0">
                          <a:solidFill>
                            <a:srgbClr val="1A1A1A"/>
                          </a:solidFill>
                          <a:latin typeface="Microsoft YaHei" pitchFamily="34" charset="0"/>
                          <a:ea typeface="Microsoft YaHei" pitchFamily="34" charset="-122"/>
                          <a:cs typeface="Microsoft YaHei" pitchFamily="34" charset="-120"/>
                        </a:rPr>
                        <a:t>图坦卡蒙陵墓所在地</a:t>
                      </a:r>
                      <a:endParaRPr lang="en-US" sz="950" dirty="0">
                        <a:latin typeface="Microsoft YaHei" charset="0"/>
                        <a:ea typeface="Microsoft YaHei" charset="0"/>
                        <a:cs typeface="Microsoft YaHe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FAF6E9"/>
                    </a:solidFill>
                  </a:tcPr>
                </a:tc>
              </a:tr>
            </a:tbl>
          </a:graphicData>
        </a:graphic>
      </p:graphicFrame>
      <p:sp>
        <p:nvSpPr>
          <p:cNvPr id="14" name="Shape 10"/>
          <p:cNvSpPr/>
          <p:nvPr/>
        </p:nvSpPr>
        <p:spPr>
          <a:xfrm>
            <a:off x="0" y="6537960"/>
            <a:ext cx="12191695" cy="320040"/>
          </a:xfrm>
          <a:prstGeom prst="rect">
            <a:avLst/>
          </a:prstGeom>
          <a:solidFill>
            <a:srgbClr val="0F2A4A"/>
          </a:solidFill>
          <a:ln w="12700">
            <a:solidFill>
              <a:srgbClr val="0F2A4A"/>
            </a:solidFill>
            <a:prstDash val="solid"/>
          </a:ln>
        </p:spPr>
      </p:sp>
      <p:sp>
        <p:nvSpPr>
          <p:cNvPr id="15" name="Text 11"/>
          <p:cNvSpPr/>
          <p:nvPr/>
        </p:nvSpPr>
        <p:spPr>
          <a:xfrm>
            <a:off x="365760" y="6556248"/>
            <a:ext cx="8229600" cy="283464"/>
          </a:xfrm>
          <a:prstGeom prst="rect">
            <a:avLst/>
          </a:prstGeom>
          <a:noFill/>
          <a:ln/>
        </p:spPr>
        <p:txBody>
          <a:bodyPr wrap="square" rtlCol="0" anchor="ctr"/>
          <a:lstStyle/>
          <a:p>
            <a:pPr algn="l" indent="0" marL="0">
              <a:buNone/>
            </a:pPr>
            <a:r>
              <a:rPr lang="en-US" sz="900" dirty="0">
                <a:solidFill>
                  <a:srgbClr val="F5E6C8"/>
                </a:solidFill>
                <a:latin typeface="Calibri" pitchFamily="34" charset="0"/>
                <a:ea typeface="Calibri" pitchFamily="34" charset="-122"/>
                <a:cs typeface="Calibri" pitchFamily="34" charset="-120"/>
              </a:rPr>
              <a:t>ARCHITECTURE &amp; ART · 建筑与艺术</a:t>
            </a:r>
            <a:endParaRPr lang="en-US" sz="900" dirty="0"/>
          </a:p>
        </p:txBody>
      </p:sp>
      <p:sp>
        <p:nvSpPr>
          <p:cNvPr id="16" name="Text 12"/>
          <p:cNvSpPr/>
          <p:nvPr/>
        </p:nvSpPr>
        <p:spPr>
          <a:xfrm>
            <a:off x="11002975" y="6556248"/>
            <a:ext cx="822960" cy="283464"/>
          </a:xfrm>
          <a:prstGeom prst="rect">
            <a:avLst/>
          </a:prstGeom>
          <a:noFill/>
          <a:ln/>
        </p:spPr>
        <p:txBody>
          <a:bodyPr wrap="square" rtlCol="0" anchor="ctr"/>
          <a:lstStyle/>
          <a:p>
            <a:pPr algn="r" indent="0" marL="0">
              <a:buNone/>
            </a:pPr>
            <a:r>
              <a:rPr lang="en-US" sz="900" b="1" dirty="0">
                <a:solidFill>
                  <a:srgbClr val="D4A24C"/>
                </a:solidFill>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4A24C"/>
          </a:solidFill>
          <a:ln w="12700">
            <a:solidFill>
              <a:srgbClr val="D4A24C"/>
            </a:solidFill>
            <a:prstDash val="solid"/>
          </a:ln>
        </p:spPr>
      </p:sp>
      <p:sp>
        <p:nvSpPr>
          <p:cNvPr id="3" name="Shape 1"/>
          <p:cNvSpPr/>
          <p:nvPr/>
        </p:nvSpPr>
        <p:spPr>
          <a:xfrm>
            <a:off x="0" y="6693408"/>
            <a:ext cx="12191695" cy="164592"/>
          </a:xfrm>
          <a:prstGeom prst="rect">
            <a:avLst/>
          </a:prstGeom>
          <a:solidFill>
            <a:srgbClr val="D4A24C"/>
          </a:solidFill>
          <a:ln w="12700">
            <a:solidFill>
              <a:srgbClr val="D4A24C"/>
            </a:solidFill>
            <a:prstDash val="solid"/>
          </a:ln>
        </p:spPr>
      </p:sp>
      <p:sp>
        <p:nvSpPr>
          <p:cNvPr id="4" name="Text 2"/>
          <p:cNvSpPr/>
          <p:nvPr/>
        </p:nvSpPr>
        <p:spPr>
          <a:xfrm>
            <a:off x="457200" y="411480"/>
            <a:ext cx="10972800" cy="320040"/>
          </a:xfrm>
          <a:prstGeom prst="rect">
            <a:avLst/>
          </a:prstGeom>
          <a:noFill/>
          <a:ln/>
        </p:spPr>
        <p:txBody>
          <a:bodyPr wrap="square" rtlCol="0" anchor="ctr"/>
          <a:lstStyle/>
          <a:p>
            <a:pPr algn="ctr" indent="0" marL="0">
              <a:buNone/>
            </a:pPr>
            <a:r>
              <a:rPr lang="en-US" sz="1200" b="1" spc="1600" kern="0" dirty="0">
                <a:solidFill>
                  <a:srgbClr val="E8C77A"/>
                </a:solidFill>
              </a:rPr>
              <a:t>10 · ACHIEVEMENTS &amp; LEGACY</a:t>
            </a:r>
            <a:endParaRPr lang="en-US" sz="1200" dirty="0"/>
          </a:p>
        </p:txBody>
      </p:sp>
      <p:sp>
        <p:nvSpPr>
          <p:cNvPr id="5" name="Text 3"/>
          <p:cNvSpPr/>
          <p:nvPr/>
        </p:nvSpPr>
        <p:spPr>
          <a:xfrm>
            <a:off x="457200" y="777240"/>
            <a:ext cx="10972800" cy="640080"/>
          </a:xfrm>
          <a:prstGeom prst="rect">
            <a:avLst/>
          </a:prstGeom>
          <a:noFill/>
          <a:ln/>
        </p:spPr>
        <p:txBody>
          <a:bodyPr wrap="square" rtlCol="0" anchor="ctr"/>
          <a:lstStyle/>
          <a:p>
            <a:pPr algn="ctr" indent="0" marL="0">
              <a:buNone/>
            </a:pPr>
            <a:r>
              <a:rPr lang="en-US" sz="3600" b="1" spc="600" kern="0" dirty="0">
                <a:solidFill>
                  <a:srgbClr val="D4A24C"/>
                </a:solidFill>
                <a:latin typeface="Microsoft YaHei" pitchFamily="34" charset="0"/>
                <a:ea typeface="Microsoft YaHei" pitchFamily="34" charset="-122"/>
                <a:cs typeface="Microsoft YaHei" pitchFamily="34" charset="-120"/>
              </a:rPr>
              <a:t>文 明 成 就 与 千 载 遗 产</a:t>
            </a:r>
            <a:endParaRPr lang="en-US" sz="3600" dirty="0"/>
          </a:p>
        </p:txBody>
      </p:sp>
      <p:sp>
        <p:nvSpPr>
          <p:cNvPr id="6" name="Shape 4"/>
          <p:cNvSpPr/>
          <p:nvPr/>
        </p:nvSpPr>
        <p:spPr>
          <a:xfrm>
            <a:off x="4724248" y="1508760"/>
            <a:ext cx="2743200" cy="0"/>
          </a:xfrm>
          <a:prstGeom prst="line">
            <a:avLst/>
          </a:prstGeom>
          <a:noFill/>
          <a:ln w="25400">
            <a:solidFill>
              <a:srgbClr val="D4A24C"/>
            </a:solidFill>
            <a:prstDash val="solid"/>
          </a:ln>
        </p:spPr>
      </p:sp>
      <p:sp>
        <p:nvSpPr>
          <p:cNvPr id="7" name="Text 5"/>
          <p:cNvSpPr/>
          <p:nvPr/>
        </p:nvSpPr>
        <p:spPr>
          <a:xfrm>
            <a:off x="5958688" y="1389888"/>
            <a:ext cx="274320" cy="274320"/>
          </a:xfrm>
          <a:prstGeom prst="rect">
            <a:avLst/>
          </a:prstGeom>
          <a:noFill/>
          <a:ln/>
        </p:spPr>
        <p:txBody>
          <a:bodyPr wrap="square" rtlCol="0" anchor="ctr"/>
          <a:lstStyle/>
          <a:p>
            <a:pPr algn="ctr" indent="0" marL="0">
              <a:buNone/>
            </a:pPr>
            <a:r>
              <a:rPr lang="en-US" sz="1400" b="1" dirty="0">
                <a:solidFill>
                  <a:srgbClr val="D4A24C"/>
                </a:solidFill>
              </a:rPr>
              <a:t>◆</a:t>
            </a:r>
            <a:endParaRPr lang="en-US" sz="1400" dirty="0"/>
          </a:p>
        </p:txBody>
      </p:sp>
      <p:sp>
        <p:nvSpPr>
          <p:cNvPr id="8" name="Shape 6"/>
          <p:cNvSpPr/>
          <p:nvPr/>
        </p:nvSpPr>
        <p:spPr>
          <a:xfrm>
            <a:off x="548640" y="1828800"/>
            <a:ext cx="3657600" cy="4389120"/>
          </a:xfrm>
          <a:prstGeom prst="rect">
            <a:avLst/>
          </a:prstGeom>
          <a:solidFill>
            <a:srgbClr val="1B3A5C"/>
          </a:solidFill>
          <a:ln w="19050">
            <a:solidFill>
              <a:srgbClr val="D4A24C"/>
            </a:solidFill>
            <a:prstDash val="solid"/>
          </a:ln>
        </p:spPr>
      </p:sp>
      <p:sp>
        <p:nvSpPr>
          <p:cNvPr id="9" name="Shape 7"/>
          <p:cNvSpPr/>
          <p:nvPr/>
        </p:nvSpPr>
        <p:spPr>
          <a:xfrm>
            <a:off x="548640" y="1828800"/>
            <a:ext cx="3657600" cy="640080"/>
          </a:xfrm>
          <a:prstGeom prst="rect">
            <a:avLst/>
          </a:prstGeom>
          <a:solidFill>
            <a:srgbClr val="B8860B"/>
          </a:solidFill>
          <a:ln w="12700">
            <a:solidFill>
              <a:srgbClr val="B8860B"/>
            </a:solidFill>
            <a:prstDash val="solid"/>
          </a:ln>
        </p:spPr>
      </p:sp>
      <p:sp>
        <p:nvSpPr>
          <p:cNvPr id="10" name="Text 8"/>
          <p:cNvSpPr/>
          <p:nvPr/>
        </p:nvSpPr>
        <p:spPr>
          <a:xfrm>
            <a:off x="640080" y="1874520"/>
            <a:ext cx="3474720" cy="274320"/>
          </a:xfrm>
          <a:prstGeom prst="rect">
            <a:avLst/>
          </a:prstGeom>
          <a:noFill/>
          <a:ln/>
        </p:spPr>
        <p:txBody>
          <a:bodyPr wrap="square" rtlCol="0" anchor="ctr"/>
          <a:lstStyle/>
          <a:p>
            <a:pPr algn="ctr" indent="0" marL="0">
              <a:buNone/>
            </a:pPr>
            <a:r>
              <a:rPr lang="en-US" sz="1100" b="1" spc="600" kern="0" dirty="0">
                <a:solidFill>
                  <a:srgbClr val="FDF8EC"/>
                </a:solidFill>
              </a:rPr>
              <a:t>SCIENCE &amp; TECHNOLOGY</a:t>
            </a:r>
            <a:endParaRPr lang="en-US" sz="1100" dirty="0"/>
          </a:p>
        </p:txBody>
      </p:sp>
      <p:sp>
        <p:nvSpPr>
          <p:cNvPr id="11" name="Text 9"/>
          <p:cNvSpPr/>
          <p:nvPr/>
        </p:nvSpPr>
        <p:spPr>
          <a:xfrm>
            <a:off x="640080" y="2148840"/>
            <a:ext cx="3474720" cy="320040"/>
          </a:xfrm>
          <a:prstGeom prst="rect">
            <a:avLst/>
          </a:prstGeom>
          <a:noFill/>
          <a:ln/>
        </p:spPr>
        <p:txBody>
          <a:bodyPr wrap="square" rtlCol="0" anchor="ctr"/>
          <a:lstStyle/>
          <a:p>
            <a:pPr algn="ctr" indent="0" marL="0">
              <a:buNone/>
            </a:pPr>
            <a:r>
              <a:rPr lang="en-US" sz="1600" b="1" dirty="0">
                <a:solidFill>
                  <a:srgbClr val="F5E6C8"/>
                </a:solidFill>
                <a:latin typeface="Microsoft YaHei" pitchFamily="34" charset="0"/>
                <a:ea typeface="Microsoft YaHei" pitchFamily="34" charset="-122"/>
                <a:cs typeface="Microsoft YaHei" pitchFamily="34" charset="-120"/>
              </a:rPr>
              <a:t>科学与技术</a:t>
            </a:r>
            <a:endParaRPr lang="en-US" sz="1600" dirty="0"/>
          </a:p>
        </p:txBody>
      </p:sp>
      <p:sp>
        <p:nvSpPr>
          <p:cNvPr id="12" name="Text 10"/>
          <p:cNvSpPr/>
          <p:nvPr/>
        </p:nvSpPr>
        <p:spPr>
          <a:xfrm>
            <a:off x="685800" y="2697480"/>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13" name="Text 11"/>
          <p:cNvSpPr/>
          <p:nvPr/>
        </p:nvSpPr>
        <p:spPr>
          <a:xfrm>
            <a:off x="1005840" y="2697480"/>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Quarrying, surveying, construction</a:t>
            </a:r>
            <a:endParaRPr lang="en-US" sz="1150" dirty="0"/>
          </a:p>
        </p:txBody>
      </p:sp>
      <p:sp>
        <p:nvSpPr>
          <p:cNvPr id="14" name="Text 12"/>
          <p:cNvSpPr/>
          <p:nvPr/>
        </p:nvSpPr>
        <p:spPr>
          <a:xfrm>
            <a:off x="685800" y="3355848"/>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15" name="Text 13"/>
          <p:cNvSpPr/>
          <p:nvPr/>
        </p:nvSpPr>
        <p:spPr>
          <a:xfrm>
            <a:off x="1005840" y="3355848"/>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Mathematical system &amp; geometry</a:t>
            </a:r>
            <a:endParaRPr lang="en-US" sz="1150" dirty="0"/>
          </a:p>
        </p:txBody>
      </p:sp>
      <p:sp>
        <p:nvSpPr>
          <p:cNvPr id="16" name="Text 14"/>
          <p:cNvSpPr/>
          <p:nvPr/>
        </p:nvSpPr>
        <p:spPr>
          <a:xfrm>
            <a:off x="685800" y="4014216"/>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17" name="Text 15"/>
          <p:cNvSpPr/>
          <p:nvPr/>
        </p:nvSpPr>
        <p:spPr>
          <a:xfrm>
            <a:off x="1005840" y="4014216"/>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Effective medicine &amp; surgery</a:t>
            </a:r>
            <a:endParaRPr lang="en-US" sz="1150" dirty="0"/>
          </a:p>
        </p:txBody>
      </p:sp>
      <p:sp>
        <p:nvSpPr>
          <p:cNvPr id="18" name="Text 16"/>
          <p:cNvSpPr/>
          <p:nvPr/>
        </p:nvSpPr>
        <p:spPr>
          <a:xfrm>
            <a:off x="685800" y="4672584"/>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19" name="Text 17"/>
          <p:cNvSpPr/>
          <p:nvPr/>
        </p:nvSpPr>
        <p:spPr>
          <a:xfrm>
            <a:off x="1005840" y="4672584"/>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First known planked boats</a:t>
            </a:r>
            <a:endParaRPr lang="en-US" sz="1150" dirty="0"/>
          </a:p>
        </p:txBody>
      </p:sp>
      <p:sp>
        <p:nvSpPr>
          <p:cNvPr id="20" name="Text 18"/>
          <p:cNvSpPr/>
          <p:nvPr/>
        </p:nvSpPr>
        <p:spPr>
          <a:xfrm>
            <a:off x="685800" y="5330952"/>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21" name="Text 19"/>
          <p:cNvSpPr/>
          <p:nvPr/>
        </p:nvSpPr>
        <p:spPr>
          <a:xfrm>
            <a:off x="1005840" y="5330952"/>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Faience and glass technology</a:t>
            </a:r>
            <a:endParaRPr lang="en-US" sz="1150" dirty="0"/>
          </a:p>
        </p:txBody>
      </p:sp>
      <p:sp>
        <p:nvSpPr>
          <p:cNvPr id="22" name="Shape 20"/>
          <p:cNvSpPr/>
          <p:nvPr/>
        </p:nvSpPr>
        <p:spPr>
          <a:xfrm>
            <a:off x="4434840" y="1828800"/>
            <a:ext cx="3657600" cy="4389120"/>
          </a:xfrm>
          <a:prstGeom prst="rect">
            <a:avLst/>
          </a:prstGeom>
          <a:solidFill>
            <a:srgbClr val="1B3A5C"/>
          </a:solidFill>
          <a:ln w="19050">
            <a:solidFill>
              <a:srgbClr val="D4A24C"/>
            </a:solidFill>
            <a:prstDash val="solid"/>
          </a:ln>
        </p:spPr>
      </p:sp>
      <p:sp>
        <p:nvSpPr>
          <p:cNvPr id="23" name="Shape 21"/>
          <p:cNvSpPr/>
          <p:nvPr/>
        </p:nvSpPr>
        <p:spPr>
          <a:xfrm>
            <a:off x="4434840" y="1828800"/>
            <a:ext cx="3657600" cy="640080"/>
          </a:xfrm>
          <a:prstGeom prst="rect">
            <a:avLst/>
          </a:prstGeom>
          <a:solidFill>
            <a:srgbClr val="B8860B"/>
          </a:solidFill>
          <a:ln w="12700">
            <a:solidFill>
              <a:srgbClr val="B8860B"/>
            </a:solidFill>
            <a:prstDash val="solid"/>
          </a:ln>
        </p:spPr>
      </p:sp>
      <p:sp>
        <p:nvSpPr>
          <p:cNvPr id="24" name="Text 22"/>
          <p:cNvSpPr/>
          <p:nvPr/>
        </p:nvSpPr>
        <p:spPr>
          <a:xfrm>
            <a:off x="4526280" y="1874520"/>
            <a:ext cx="3474720" cy="274320"/>
          </a:xfrm>
          <a:prstGeom prst="rect">
            <a:avLst/>
          </a:prstGeom>
          <a:noFill/>
          <a:ln/>
        </p:spPr>
        <p:txBody>
          <a:bodyPr wrap="square" rtlCol="0" anchor="ctr"/>
          <a:lstStyle/>
          <a:p>
            <a:pPr algn="ctr" indent="0" marL="0">
              <a:buNone/>
            </a:pPr>
            <a:r>
              <a:rPr lang="en-US" sz="1100" b="1" spc="600" kern="0" dirty="0">
                <a:solidFill>
                  <a:srgbClr val="FDF8EC"/>
                </a:solidFill>
              </a:rPr>
              <a:t>CULTURE &amp; WRITING</a:t>
            </a:r>
            <a:endParaRPr lang="en-US" sz="1100" dirty="0"/>
          </a:p>
        </p:txBody>
      </p:sp>
      <p:sp>
        <p:nvSpPr>
          <p:cNvPr id="25" name="Text 23"/>
          <p:cNvSpPr/>
          <p:nvPr/>
        </p:nvSpPr>
        <p:spPr>
          <a:xfrm>
            <a:off x="4526280" y="2148840"/>
            <a:ext cx="3474720" cy="320040"/>
          </a:xfrm>
          <a:prstGeom prst="rect">
            <a:avLst/>
          </a:prstGeom>
          <a:noFill/>
          <a:ln/>
        </p:spPr>
        <p:txBody>
          <a:bodyPr wrap="square" rtlCol="0" anchor="ctr"/>
          <a:lstStyle/>
          <a:p>
            <a:pPr algn="ctr" indent="0" marL="0">
              <a:buNone/>
            </a:pPr>
            <a:r>
              <a:rPr lang="en-US" sz="1600" b="1" dirty="0">
                <a:solidFill>
                  <a:srgbClr val="F5E6C8"/>
                </a:solidFill>
                <a:latin typeface="Microsoft YaHei" pitchFamily="34" charset="0"/>
                <a:ea typeface="Microsoft YaHei" pitchFamily="34" charset="-122"/>
                <a:cs typeface="Microsoft YaHei" pitchFamily="34" charset="-120"/>
              </a:rPr>
              <a:t>文化与文字</a:t>
            </a:r>
            <a:endParaRPr lang="en-US" sz="1600" dirty="0"/>
          </a:p>
        </p:txBody>
      </p:sp>
      <p:sp>
        <p:nvSpPr>
          <p:cNvPr id="26" name="Text 24"/>
          <p:cNvSpPr/>
          <p:nvPr/>
        </p:nvSpPr>
        <p:spPr>
          <a:xfrm>
            <a:off x="4572000" y="2697480"/>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27" name="Text 25"/>
          <p:cNvSpPr/>
          <p:nvPr/>
        </p:nvSpPr>
        <p:spPr>
          <a:xfrm>
            <a:off x="4892040" y="2697480"/>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Earliest peace treaty with Hittites</a:t>
            </a:r>
            <a:endParaRPr lang="en-US" sz="1150" dirty="0"/>
          </a:p>
        </p:txBody>
      </p:sp>
      <p:sp>
        <p:nvSpPr>
          <p:cNvPr id="28" name="Text 26"/>
          <p:cNvSpPr/>
          <p:nvPr/>
        </p:nvSpPr>
        <p:spPr>
          <a:xfrm>
            <a:off x="4572000" y="3355848"/>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29" name="Text 27"/>
          <p:cNvSpPr/>
          <p:nvPr/>
        </p:nvSpPr>
        <p:spPr>
          <a:xfrm>
            <a:off x="4892040" y="3355848"/>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Rich literary tradition</a:t>
            </a:r>
            <a:endParaRPr lang="en-US" sz="1150" dirty="0"/>
          </a:p>
        </p:txBody>
      </p:sp>
      <p:sp>
        <p:nvSpPr>
          <p:cNvPr id="30" name="Text 28"/>
          <p:cNvSpPr/>
          <p:nvPr/>
        </p:nvSpPr>
        <p:spPr>
          <a:xfrm>
            <a:off x="4572000" y="4014216"/>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31" name="Text 29"/>
          <p:cNvSpPr/>
          <p:nvPr/>
        </p:nvSpPr>
        <p:spPr>
          <a:xfrm>
            <a:off x="4892040" y="4014216"/>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Hieroglyphic writing system</a:t>
            </a:r>
            <a:endParaRPr lang="en-US" sz="1150" dirty="0"/>
          </a:p>
        </p:txBody>
      </p:sp>
      <p:sp>
        <p:nvSpPr>
          <p:cNvPr id="32" name="Text 30"/>
          <p:cNvSpPr/>
          <p:nvPr/>
        </p:nvSpPr>
        <p:spPr>
          <a:xfrm>
            <a:off x="4572000" y="4672584"/>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33" name="Text 31"/>
          <p:cNvSpPr/>
          <p:nvPr/>
        </p:nvSpPr>
        <p:spPr>
          <a:xfrm>
            <a:off x="4892040" y="4672584"/>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Calendar of 365 days</a:t>
            </a:r>
            <a:endParaRPr lang="en-US" sz="1150" dirty="0"/>
          </a:p>
        </p:txBody>
      </p:sp>
      <p:sp>
        <p:nvSpPr>
          <p:cNvPr id="34" name="Text 32"/>
          <p:cNvSpPr/>
          <p:nvPr/>
        </p:nvSpPr>
        <p:spPr>
          <a:xfrm>
            <a:off x="4572000" y="5330952"/>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35" name="Text 33"/>
          <p:cNvSpPr/>
          <p:nvPr/>
        </p:nvSpPr>
        <p:spPr>
          <a:xfrm>
            <a:off x="4892040" y="5330952"/>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Monumental art &amp; architecture</a:t>
            </a:r>
            <a:endParaRPr lang="en-US" sz="1150" dirty="0"/>
          </a:p>
        </p:txBody>
      </p:sp>
      <p:sp>
        <p:nvSpPr>
          <p:cNvPr id="36" name="Shape 34"/>
          <p:cNvSpPr/>
          <p:nvPr/>
        </p:nvSpPr>
        <p:spPr>
          <a:xfrm>
            <a:off x="8321040" y="1828800"/>
            <a:ext cx="3657600" cy="4389120"/>
          </a:xfrm>
          <a:prstGeom prst="rect">
            <a:avLst/>
          </a:prstGeom>
          <a:solidFill>
            <a:srgbClr val="1B3A5C"/>
          </a:solidFill>
          <a:ln w="19050">
            <a:solidFill>
              <a:srgbClr val="D4A24C"/>
            </a:solidFill>
            <a:prstDash val="solid"/>
          </a:ln>
        </p:spPr>
      </p:sp>
      <p:sp>
        <p:nvSpPr>
          <p:cNvPr id="37" name="Shape 35"/>
          <p:cNvSpPr/>
          <p:nvPr/>
        </p:nvSpPr>
        <p:spPr>
          <a:xfrm>
            <a:off x="8321040" y="1828800"/>
            <a:ext cx="3657600" cy="640080"/>
          </a:xfrm>
          <a:prstGeom prst="rect">
            <a:avLst/>
          </a:prstGeom>
          <a:solidFill>
            <a:srgbClr val="B8860B"/>
          </a:solidFill>
          <a:ln w="12700">
            <a:solidFill>
              <a:srgbClr val="B8860B"/>
            </a:solidFill>
            <a:prstDash val="solid"/>
          </a:ln>
        </p:spPr>
      </p:sp>
      <p:sp>
        <p:nvSpPr>
          <p:cNvPr id="38" name="Text 36"/>
          <p:cNvSpPr/>
          <p:nvPr/>
        </p:nvSpPr>
        <p:spPr>
          <a:xfrm>
            <a:off x="8412480" y="1874520"/>
            <a:ext cx="3474720" cy="274320"/>
          </a:xfrm>
          <a:prstGeom prst="rect">
            <a:avLst/>
          </a:prstGeom>
          <a:noFill/>
          <a:ln/>
        </p:spPr>
        <p:txBody>
          <a:bodyPr wrap="square" rtlCol="0" anchor="ctr"/>
          <a:lstStyle/>
          <a:p>
            <a:pPr algn="ctr" indent="0" marL="0">
              <a:buNone/>
            </a:pPr>
            <a:r>
              <a:rPr lang="en-US" sz="1100" b="1" spc="600" kern="0" dirty="0">
                <a:solidFill>
                  <a:srgbClr val="FDF8EC"/>
                </a:solidFill>
              </a:rPr>
              <a:t>LEGACY · 千载影响</a:t>
            </a:r>
            <a:endParaRPr lang="en-US" sz="1100" dirty="0"/>
          </a:p>
        </p:txBody>
      </p:sp>
      <p:sp>
        <p:nvSpPr>
          <p:cNvPr id="39" name="Text 37"/>
          <p:cNvSpPr/>
          <p:nvPr/>
        </p:nvSpPr>
        <p:spPr>
          <a:xfrm>
            <a:off x="8412480" y="2148840"/>
            <a:ext cx="3474720" cy="320040"/>
          </a:xfrm>
          <a:prstGeom prst="rect">
            <a:avLst/>
          </a:prstGeom>
          <a:noFill/>
          <a:ln/>
        </p:spPr>
        <p:txBody>
          <a:bodyPr wrap="square" rtlCol="0" anchor="ctr"/>
          <a:lstStyle/>
          <a:p>
            <a:pPr algn="ctr" indent="0" marL="0">
              <a:buNone/>
            </a:pPr>
            <a:r>
              <a:rPr lang="en-US" sz="1600" b="1" dirty="0">
                <a:solidFill>
                  <a:srgbClr val="F5E6C8"/>
                </a:solidFill>
                <a:latin typeface="Microsoft YaHei" pitchFamily="34" charset="0"/>
                <a:ea typeface="Microsoft YaHei" pitchFamily="34" charset="-122"/>
                <a:cs typeface="Microsoft YaHei" pitchFamily="34" charset="-120"/>
              </a:rPr>
              <a:t>跨时代影响</a:t>
            </a:r>
            <a:endParaRPr lang="en-US" sz="1600" dirty="0"/>
          </a:p>
        </p:txBody>
      </p:sp>
      <p:sp>
        <p:nvSpPr>
          <p:cNvPr id="40" name="Text 38"/>
          <p:cNvSpPr/>
          <p:nvPr/>
        </p:nvSpPr>
        <p:spPr>
          <a:xfrm>
            <a:off x="8458200" y="2697480"/>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41" name="Text 39"/>
          <p:cNvSpPr/>
          <p:nvPr/>
        </p:nvSpPr>
        <p:spPr>
          <a:xfrm>
            <a:off x="8778240" y="2697480"/>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Inspired Greek &amp; Roman art</a:t>
            </a:r>
            <a:endParaRPr lang="en-US" sz="1150" dirty="0"/>
          </a:p>
        </p:txBody>
      </p:sp>
      <p:sp>
        <p:nvSpPr>
          <p:cNvPr id="42" name="Text 40"/>
          <p:cNvSpPr/>
          <p:nvPr/>
        </p:nvSpPr>
        <p:spPr>
          <a:xfrm>
            <a:off x="8458200" y="3355848"/>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43" name="Text 41"/>
          <p:cNvSpPr/>
          <p:nvPr/>
        </p:nvSpPr>
        <p:spPr>
          <a:xfrm>
            <a:off x="8778240" y="3355848"/>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Influence on Coptic Christianity</a:t>
            </a:r>
            <a:endParaRPr lang="en-US" sz="1150" dirty="0"/>
          </a:p>
        </p:txBody>
      </p:sp>
      <p:sp>
        <p:nvSpPr>
          <p:cNvPr id="44" name="Text 42"/>
          <p:cNvSpPr/>
          <p:nvPr/>
        </p:nvSpPr>
        <p:spPr>
          <a:xfrm>
            <a:off x="8458200" y="4014216"/>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45" name="Text 43"/>
          <p:cNvSpPr/>
          <p:nvPr/>
        </p:nvSpPr>
        <p:spPr>
          <a:xfrm>
            <a:off x="8778240" y="4014216"/>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Modern Egyptology (since 1822)</a:t>
            </a:r>
            <a:endParaRPr lang="en-US" sz="1150" dirty="0"/>
          </a:p>
        </p:txBody>
      </p:sp>
      <p:sp>
        <p:nvSpPr>
          <p:cNvPr id="46" name="Text 44"/>
          <p:cNvSpPr/>
          <p:nvPr/>
        </p:nvSpPr>
        <p:spPr>
          <a:xfrm>
            <a:off x="8458200" y="4672584"/>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47" name="Text 45"/>
          <p:cNvSpPr/>
          <p:nvPr/>
        </p:nvSpPr>
        <p:spPr>
          <a:xfrm>
            <a:off x="8778240" y="4672584"/>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Universal symbol of antiquity</a:t>
            </a:r>
            <a:endParaRPr lang="en-US" sz="1150" dirty="0"/>
          </a:p>
        </p:txBody>
      </p:sp>
      <p:sp>
        <p:nvSpPr>
          <p:cNvPr id="48" name="Text 46"/>
          <p:cNvSpPr/>
          <p:nvPr/>
        </p:nvSpPr>
        <p:spPr>
          <a:xfrm>
            <a:off x="8458200" y="5330952"/>
            <a:ext cx="274320" cy="274320"/>
          </a:xfrm>
          <a:prstGeom prst="rect">
            <a:avLst/>
          </a:prstGeom>
          <a:noFill/>
          <a:ln/>
        </p:spPr>
        <p:txBody>
          <a:bodyPr wrap="square" rtlCol="0" anchor="ctr"/>
          <a:lstStyle/>
          <a:p>
            <a:pPr indent="0" marL="0">
              <a:buNone/>
            </a:pPr>
            <a:r>
              <a:rPr lang="en-US" sz="1400" b="1" dirty="0">
                <a:solidFill>
                  <a:srgbClr val="D4A24C"/>
                </a:solidFill>
              </a:rPr>
              <a:t>✦</a:t>
            </a:r>
            <a:endParaRPr lang="en-US" sz="1400" dirty="0"/>
          </a:p>
        </p:txBody>
      </p:sp>
      <p:sp>
        <p:nvSpPr>
          <p:cNvPr id="49" name="Text 47"/>
          <p:cNvSpPr/>
          <p:nvPr/>
        </p:nvSpPr>
        <p:spPr>
          <a:xfrm>
            <a:off x="8778240" y="5330952"/>
            <a:ext cx="3108960" cy="594360"/>
          </a:xfrm>
          <a:prstGeom prst="rect">
            <a:avLst/>
          </a:prstGeom>
          <a:noFill/>
          <a:ln/>
        </p:spPr>
        <p:txBody>
          <a:bodyPr wrap="square" rtlCol="0" anchor="t"/>
          <a:lstStyle/>
          <a:p>
            <a:pPr indent="0" marL="0">
              <a:lnSpc>
                <a:spcPct val="120000"/>
              </a:lnSpc>
              <a:buNone/>
            </a:pPr>
            <a:r>
              <a:rPr lang="en-US" sz="1150" dirty="0">
                <a:solidFill>
                  <a:srgbClr val="FDF8EC"/>
                </a:solidFill>
              </a:rPr>
              <a:t>UNESCO world heritage sites</a:t>
            </a:r>
            <a:endParaRPr lang="en-US" sz="1150" dirty="0"/>
          </a:p>
        </p:txBody>
      </p:sp>
      <p:sp>
        <p:nvSpPr>
          <p:cNvPr id="50" name="Text 48"/>
          <p:cNvSpPr/>
          <p:nvPr/>
        </p:nvSpPr>
        <p:spPr>
          <a:xfrm>
            <a:off x="457200" y="5989320"/>
            <a:ext cx="11277295" cy="320040"/>
          </a:xfrm>
          <a:prstGeom prst="rect">
            <a:avLst/>
          </a:prstGeom>
          <a:noFill/>
          <a:ln/>
        </p:spPr>
        <p:txBody>
          <a:bodyPr wrap="square" rtlCol="0" anchor="ctr"/>
          <a:lstStyle/>
          <a:p>
            <a:pPr algn="ctr" indent="0" marL="0">
              <a:buNone/>
            </a:pPr>
            <a:r>
              <a:rPr lang="en-US" sz="1050" i="1" dirty="0">
                <a:solidFill>
                  <a:srgbClr val="E8C77A"/>
                </a:solidFill>
                <a:latin typeface="Georgia" pitchFamily="34" charset="0"/>
                <a:ea typeface="Georgia" pitchFamily="34" charset="-122"/>
                <a:cs typeface="Georgia" pitchFamily="34" charset="-120"/>
              </a:rPr>
              <a:t>"Its art and architecture were widely copied and its antiquities carried off to be studied, admired, or coveted in the far corners of the world."</a:t>
            </a:r>
            <a:endParaRPr lang="en-US" sz="1050" dirty="0"/>
          </a:p>
        </p:txBody>
      </p:sp>
      <p:sp>
        <p:nvSpPr>
          <p:cNvPr id="51" name="Shape 49"/>
          <p:cNvSpPr/>
          <p:nvPr/>
        </p:nvSpPr>
        <p:spPr>
          <a:xfrm>
            <a:off x="0" y="6446520"/>
            <a:ext cx="12191695" cy="228600"/>
          </a:xfrm>
          <a:prstGeom prst="rect">
            <a:avLst/>
          </a:prstGeom>
          <a:solidFill>
            <a:srgbClr val="D4A24C"/>
          </a:solidFill>
          <a:ln w="12700">
            <a:solidFill>
              <a:srgbClr val="D4A24C"/>
            </a:solidFill>
            <a:prstDash val="solid"/>
          </a:ln>
        </p:spPr>
      </p:sp>
      <p:sp>
        <p:nvSpPr>
          <p:cNvPr id="52" name="Text 50"/>
          <p:cNvSpPr/>
          <p:nvPr/>
        </p:nvSpPr>
        <p:spPr>
          <a:xfrm>
            <a:off x="457200" y="6446520"/>
            <a:ext cx="11277295" cy="228600"/>
          </a:xfrm>
          <a:prstGeom prst="rect">
            <a:avLst/>
          </a:prstGeom>
          <a:noFill/>
          <a:ln/>
        </p:spPr>
        <p:txBody>
          <a:bodyPr wrap="square" rtlCol="0" anchor="ctr"/>
          <a:lstStyle/>
          <a:p>
            <a:pPr algn="ctr" indent="0" marL="0">
              <a:buNone/>
            </a:pPr>
            <a:r>
              <a:rPr lang="en-US" sz="1300" b="1" spc="400" kern="0" dirty="0">
                <a:solidFill>
                  <a:srgbClr val="0F2A4A"/>
                </a:solidFill>
                <a:latin typeface="Georgia" pitchFamily="34" charset="0"/>
                <a:ea typeface="Georgia" pitchFamily="34" charset="-122"/>
                <a:cs typeface="Georgia"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Wiki Heritage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Ancient Egypt - A Civilization of the Nile</dc:title>
  <dc:subject>Ancient Egypt civilization overview</dc:subject>
  <dc:creator>WebPilot</dc:creator>
  <cp:lastModifiedBy>WebPilot</cp:lastModifiedBy>
  <cp:revision>1</cp:revision>
  <dcterms:created xsi:type="dcterms:W3CDTF">2026-08-23T13:51:44Z</dcterms:created>
  <dcterms:modified xsi:type="dcterms:W3CDTF">2026-08-23T13:51:44Z</dcterms:modified>
</cp:coreProperties>
</file>