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6F9C86-A6CE-41A7-8E0A-C1D2D39437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337E40-6DEA-4319-98E5-064A952C40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3D62E6-3810-4CD4-9E28-37814CD230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p_slide_0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81A2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wp_slide_01_hero"/>
          <p:cNvPicPr/>
          <p:nvPr/>
        </p:nvPicPr>
        <p:blipFill>
          <a:blip r:embed="rId1"/>
          <a:stretch/>
        </p:blipFill>
        <p:spPr>
          <a:xfrm>
            <a:off x="2124000" y="0"/>
            <a:ext cx="7956000" cy="52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wp_slide_01_veil"/>
          <p:cNvSpPr/>
          <p:nvPr/>
        </p:nvSpPr>
        <p:spPr>
          <a:xfrm>
            <a:off x="0" y="0"/>
            <a:ext cx="5760000" cy="5670000"/>
          </a:xfrm>
          <a:prstGeom prst="rect">
            <a:avLst/>
          </a:prstGeom>
          <a:solidFill>
            <a:srgbClr val="081A2A">
              <a:alpha val="92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wp_slide_01_accent"/>
          <p:cNvSpPr/>
          <p:nvPr/>
        </p:nvSpPr>
        <p:spPr>
          <a:xfrm>
            <a:off x="522000" y="1116000"/>
            <a:ext cx="64800" cy="25200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wp_slide_01_eyebrow"/>
          <p:cNvSpPr txBox="1"/>
          <p:nvPr/>
        </p:nvSpPr>
        <p:spPr>
          <a:xfrm>
            <a:off x="738000" y="1080000"/>
            <a:ext cx="331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UNO FEATURE SHOWCASE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wp_slide_01_title"/>
          <p:cNvSpPr txBox="1"/>
          <p:nvPr/>
        </p:nvSpPr>
        <p:spPr>
          <a:xfrm>
            <a:off x="738000" y="1440000"/>
            <a:ext cx="4608000" cy="12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6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古埃及文明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36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一条河流塑造的世界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wp_slide_01_subtitle"/>
          <p:cNvSpPr txBox="1"/>
          <p:nvPr/>
        </p:nvSpPr>
        <p:spPr>
          <a:xfrm>
            <a:off x="738000" y="2844000"/>
            <a:ext cx="486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900" b="0" u="none" strike="noStrike">
                <a:solidFill>
                  <a:srgbClr val="DDE7EE"/>
                </a:solidFill>
                <a:effectLst/>
                <a:uFillTx/>
                <a:latin typeface="Microsoft YaHei"/>
              </a:rPr>
              <a:t>从王朝时间线、社会结构到工程与知识体系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wp_slide_01_meta"/>
          <p:cNvSpPr txBox="1"/>
          <p:nvPr/>
        </p:nvSpPr>
        <p:spPr>
          <a:xfrm>
            <a:off x="738000" y="3492000"/>
            <a:ext cx="486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12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页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·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原生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UNO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文本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图片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表格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图表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图形 </a:t>
            </a:r>
            <a:r>
              <a:rPr lang="en-US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7C4CE"/>
                </a:solidFill>
                <a:effectLst/>
                <a:uFillTx/>
                <a:latin typeface="Microsoft YaHei"/>
              </a:rPr>
              <a:t>连接线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wp_slide_01_source"/>
          <p:cNvSpPr txBox="1"/>
          <p:nvPr/>
        </p:nvSpPr>
        <p:spPr>
          <a:xfrm>
            <a:off x="738000" y="4842000"/>
            <a:ext cx="331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900" b="0" u="none" strike="noStrike">
                <a:solidFill>
                  <a:srgbClr val="AAB8C3"/>
                </a:solidFill>
                <a:effectLst/>
                <a:uFillTx/>
                <a:latin typeface="Microsoft YaHei"/>
              </a:rPr>
              <a:t>视觉素材：用户提供文件中的嵌入媒体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p_slide_02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wp_slide_02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EXECUTIVE 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2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文明的三个支点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wp_slide_02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wp_slide_02_card_1"/>
          <p:cNvSpPr/>
          <p:nvPr/>
        </p:nvSpPr>
        <p:spPr>
          <a:xfrm>
            <a:off x="540000" y="1260000"/>
            <a:ext cx="2844000" cy="3096000"/>
          </a:xfrm>
          <a:prstGeom prst="rect">
            <a:avLst/>
          </a:prstGeom>
          <a:solidFill>
            <a:srgbClr val="F3EEE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2_card_1_accent"/>
          <p:cNvSpPr/>
          <p:nvPr/>
        </p:nvSpPr>
        <p:spPr>
          <a:xfrm>
            <a:off x="540000" y="1260000"/>
            <a:ext cx="2844000" cy="64800"/>
          </a:xfrm>
          <a:prstGeom prst="rect">
            <a:avLst/>
          </a:prstGeom>
          <a:solidFill>
            <a:srgbClr val="1F6F78"/>
          </a:solidFill>
          <a:ln w="0">
            <a:noFill/>
          </a:ln>
        </p:spPr>
        <p:txBody>
          <a:bodyPr lIns="90000" tIns="19800" rIns="90000" bIns="198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wp_slide_02_card_1_number"/>
          <p:cNvSpPr txBox="1"/>
          <p:nvPr/>
        </p:nvSpPr>
        <p:spPr>
          <a:xfrm>
            <a:off x="738000" y="1512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2_card_1_title"/>
          <p:cNvSpPr txBox="1"/>
          <p:nvPr/>
        </p:nvSpPr>
        <p:spPr>
          <a:xfrm>
            <a:off x="738000" y="2223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5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尼罗河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2_card_1_body"/>
          <p:cNvSpPr txBox="1"/>
          <p:nvPr/>
        </p:nvSpPr>
        <p:spPr>
          <a:xfrm>
            <a:off x="738000" y="2934000"/>
            <a:ext cx="2448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稳定的洪泛节律连接农业、交通与国家财政。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2_card_2"/>
          <p:cNvSpPr/>
          <p:nvPr/>
        </p:nvSpPr>
        <p:spPr>
          <a:xfrm>
            <a:off x="3618000" y="1260000"/>
            <a:ext cx="2844000" cy="3096000"/>
          </a:xfrm>
          <a:prstGeom prst="rect">
            <a:avLst/>
          </a:prstGeom>
          <a:solidFill>
            <a:srgbClr val="F3EEE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wp_slide_02_card_2_accent"/>
          <p:cNvSpPr/>
          <p:nvPr/>
        </p:nvSpPr>
        <p:spPr>
          <a:xfrm>
            <a:off x="3618000" y="1260000"/>
            <a:ext cx="2844000" cy="648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19800" rIns="90000" bIns="19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wp_slide_02_card_2_number"/>
          <p:cNvSpPr txBox="1"/>
          <p:nvPr/>
        </p:nvSpPr>
        <p:spPr>
          <a:xfrm>
            <a:off x="3816000" y="1512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wp_slide_02_card_2_title"/>
          <p:cNvSpPr txBox="1"/>
          <p:nvPr/>
        </p:nvSpPr>
        <p:spPr>
          <a:xfrm>
            <a:off x="3816000" y="2223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5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王权与书写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wp_slide_02_card_2_body"/>
          <p:cNvSpPr txBox="1"/>
          <p:nvPr/>
        </p:nvSpPr>
        <p:spPr>
          <a:xfrm>
            <a:off x="3816000" y="2934000"/>
            <a:ext cx="2448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中央权力借助书记、税收与宗教仪式形成长期治理。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wp_slide_02_card_3"/>
          <p:cNvSpPr/>
          <p:nvPr/>
        </p:nvSpPr>
        <p:spPr>
          <a:xfrm>
            <a:off x="6696000" y="1260000"/>
            <a:ext cx="2844000" cy="3096000"/>
          </a:xfrm>
          <a:prstGeom prst="rect">
            <a:avLst/>
          </a:prstGeom>
          <a:solidFill>
            <a:srgbClr val="F3EEE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wp_slide_02_card_3_accent"/>
          <p:cNvSpPr/>
          <p:nvPr/>
        </p:nvSpPr>
        <p:spPr>
          <a:xfrm>
            <a:off x="6696000" y="1260000"/>
            <a:ext cx="2844000" cy="64800"/>
          </a:xfrm>
          <a:prstGeom prst="rect">
            <a:avLst/>
          </a:prstGeom>
          <a:solidFill>
            <a:srgbClr val="D96C4A"/>
          </a:solidFill>
          <a:ln w="0">
            <a:noFill/>
          </a:ln>
        </p:spPr>
        <p:txBody>
          <a:bodyPr lIns="90000" tIns="19800" rIns="90000" bIns="198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wp_slide_02_card_3_number"/>
          <p:cNvSpPr txBox="1"/>
          <p:nvPr/>
        </p:nvSpPr>
        <p:spPr>
          <a:xfrm>
            <a:off x="6894000" y="1512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wp_slide_02_card_3_title"/>
          <p:cNvSpPr txBox="1"/>
          <p:nvPr/>
        </p:nvSpPr>
        <p:spPr>
          <a:xfrm>
            <a:off x="6894000" y="2223000"/>
            <a:ext cx="2448000" cy="5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5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工程与知识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wp_slide_02_card_3_body"/>
          <p:cNvSpPr txBox="1"/>
          <p:nvPr/>
        </p:nvSpPr>
        <p:spPr>
          <a:xfrm>
            <a:off x="6894000" y="2934000"/>
            <a:ext cx="2448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测量、历法、医学和材料技术在大型工程中协同演进。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wp_slide_02_takeaway"/>
          <p:cNvSpPr txBox="1"/>
          <p:nvPr/>
        </p:nvSpPr>
        <p:spPr>
          <a:xfrm>
            <a:off x="792000" y="4626000"/>
            <a:ext cx="8496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关键洞察：环境提供约束，制度组织资源，知识把资源转化为可复制的能力。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wp_slide_02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wp_slide_02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wp_slide_02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2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wp_slide_03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EFF5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wp_slide_03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GEOGRAPHY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wp_slide_03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尼罗河：线性国土与资源走廊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wp_slide_03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wp_slide_03_map"/>
          <p:cNvPicPr/>
          <p:nvPr/>
        </p:nvPicPr>
        <p:blipFill>
          <a:blip r:embed="rId1"/>
          <a:stretch/>
        </p:blipFill>
        <p:spPr>
          <a:xfrm>
            <a:off x="648000" y="1044000"/>
            <a:ext cx="1980000" cy="40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wp_slide_03_region_1"/>
          <p:cNvSpPr/>
          <p:nvPr/>
        </p:nvSpPr>
        <p:spPr>
          <a:xfrm>
            <a:off x="3096000" y="1152000"/>
            <a:ext cx="6264000" cy="1067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wp_slide_03_region_1_accent"/>
          <p:cNvSpPr/>
          <p:nvPr/>
        </p:nvSpPr>
        <p:spPr>
          <a:xfrm>
            <a:off x="3096000" y="1152000"/>
            <a:ext cx="79200" cy="1067760"/>
          </a:xfrm>
          <a:prstGeom prst="rect">
            <a:avLst/>
          </a:prstGeom>
          <a:solidFill>
            <a:srgbClr val="1F6F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wp_slide_03_region_1_title"/>
          <p:cNvSpPr txBox="1"/>
          <p:nvPr/>
        </p:nvSpPr>
        <p:spPr>
          <a:xfrm>
            <a:off x="3330000" y="1303200"/>
            <a:ext cx="126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2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河谷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wp_slide_03_region_1_body"/>
          <p:cNvSpPr txBox="1"/>
          <p:nvPr/>
        </p:nvSpPr>
        <p:spPr>
          <a:xfrm>
            <a:off x="4608000" y="1285200"/>
            <a:ext cx="4554000" cy="80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狭长耕地沿河展开，聚落、港口与农田形成高密度带。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wp_slide_03_region_2"/>
          <p:cNvSpPr/>
          <p:nvPr/>
        </p:nvSpPr>
        <p:spPr>
          <a:xfrm>
            <a:off x="3096000" y="2399760"/>
            <a:ext cx="6264000" cy="1067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wp_slide_03_region_2_accent"/>
          <p:cNvSpPr/>
          <p:nvPr/>
        </p:nvSpPr>
        <p:spPr>
          <a:xfrm>
            <a:off x="3096000" y="2399760"/>
            <a:ext cx="79200" cy="1067760"/>
          </a:xfrm>
          <a:prstGeom prst="rect">
            <a:avLst/>
          </a:prstGeom>
          <a:solidFill>
            <a:srgbClr val="5677A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wp_slide_03_region_2_title"/>
          <p:cNvSpPr txBox="1"/>
          <p:nvPr/>
        </p:nvSpPr>
        <p:spPr>
          <a:xfrm>
            <a:off x="3330000" y="2550960"/>
            <a:ext cx="126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2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三角洲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wp_slide_03_region_2_body"/>
          <p:cNvSpPr txBox="1"/>
          <p:nvPr/>
        </p:nvSpPr>
        <p:spPr>
          <a:xfrm>
            <a:off x="4608000" y="2532960"/>
            <a:ext cx="4554000" cy="80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支流网络连接地中海贸易，粮食与手工业在此汇聚。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wp_slide_03_region_3"/>
          <p:cNvSpPr/>
          <p:nvPr/>
        </p:nvSpPr>
        <p:spPr>
          <a:xfrm>
            <a:off x="3096000" y="3647520"/>
            <a:ext cx="6264000" cy="1068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wp_slide_03_region_3_accent"/>
          <p:cNvSpPr/>
          <p:nvPr/>
        </p:nvSpPr>
        <p:spPr>
          <a:xfrm>
            <a:off x="3096000" y="3647520"/>
            <a:ext cx="79200" cy="10684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wp_slide_03_region_3_title"/>
          <p:cNvSpPr txBox="1"/>
          <p:nvPr/>
        </p:nvSpPr>
        <p:spPr>
          <a:xfrm>
            <a:off x="3330000" y="3798720"/>
            <a:ext cx="126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边疆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wp_slide_03_region_3_body"/>
          <p:cNvSpPr txBox="1"/>
          <p:nvPr/>
        </p:nvSpPr>
        <p:spPr>
          <a:xfrm>
            <a:off x="4608000" y="3780720"/>
            <a:ext cx="4554000" cy="80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6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沙漠、矿区和南方通道共同构成资源与安全缓冲带。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wp_slide_03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wp_slide_03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wp_slide_03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3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wp_slide_04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wp_slide_04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wp_slide_04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五千年的时间轴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wp_slide_04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wp_slide_04_axis"/>
          <p:cNvSpPr/>
          <p:nvPr/>
        </p:nvSpPr>
        <p:spPr>
          <a:xfrm>
            <a:off x="648000" y="2844000"/>
            <a:ext cx="8784000" cy="14400"/>
          </a:xfrm>
          <a:prstGeom prst="rect">
            <a:avLst/>
          </a:prstGeom>
          <a:solidFill>
            <a:srgbClr val="B5C0C9"/>
          </a:solidFill>
          <a:ln w="0">
            <a:noFill/>
          </a:ln>
        </p:spPr>
        <p:txBody>
          <a:bodyPr lIns="90000" tIns="-30600" rIns="90000" bIns="-30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wp_slide_04_node_1"/>
          <p:cNvSpPr/>
          <p:nvPr/>
        </p:nvSpPr>
        <p:spPr>
          <a:xfrm>
            <a:off x="1081800" y="2772000"/>
            <a:ext cx="158400" cy="158400"/>
          </a:xfrm>
          <a:prstGeom prst="ellipse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wp_slide_04_date_1"/>
          <p:cNvSpPr txBox="1"/>
          <p:nvPr/>
        </p:nvSpPr>
        <p:spPr>
          <a:xfrm>
            <a:off x="432000" y="1692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约前</a:t>
            </a:r>
            <a:r>
              <a:rPr lang="en-US" sz="13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3150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wp_slide_04_event_1"/>
          <p:cNvSpPr txBox="1"/>
          <p:nvPr/>
        </p:nvSpPr>
        <p:spPr>
          <a:xfrm>
            <a:off x="432000" y="2016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统一国家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wp_slide_04_period_1"/>
          <p:cNvSpPr txBox="1"/>
          <p:nvPr/>
        </p:nvSpPr>
        <p:spPr>
          <a:xfrm>
            <a:off x="432000" y="234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早王朝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wp_slide_04_node_2"/>
          <p:cNvSpPr/>
          <p:nvPr/>
        </p:nvSpPr>
        <p:spPr>
          <a:xfrm>
            <a:off x="2633400" y="2772000"/>
            <a:ext cx="158400" cy="158400"/>
          </a:xfrm>
          <a:prstGeom prst="ellipse">
            <a:avLst/>
          </a:prstGeom>
          <a:solidFill>
            <a:srgbClr val="1F6F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wp_slide_04_date_2"/>
          <p:cNvSpPr txBox="1"/>
          <p:nvPr/>
        </p:nvSpPr>
        <p:spPr>
          <a:xfrm>
            <a:off x="1983600" y="306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前</a:t>
            </a:r>
            <a:r>
              <a:rPr lang="en-US" sz="13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2686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wp_slide_04_event_2"/>
          <p:cNvSpPr txBox="1"/>
          <p:nvPr/>
        </p:nvSpPr>
        <p:spPr>
          <a:xfrm>
            <a:off x="1983600" y="3384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金字塔时代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wp_slide_04_period_2"/>
          <p:cNvSpPr txBox="1"/>
          <p:nvPr/>
        </p:nvSpPr>
        <p:spPr>
          <a:xfrm>
            <a:off x="1983600" y="3708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古王国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wp_slide_04_node_3"/>
          <p:cNvSpPr/>
          <p:nvPr/>
        </p:nvSpPr>
        <p:spPr>
          <a:xfrm>
            <a:off x="4185000" y="2772000"/>
            <a:ext cx="158400" cy="158400"/>
          </a:xfrm>
          <a:prstGeom prst="ellipse">
            <a:avLst/>
          </a:prstGeom>
          <a:solidFill>
            <a:srgbClr val="5677A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wp_slide_04_date_3"/>
          <p:cNvSpPr txBox="1"/>
          <p:nvPr/>
        </p:nvSpPr>
        <p:spPr>
          <a:xfrm>
            <a:off x="3535200" y="1692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前</a:t>
            </a:r>
            <a:r>
              <a:rPr lang="en-US" sz="13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2055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wp_slide_04_event_3"/>
          <p:cNvSpPr txBox="1"/>
          <p:nvPr/>
        </p:nvSpPr>
        <p:spPr>
          <a:xfrm>
            <a:off x="3535200" y="2016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再度统一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wp_slide_04_period_3"/>
          <p:cNvSpPr txBox="1"/>
          <p:nvPr/>
        </p:nvSpPr>
        <p:spPr>
          <a:xfrm>
            <a:off x="3535200" y="234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中王国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wp_slide_04_node_4"/>
          <p:cNvSpPr/>
          <p:nvPr/>
        </p:nvSpPr>
        <p:spPr>
          <a:xfrm>
            <a:off x="5736600" y="2772000"/>
            <a:ext cx="158400" cy="158400"/>
          </a:xfrm>
          <a:prstGeom prst="ellipse">
            <a:avLst/>
          </a:prstGeom>
          <a:solidFill>
            <a:srgbClr val="D96C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wp_slide_04_date_4"/>
          <p:cNvSpPr txBox="1"/>
          <p:nvPr/>
        </p:nvSpPr>
        <p:spPr>
          <a:xfrm>
            <a:off x="5086800" y="306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前</a:t>
            </a:r>
            <a:r>
              <a:rPr lang="en-US" sz="13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1550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wp_slide_04_event_4"/>
          <p:cNvSpPr txBox="1"/>
          <p:nvPr/>
        </p:nvSpPr>
        <p:spPr>
          <a:xfrm>
            <a:off x="5086800" y="3384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帝国扩张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wp_slide_04_period_4"/>
          <p:cNvSpPr txBox="1"/>
          <p:nvPr/>
        </p:nvSpPr>
        <p:spPr>
          <a:xfrm>
            <a:off x="5086800" y="3708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新王国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wp_slide_04_node_5"/>
          <p:cNvSpPr/>
          <p:nvPr/>
        </p:nvSpPr>
        <p:spPr>
          <a:xfrm>
            <a:off x="7288200" y="2772000"/>
            <a:ext cx="158400" cy="158400"/>
          </a:xfrm>
          <a:prstGeom prst="ellipse">
            <a:avLst/>
          </a:prstGeom>
          <a:solidFill>
            <a:srgbClr val="9A6CB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wp_slide_04_date_5"/>
          <p:cNvSpPr txBox="1"/>
          <p:nvPr/>
        </p:nvSpPr>
        <p:spPr>
          <a:xfrm>
            <a:off x="6638400" y="1692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前</a:t>
            </a:r>
            <a:r>
              <a:rPr lang="en-US" sz="13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664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wp_slide_04_event_5"/>
          <p:cNvSpPr txBox="1"/>
          <p:nvPr/>
        </p:nvSpPr>
        <p:spPr>
          <a:xfrm>
            <a:off x="6638400" y="2016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多中心竞争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wp_slide_04_period_5"/>
          <p:cNvSpPr txBox="1"/>
          <p:nvPr/>
        </p:nvSpPr>
        <p:spPr>
          <a:xfrm>
            <a:off x="6638400" y="234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晚期王朝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wp_slide_04_node_6"/>
          <p:cNvSpPr/>
          <p:nvPr/>
        </p:nvSpPr>
        <p:spPr>
          <a:xfrm>
            <a:off x="8839800" y="2772000"/>
            <a:ext cx="158400" cy="15840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wp_slide_04_date_6"/>
          <p:cNvSpPr txBox="1"/>
          <p:nvPr/>
        </p:nvSpPr>
        <p:spPr>
          <a:xfrm>
            <a:off x="8190000" y="3060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前</a:t>
            </a:r>
            <a:r>
              <a:rPr lang="en-US" sz="13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332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wp_slide_04_event_6"/>
          <p:cNvSpPr txBox="1"/>
          <p:nvPr/>
        </p:nvSpPr>
        <p:spPr>
          <a:xfrm>
            <a:off x="8190000" y="3384000"/>
            <a:ext cx="145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希腊化转向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wp_slide_04_period_6"/>
          <p:cNvSpPr txBox="1"/>
          <p:nvPr/>
        </p:nvSpPr>
        <p:spPr>
          <a:xfrm>
            <a:off x="8190000" y="3708000"/>
            <a:ext cx="145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托勒密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wp_slide_04_note"/>
          <p:cNvSpPr txBox="1"/>
          <p:nvPr/>
        </p:nvSpPr>
        <p:spPr>
          <a:xfrm>
            <a:off x="1296000" y="4644000"/>
            <a:ext cx="748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时间点采用常见近似年代；重点是观察统一、扩张与重组的周期。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wp_slide_04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wp_slide_04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wp_slide_04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4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wp_slide_05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7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wp_slide_05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BAR CHART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wp_slide_05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主要历史时期：持续时间比较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wp_slide_05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wp_slide_05_label_1"/>
          <p:cNvSpPr txBox="1"/>
          <p:nvPr/>
        </p:nvSpPr>
        <p:spPr>
          <a:xfrm>
            <a:off x="540000" y="1209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前王朝时期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wp_slide_05_track_1"/>
          <p:cNvSpPr/>
          <p:nvPr/>
        </p:nvSpPr>
        <p:spPr>
          <a:xfrm>
            <a:off x="2196000" y="1188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wp_slide_05_bar_1"/>
          <p:cNvSpPr/>
          <p:nvPr/>
        </p:nvSpPr>
        <p:spPr>
          <a:xfrm>
            <a:off x="2196000" y="1188000"/>
            <a:ext cx="5904000" cy="3240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wp_slide_05_value_1"/>
          <p:cNvSpPr txBox="1"/>
          <p:nvPr/>
        </p:nvSpPr>
        <p:spPr>
          <a:xfrm>
            <a:off x="8244000" y="1209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2,350 </a:t>
            </a:r>
            <a:r>
              <a:rPr lang="zh-CN" sz="15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wp_slide_05_label_2"/>
          <p:cNvSpPr txBox="1"/>
          <p:nvPr/>
        </p:nvSpPr>
        <p:spPr>
          <a:xfrm>
            <a:off x="540000" y="1803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古王国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wp_slide_05_track_2"/>
          <p:cNvSpPr/>
          <p:nvPr/>
        </p:nvSpPr>
        <p:spPr>
          <a:xfrm>
            <a:off x="2196000" y="1782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wp_slide_05_bar_2"/>
          <p:cNvSpPr/>
          <p:nvPr/>
        </p:nvSpPr>
        <p:spPr>
          <a:xfrm>
            <a:off x="2196000" y="1782000"/>
            <a:ext cx="1268640" cy="324000"/>
          </a:xfrm>
          <a:prstGeom prst="rect">
            <a:avLst/>
          </a:prstGeom>
          <a:solidFill>
            <a:srgbClr val="1F6F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wp_slide_05_value_2"/>
          <p:cNvSpPr txBox="1"/>
          <p:nvPr/>
        </p:nvSpPr>
        <p:spPr>
          <a:xfrm>
            <a:off x="8244000" y="1803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505 </a:t>
            </a:r>
            <a:r>
              <a:rPr lang="zh-CN" sz="15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wp_slide_05_label_3"/>
          <p:cNvSpPr txBox="1"/>
          <p:nvPr/>
        </p:nvSpPr>
        <p:spPr>
          <a:xfrm>
            <a:off x="540000" y="2397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中王国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wp_slide_05_track_3"/>
          <p:cNvSpPr/>
          <p:nvPr/>
        </p:nvSpPr>
        <p:spPr>
          <a:xfrm>
            <a:off x="2196000" y="2376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wp_slide_05_bar_3"/>
          <p:cNvSpPr/>
          <p:nvPr/>
        </p:nvSpPr>
        <p:spPr>
          <a:xfrm>
            <a:off x="2196000" y="2376000"/>
            <a:ext cx="1017360" cy="324000"/>
          </a:xfrm>
          <a:prstGeom prst="rect">
            <a:avLst/>
          </a:prstGeom>
          <a:solidFill>
            <a:srgbClr val="4A8F8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wp_slide_05_value_3"/>
          <p:cNvSpPr txBox="1"/>
          <p:nvPr/>
        </p:nvSpPr>
        <p:spPr>
          <a:xfrm>
            <a:off x="8244000" y="2397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4A8F88"/>
                </a:solidFill>
                <a:effectLst/>
                <a:uFillTx/>
                <a:latin typeface="Microsoft YaHei"/>
              </a:rPr>
              <a:t>405 </a:t>
            </a:r>
            <a:r>
              <a:rPr lang="zh-CN" sz="1500" b="1" u="none" strike="noStrike">
                <a:solidFill>
                  <a:srgbClr val="4A8F88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wp_slide_05_label_4"/>
          <p:cNvSpPr txBox="1"/>
          <p:nvPr/>
        </p:nvSpPr>
        <p:spPr>
          <a:xfrm>
            <a:off x="540000" y="2991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新王国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wp_slide_05_track_4"/>
          <p:cNvSpPr/>
          <p:nvPr/>
        </p:nvSpPr>
        <p:spPr>
          <a:xfrm>
            <a:off x="2196000" y="2970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wp_slide_05_bar_4"/>
          <p:cNvSpPr/>
          <p:nvPr/>
        </p:nvSpPr>
        <p:spPr>
          <a:xfrm>
            <a:off x="2196000" y="2970000"/>
            <a:ext cx="1208160" cy="324000"/>
          </a:xfrm>
          <a:prstGeom prst="rect">
            <a:avLst/>
          </a:prstGeom>
          <a:solidFill>
            <a:srgbClr val="D96C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wp_slide_05_value_4"/>
          <p:cNvSpPr txBox="1"/>
          <p:nvPr/>
        </p:nvSpPr>
        <p:spPr>
          <a:xfrm>
            <a:off x="8244000" y="2991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481 </a:t>
            </a:r>
            <a:r>
              <a:rPr lang="zh-CN" sz="15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wp_slide_05_label_5"/>
          <p:cNvSpPr txBox="1"/>
          <p:nvPr/>
        </p:nvSpPr>
        <p:spPr>
          <a:xfrm>
            <a:off x="540000" y="3585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晚期王朝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wp_slide_05_track_5"/>
          <p:cNvSpPr/>
          <p:nvPr/>
        </p:nvSpPr>
        <p:spPr>
          <a:xfrm>
            <a:off x="2196000" y="3564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wp_slide_05_bar_5"/>
          <p:cNvSpPr/>
          <p:nvPr/>
        </p:nvSpPr>
        <p:spPr>
          <a:xfrm>
            <a:off x="2196000" y="3564000"/>
            <a:ext cx="833760" cy="324000"/>
          </a:xfrm>
          <a:prstGeom prst="rect">
            <a:avLst/>
          </a:prstGeom>
          <a:solidFill>
            <a:srgbClr val="9A6CB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wp_slide_05_value_5"/>
          <p:cNvSpPr txBox="1"/>
          <p:nvPr/>
        </p:nvSpPr>
        <p:spPr>
          <a:xfrm>
            <a:off x="8244000" y="3585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332 </a:t>
            </a:r>
            <a:r>
              <a:rPr lang="zh-CN" sz="15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wp_slide_05_label_6"/>
          <p:cNvSpPr txBox="1"/>
          <p:nvPr/>
        </p:nvSpPr>
        <p:spPr>
          <a:xfrm>
            <a:off x="540000" y="4179600"/>
            <a:ext cx="1584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托勒密时期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wp_slide_05_track_6"/>
          <p:cNvSpPr/>
          <p:nvPr/>
        </p:nvSpPr>
        <p:spPr>
          <a:xfrm>
            <a:off x="2196000" y="4158000"/>
            <a:ext cx="5904000" cy="324000"/>
          </a:xfrm>
          <a:prstGeom prst="rect">
            <a:avLst/>
          </a:prstGeom>
          <a:solidFill>
            <a:srgbClr val="DDE5E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wp_slide_05_bar_6"/>
          <p:cNvSpPr/>
          <p:nvPr/>
        </p:nvSpPr>
        <p:spPr>
          <a:xfrm>
            <a:off x="2196000" y="4158000"/>
            <a:ext cx="758520" cy="324000"/>
          </a:xfrm>
          <a:prstGeom prst="rect">
            <a:avLst/>
          </a:prstGeom>
          <a:solidFill>
            <a:srgbClr val="5677A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wp_slide_05_value_6"/>
          <p:cNvSpPr txBox="1"/>
          <p:nvPr/>
        </p:nvSpPr>
        <p:spPr>
          <a:xfrm>
            <a:off x="8244000" y="4179600"/>
            <a:ext cx="12600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5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302 </a:t>
            </a:r>
            <a:r>
              <a:rPr lang="zh-CN" sz="15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wp_slide_05_note"/>
          <p:cNvSpPr txBox="1"/>
          <p:nvPr/>
        </p:nvSpPr>
        <p:spPr>
          <a:xfrm>
            <a:off x="2196000" y="4590000"/>
            <a:ext cx="5904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前王朝时期跨度显著更长；王朝时期则呈现更高频率的制度重组。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wp_slide_05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wp_slide_05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wp_slide_05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5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wp_slide_06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wp_slide_06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NATIVE TABLESHAPE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wp_slide_06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王朝比较矩阵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wp_slide_06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wp_slide_06_table"/>
          <p:cNvGraphicFramePr/>
          <p:nvPr/>
        </p:nvGraphicFramePr>
        <p:xfrm>
          <a:off x="540000" y="1224000"/>
          <a:ext cx="9000000" cy="2916000"/>
        </p:xfrm>
        <a:graphic>
          <a:graphicData uri="http://schemas.openxmlformats.org/drawingml/2006/table">
            <a:tbl>
              <a:tblPr/>
              <a:tblGrid>
                <a:gridCol w="1548000"/>
                <a:gridCol w="2736000"/>
                <a:gridCol w="2196000"/>
                <a:gridCol w="2520000"/>
              </a:tblGrid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时期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代表性特征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治理重点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知识与工程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</a:tr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古王国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中央集权强化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粮食与劳役组织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金字塔、石材工程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</a:tr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中王国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行政再整合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地方与中央平衡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灌溉、文学发展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</a:tr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新王国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对外扩张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军政与贸易网络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神庙、战车技术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</a:tr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晚期王朝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多中心竞争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防御与外交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传统复兴与融合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8"/>
                    </a:solidFill>
                  </a:tcPr>
                </a:tc>
              </a:tr>
              <a:tr h="486000"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托勒密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希腊化治理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港口与商业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  <a:tc>
                  <a:txBody>
                    <a:bodyPr lIns="90000" tIns="45000" rIns="90000" bIns="45000" anchor="ctr">
                      <a:noAutofit/>
                    </a:bodyPr>
                    <a:p>
                      <a:pPr algn="ctr"/>
                      <a:r>
                        <a:rPr lang="zh-CN" sz="1200" b="0" u="none" strike="noStrike">
                          <a:solidFill>
                            <a:srgbClr val="27364A"/>
                          </a:solidFill>
                          <a:effectLst/>
                          <a:uFillTx/>
                          <a:latin typeface="Microsoft YaHei"/>
                        </a:rPr>
                        <a:t>亚历山大里亚学术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DA"/>
                    </a:solidFill>
                  </a:tcPr>
                </a:tc>
              </a:tr>
            </a:tbl>
          </a:graphicData>
        </a:graphic>
      </p:graphicFrame>
      <p:sp>
        <p:nvSpPr>
          <p:cNvPr id="131" name="wp_slide_06_note"/>
          <p:cNvSpPr txBox="1"/>
          <p:nvPr/>
        </p:nvSpPr>
        <p:spPr>
          <a:xfrm>
            <a:off x="828000" y="4536000"/>
            <a:ext cx="8424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原生</a:t>
            </a: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UNO TableShape</a:t>
            </a:r>
            <a:r>
              <a:rPr lang="zh-CN" sz="14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：重复行样式、固定列宽、居中与左对齐混合。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wp_slide_06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wp_slide_06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wp_slide_06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6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wp_slide_07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E233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wp_slide_07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ENGINEERING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wp_slide_07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吉萨：工程系统，而非孤立奇迹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wp_slide_07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D8E0E7"/>
                </a:solidFill>
                <a:effectLst/>
                <a:uFillTx/>
                <a:latin typeface="Microsoft YaHei"/>
              </a:rPr>
              <a:t>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wp_slide_07_pyramids"/>
          <p:cNvPicPr/>
          <p:nvPr/>
        </p:nvPicPr>
        <p:blipFill>
          <a:blip r:embed="rId1"/>
          <a:stretch/>
        </p:blipFill>
        <p:spPr>
          <a:xfrm>
            <a:off x="432000" y="1152000"/>
            <a:ext cx="5544000" cy="368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wp_slide_07_item_1"/>
          <p:cNvSpPr/>
          <p:nvPr/>
        </p:nvSpPr>
        <p:spPr>
          <a:xfrm>
            <a:off x="6372000" y="1260000"/>
            <a:ext cx="3204000" cy="955080"/>
          </a:xfrm>
          <a:prstGeom prst="rect">
            <a:avLst/>
          </a:prstGeom>
          <a:solidFill>
            <a:srgbClr val="17324D"/>
          </a:solidFill>
          <a:ln w="12600">
            <a:solidFill>
              <a:srgbClr val="C49A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wp_slide_07_item_1_title"/>
          <p:cNvSpPr txBox="1"/>
          <p:nvPr/>
        </p:nvSpPr>
        <p:spPr>
          <a:xfrm>
            <a:off x="6552000" y="1353600"/>
            <a:ext cx="284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0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测量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wp_slide_07_item_1_body"/>
          <p:cNvSpPr txBox="1"/>
          <p:nvPr/>
        </p:nvSpPr>
        <p:spPr>
          <a:xfrm>
            <a:off x="6552000" y="1656000"/>
            <a:ext cx="2844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0" u="none" strike="noStrike">
                <a:solidFill>
                  <a:srgbClr val="E5EDF2"/>
                </a:solidFill>
                <a:effectLst/>
                <a:uFillTx/>
                <a:latin typeface="Microsoft YaHei"/>
              </a:rPr>
              <a:t>方位、水平与尺度控制，保证长期施工的一致性。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wp_slide_07_item_2"/>
          <p:cNvSpPr/>
          <p:nvPr/>
        </p:nvSpPr>
        <p:spPr>
          <a:xfrm>
            <a:off x="6372000" y="2402280"/>
            <a:ext cx="3204000" cy="955080"/>
          </a:xfrm>
          <a:prstGeom prst="rect">
            <a:avLst/>
          </a:prstGeom>
          <a:solidFill>
            <a:srgbClr val="17324D"/>
          </a:solidFill>
          <a:ln w="12600">
            <a:solidFill>
              <a:srgbClr val="C49A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wp_slide_07_item_2_title"/>
          <p:cNvSpPr txBox="1"/>
          <p:nvPr/>
        </p:nvSpPr>
        <p:spPr>
          <a:xfrm>
            <a:off x="6552000" y="2495880"/>
            <a:ext cx="284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0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供应链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wp_slide_07_item_2_body"/>
          <p:cNvSpPr txBox="1"/>
          <p:nvPr/>
        </p:nvSpPr>
        <p:spPr>
          <a:xfrm>
            <a:off x="6552000" y="2798280"/>
            <a:ext cx="2844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0" u="none" strike="noStrike">
                <a:solidFill>
                  <a:srgbClr val="E5EDF2"/>
                </a:solidFill>
                <a:effectLst/>
                <a:uFillTx/>
                <a:latin typeface="Microsoft YaHei"/>
              </a:rPr>
              <a:t>石材、粮食、工具与季节性劳动力被统一调度。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wp_slide_07_item_3"/>
          <p:cNvSpPr/>
          <p:nvPr/>
        </p:nvSpPr>
        <p:spPr>
          <a:xfrm>
            <a:off x="6372000" y="3544560"/>
            <a:ext cx="3204000" cy="955440"/>
          </a:xfrm>
          <a:prstGeom prst="rect">
            <a:avLst/>
          </a:prstGeom>
          <a:solidFill>
            <a:srgbClr val="17324D"/>
          </a:solidFill>
          <a:ln w="12600">
            <a:solidFill>
              <a:srgbClr val="C49A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wp_slide_07_item_3_title"/>
          <p:cNvSpPr txBox="1"/>
          <p:nvPr/>
        </p:nvSpPr>
        <p:spPr>
          <a:xfrm>
            <a:off x="6552000" y="3638160"/>
            <a:ext cx="284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0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知识传承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wp_slide_07_item_3_body"/>
          <p:cNvSpPr txBox="1"/>
          <p:nvPr/>
        </p:nvSpPr>
        <p:spPr>
          <a:xfrm>
            <a:off x="6552000" y="3940560"/>
            <a:ext cx="2844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0" u="none" strike="noStrike">
                <a:solidFill>
                  <a:srgbClr val="E5EDF2"/>
                </a:solidFill>
                <a:effectLst/>
                <a:uFillTx/>
                <a:latin typeface="Microsoft YaHei"/>
              </a:rPr>
              <a:t>工匠组织和书记体系把经验转化为可复制流程。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wp_slide_07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wp_slide_07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C7D2DA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wp_slide_07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C7D2DA"/>
                </a:solidFill>
                <a:effectLst/>
                <a:uFillTx/>
                <a:latin typeface="Microsoft YaHei"/>
              </a:rPr>
              <a:t>7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wp_slide_08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EFF5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wp_slide_08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COLUMN CHART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wp_slide_08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知识体系：五类能力的协同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wp_slide_08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wp_slide_08_axis_y"/>
          <p:cNvSpPr/>
          <p:nvPr/>
        </p:nvSpPr>
        <p:spPr>
          <a:xfrm>
            <a:off x="936000" y="1404000"/>
            <a:ext cx="12600" cy="2988000"/>
          </a:xfrm>
          <a:prstGeom prst="rect">
            <a:avLst/>
          </a:prstGeom>
          <a:solidFill>
            <a:srgbClr val="9FB0B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wp_slide_08_axis_x"/>
          <p:cNvSpPr/>
          <p:nvPr/>
        </p:nvSpPr>
        <p:spPr>
          <a:xfrm>
            <a:off x="936000" y="4392000"/>
            <a:ext cx="8136000" cy="12600"/>
          </a:xfrm>
          <a:prstGeom prst="rect">
            <a:avLst/>
          </a:prstGeom>
          <a:solidFill>
            <a:srgbClr val="9FB0BA"/>
          </a:solidFill>
          <a:ln w="0">
            <a:noFill/>
          </a:ln>
        </p:spPr>
        <p:txBody>
          <a:bodyPr lIns="90000" tIns="-32400" rIns="90000" bIns="-32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wp_slide_08_bar_1"/>
          <p:cNvSpPr/>
          <p:nvPr/>
        </p:nvSpPr>
        <p:spPr>
          <a:xfrm>
            <a:off x="1314000" y="2240640"/>
            <a:ext cx="864000" cy="215136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wp_slide_08_value_1"/>
          <p:cNvSpPr txBox="1"/>
          <p:nvPr/>
        </p:nvSpPr>
        <p:spPr>
          <a:xfrm>
            <a:off x="1314000" y="1952640"/>
            <a:ext cx="86400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72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wp_slide_08_label_1"/>
          <p:cNvSpPr txBox="1"/>
          <p:nvPr/>
        </p:nvSpPr>
        <p:spPr>
          <a:xfrm>
            <a:off x="1206000" y="4456800"/>
            <a:ext cx="10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历法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wp_slide_08_bar_2"/>
          <p:cNvSpPr/>
          <p:nvPr/>
        </p:nvSpPr>
        <p:spPr>
          <a:xfrm>
            <a:off x="2941200" y="1762560"/>
            <a:ext cx="864000" cy="2629440"/>
          </a:xfrm>
          <a:prstGeom prst="rect">
            <a:avLst/>
          </a:prstGeom>
          <a:solidFill>
            <a:srgbClr val="1F6F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wp_slide_08_value_2"/>
          <p:cNvSpPr txBox="1"/>
          <p:nvPr/>
        </p:nvSpPr>
        <p:spPr>
          <a:xfrm>
            <a:off x="2941200" y="1474560"/>
            <a:ext cx="86400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4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88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wp_slide_08_label_2"/>
          <p:cNvSpPr txBox="1"/>
          <p:nvPr/>
        </p:nvSpPr>
        <p:spPr>
          <a:xfrm>
            <a:off x="2833200" y="4456800"/>
            <a:ext cx="10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测量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wp_slide_08_bar_3"/>
          <p:cNvSpPr/>
          <p:nvPr/>
        </p:nvSpPr>
        <p:spPr>
          <a:xfrm>
            <a:off x="4568400" y="2479680"/>
            <a:ext cx="864000" cy="1912320"/>
          </a:xfrm>
          <a:prstGeom prst="rect">
            <a:avLst/>
          </a:prstGeom>
          <a:solidFill>
            <a:srgbClr val="D96C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wp_slide_08_value_3"/>
          <p:cNvSpPr txBox="1"/>
          <p:nvPr/>
        </p:nvSpPr>
        <p:spPr>
          <a:xfrm>
            <a:off x="4568400" y="2191680"/>
            <a:ext cx="86400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4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64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wp_slide_08_label_3"/>
          <p:cNvSpPr txBox="1"/>
          <p:nvPr/>
        </p:nvSpPr>
        <p:spPr>
          <a:xfrm>
            <a:off x="4460400" y="4456800"/>
            <a:ext cx="10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医学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wp_slide_08_bar_4"/>
          <p:cNvSpPr/>
          <p:nvPr/>
        </p:nvSpPr>
        <p:spPr>
          <a:xfrm>
            <a:off x="6195600" y="2061360"/>
            <a:ext cx="864000" cy="2330640"/>
          </a:xfrm>
          <a:prstGeom prst="rect">
            <a:avLst/>
          </a:prstGeom>
          <a:solidFill>
            <a:srgbClr val="5677A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wp_slide_08_value_4"/>
          <p:cNvSpPr txBox="1"/>
          <p:nvPr/>
        </p:nvSpPr>
        <p:spPr>
          <a:xfrm>
            <a:off x="6195600" y="1773360"/>
            <a:ext cx="86400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4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78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wp_slide_08_label_4"/>
          <p:cNvSpPr txBox="1"/>
          <p:nvPr/>
        </p:nvSpPr>
        <p:spPr>
          <a:xfrm>
            <a:off x="6087600" y="4456800"/>
            <a:ext cx="10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材料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wp_slide_08_bar_5"/>
          <p:cNvSpPr/>
          <p:nvPr/>
        </p:nvSpPr>
        <p:spPr>
          <a:xfrm>
            <a:off x="7822800" y="1643040"/>
            <a:ext cx="864000" cy="2748960"/>
          </a:xfrm>
          <a:prstGeom prst="rect">
            <a:avLst/>
          </a:prstGeom>
          <a:solidFill>
            <a:srgbClr val="9A6CB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wp_slide_08_value_5"/>
          <p:cNvSpPr txBox="1"/>
          <p:nvPr/>
        </p:nvSpPr>
        <p:spPr>
          <a:xfrm>
            <a:off x="7822800" y="1355040"/>
            <a:ext cx="86400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4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92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wp_slide_08_label_5"/>
          <p:cNvSpPr txBox="1"/>
          <p:nvPr/>
        </p:nvSpPr>
        <p:spPr>
          <a:xfrm>
            <a:off x="7714800" y="4456800"/>
            <a:ext cx="10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1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书写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wp_slide_08_disclaimer"/>
          <p:cNvSpPr txBox="1"/>
          <p:nvPr/>
        </p:nvSpPr>
        <p:spPr>
          <a:xfrm>
            <a:off x="1872000" y="4824000"/>
            <a:ext cx="6336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指数为展示性数据，并非历史量化评分。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wp_slide_08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wp_slide_08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wp_slide_08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8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wp_slide_09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wp_slide_09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PIE + PROCESS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wp_slide_09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资源组织：从洪水到国家能力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wp_slide_09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wp_slide_09_sector_1"/>
          <p:cNvSpPr/>
          <p:nvPr/>
        </p:nvSpPr>
        <p:spPr>
          <a:xfrm>
            <a:off x="612000" y="1368000"/>
            <a:ext cx="3096000" cy="3096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wp_slide_09_sector_2"/>
          <p:cNvSpPr/>
          <p:nvPr/>
        </p:nvSpPr>
        <p:spPr>
          <a:xfrm>
            <a:off x="612000" y="1368000"/>
            <a:ext cx="3096000" cy="3096000"/>
          </a:xfrm>
          <a:prstGeom prst="pie">
            <a:avLst>
              <a:gd name="adj1" fmla="val 4320000"/>
              <a:gd name="adj2" fmla="val 10800000"/>
            </a:avLst>
          </a:prstGeom>
          <a:solidFill>
            <a:srgbClr val="1F6F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wp_slide_09_sector_3"/>
          <p:cNvSpPr/>
          <p:nvPr/>
        </p:nvSpPr>
        <p:spPr>
          <a:xfrm>
            <a:off x="612000" y="1368000"/>
            <a:ext cx="3096000" cy="3096000"/>
          </a:xfrm>
          <a:prstGeom prst="pie">
            <a:avLst>
              <a:gd name="adj1" fmla="val 0"/>
              <a:gd name="adj2" fmla="val 4320000"/>
            </a:avLst>
          </a:prstGeom>
          <a:solidFill>
            <a:srgbClr val="D96C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wp_slide_09_donut_hole"/>
          <p:cNvSpPr/>
          <p:nvPr/>
        </p:nvSpPr>
        <p:spPr>
          <a:xfrm>
            <a:off x="1404000" y="2160000"/>
            <a:ext cx="1512000" cy="1512000"/>
          </a:xfrm>
          <a:prstGeom prst="ellipse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wp_slide_09_donut_center"/>
          <p:cNvSpPr txBox="1"/>
          <p:nvPr/>
        </p:nvSpPr>
        <p:spPr>
          <a:xfrm>
            <a:off x="1584000" y="2592000"/>
            <a:ext cx="115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24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资源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zh-CN" sz="24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循环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wp_slide_09_legend"/>
          <p:cNvSpPr txBox="1"/>
          <p:nvPr/>
        </p:nvSpPr>
        <p:spPr>
          <a:xfrm>
            <a:off x="648000" y="4536000"/>
            <a:ext cx="30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农业与水利</a:t>
            </a:r>
            <a:r>
              <a:rPr lang="en-US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50% · </a:t>
            </a:r>
            <a:r>
              <a:rPr lang="zh-CN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建造与手工业</a:t>
            </a:r>
            <a:r>
              <a:rPr lang="en-US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30% · </a:t>
            </a:r>
            <a:r>
              <a:rPr lang="zh-CN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行政与宗教</a:t>
            </a:r>
            <a:r>
              <a:rPr lang="en-US" sz="13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20%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wp_slide_09_connector_1"/>
          <p:cNvSpPr/>
          <p:nvPr/>
        </p:nvSpPr>
        <p:spPr>
          <a:xfrm>
            <a:off x="4914000" y="1980000"/>
            <a:ext cx="14400" cy="1800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wp_slide_09_process_1"/>
          <p:cNvSpPr/>
          <p:nvPr/>
        </p:nvSpPr>
        <p:spPr>
          <a:xfrm>
            <a:off x="4608000" y="1296000"/>
            <a:ext cx="4752000" cy="684000"/>
          </a:xfrm>
          <a:prstGeom prst="rect">
            <a:avLst/>
          </a:prstGeom>
          <a:solidFill>
            <a:srgbClr val="F0E8D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wp_slide_09_process_1_step"/>
          <p:cNvSpPr txBox="1"/>
          <p:nvPr/>
        </p:nvSpPr>
        <p:spPr>
          <a:xfrm>
            <a:off x="4770000" y="145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wp_slide_09_process_1_title"/>
          <p:cNvSpPr txBox="1"/>
          <p:nvPr/>
        </p:nvSpPr>
        <p:spPr>
          <a:xfrm>
            <a:off x="5292000" y="1404000"/>
            <a:ext cx="140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洪泛观测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wp_slide_09_process_1_body"/>
          <p:cNvSpPr txBox="1"/>
          <p:nvPr/>
        </p:nvSpPr>
        <p:spPr>
          <a:xfrm>
            <a:off x="6768000" y="1404000"/>
            <a:ext cx="2412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识别季节变化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wp_slide_09_connector_2"/>
          <p:cNvSpPr/>
          <p:nvPr/>
        </p:nvSpPr>
        <p:spPr>
          <a:xfrm>
            <a:off x="4914000" y="2844000"/>
            <a:ext cx="14400" cy="1800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wp_slide_09_process_2"/>
          <p:cNvSpPr/>
          <p:nvPr/>
        </p:nvSpPr>
        <p:spPr>
          <a:xfrm>
            <a:off x="4608000" y="2160000"/>
            <a:ext cx="4752000" cy="684000"/>
          </a:xfrm>
          <a:prstGeom prst="rect">
            <a:avLst/>
          </a:prstGeom>
          <a:solidFill>
            <a:srgbClr val="F0E8D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wp_slide_09_process_2_step"/>
          <p:cNvSpPr txBox="1"/>
          <p:nvPr/>
        </p:nvSpPr>
        <p:spPr>
          <a:xfrm>
            <a:off x="4770000" y="2322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wp_slide_09_process_2_title"/>
          <p:cNvSpPr txBox="1"/>
          <p:nvPr/>
        </p:nvSpPr>
        <p:spPr>
          <a:xfrm>
            <a:off x="5292000" y="2268000"/>
            <a:ext cx="140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税粮征集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wp_slide_09_process_2_body"/>
          <p:cNvSpPr txBox="1"/>
          <p:nvPr/>
        </p:nvSpPr>
        <p:spPr>
          <a:xfrm>
            <a:off x="6768000" y="2268000"/>
            <a:ext cx="2412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把剩余转化为公共资源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wp_slide_09_connector_3"/>
          <p:cNvSpPr/>
          <p:nvPr/>
        </p:nvSpPr>
        <p:spPr>
          <a:xfrm>
            <a:off x="4914000" y="3708000"/>
            <a:ext cx="14400" cy="18000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wp_slide_09_process_3"/>
          <p:cNvSpPr/>
          <p:nvPr/>
        </p:nvSpPr>
        <p:spPr>
          <a:xfrm>
            <a:off x="4608000" y="3024000"/>
            <a:ext cx="4752000" cy="684000"/>
          </a:xfrm>
          <a:prstGeom prst="rect">
            <a:avLst/>
          </a:prstGeom>
          <a:solidFill>
            <a:srgbClr val="F0E8D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wp_slide_09_process_3_step"/>
          <p:cNvSpPr txBox="1"/>
          <p:nvPr/>
        </p:nvSpPr>
        <p:spPr>
          <a:xfrm>
            <a:off x="4770000" y="318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wp_slide_09_process_3_title"/>
          <p:cNvSpPr txBox="1"/>
          <p:nvPr/>
        </p:nvSpPr>
        <p:spPr>
          <a:xfrm>
            <a:off x="5292000" y="3132000"/>
            <a:ext cx="140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工程调度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wp_slide_09_process_3_body"/>
          <p:cNvSpPr txBox="1"/>
          <p:nvPr/>
        </p:nvSpPr>
        <p:spPr>
          <a:xfrm>
            <a:off x="6768000" y="3132000"/>
            <a:ext cx="2412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组织人员、材料与时间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wp_slide_09_process_4"/>
          <p:cNvSpPr/>
          <p:nvPr/>
        </p:nvSpPr>
        <p:spPr>
          <a:xfrm>
            <a:off x="4608000" y="3888000"/>
            <a:ext cx="4752000" cy="684000"/>
          </a:xfrm>
          <a:prstGeom prst="rect">
            <a:avLst/>
          </a:prstGeom>
          <a:solidFill>
            <a:srgbClr val="F0E8D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wp_slide_09_process_4_step"/>
          <p:cNvSpPr txBox="1"/>
          <p:nvPr/>
        </p:nvSpPr>
        <p:spPr>
          <a:xfrm>
            <a:off x="4770000" y="405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wp_slide_09_process_4_title"/>
          <p:cNvSpPr txBox="1"/>
          <p:nvPr/>
        </p:nvSpPr>
        <p:spPr>
          <a:xfrm>
            <a:off x="5292000" y="3996000"/>
            <a:ext cx="1404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制度记忆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wp_slide_09_process_4_body"/>
          <p:cNvSpPr txBox="1"/>
          <p:nvPr/>
        </p:nvSpPr>
        <p:spPr>
          <a:xfrm>
            <a:off x="6768000" y="3996000"/>
            <a:ext cx="2412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文字与仪式保持连续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wp_slide_09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wp_slide_09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wp_slide_09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9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wp_slide_10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7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wp_slide_10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DIAGRAM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wp_slide_10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治理结构：权力如何向下传导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wp_slide_10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wp_slide_10_line_main"/>
          <p:cNvSpPr/>
          <p:nvPr/>
        </p:nvSpPr>
        <p:spPr>
          <a:xfrm>
            <a:off x="5022000" y="1836000"/>
            <a:ext cx="14400" cy="1908000"/>
          </a:xfrm>
          <a:prstGeom prst="rect">
            <a:avLst/>
          </a:prstGeom>
          <a:solidFill>
            <a:srgbClr val="AAB6B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wp_slide_10_line_mid"/>
          <p:cNvSpPr/>
          <p:nvPr/>
        </p:nvSpPr>
        <p:spPr>
          <a:xfrm>
            <a:off x="2340000" y="2736000"/>
            <a:ext cx="5364000" cy="14400"/>
          </a:xfrm>
          <a:prstGeom prst="rect">
            <a:avLst/>
          </a:prstGeom>
          <a:solidFill>
            <a:srgbClr val="AAB6BF"/>
          </a:solidFill>
          <a:ln w="0">
            <a:noFill/>
          </a:ln>
        </p:spPr>
        <p:txBody>
          <a:bodyPr lIns="90000" tIns="-30600" rIns="90000" bIns="-30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wp_slide_10_line_low"/>
          <p:cNvSpPr/>
          <p:nvPr/>
        </p:nvSpPr>
        <p:spPr>
          <a:xfrm>
            <a:off x="1404000" y="3744000"/>
            <a:ext cx="7272000" cy="14400"/>
          </a:xfrm>
          <a:prstGeom prst="rect">
            <a:avLst/>
          </a:prstGeom>
          <a:solidFill>
            <a:srgbClr val="AAB6BF"/>
          </a:solidFill>
          <a:ln w="0">
            <a:noFill/>
          </a:ln>
        </p:spPr>
        <p:txBody>
          <a:bodyPr lIns="90000" tIns="-30600" rIns="90000" bIns="-30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wp_slide_10_node_pharaoh"/>
          <p:cNvSpPr/>
          <p:nvPr/>
        </p:nvSpPr>
        <p:spPr>
          <a:xfrm>
            <a:off x="3672000" y="1188000"/>
            <a:ext cx="2736000" cy="648000"/>
          </a:xfrm>
          <a:prstGeom prst="rect">
            <a:avLst/>
          </a:prstGeom>
          <a:solidFill>
            <a:srgbClr val="FFFFFF"/>
          </a:solidFill>
          <a:ln w="12600">
            <a:solidFill>
              <a:srgbClr val="C49A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wp_slide_10_node_pharaoh_title"/>
          <p:cNvSpPr txBox="1"/>
          <p:nvPr/>
        </p:nvSpPr>
        <p:spPr>
          <a:xfrm>
            <a:off x="3816000" y="1231200"/>
            <a:ext cx="244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法老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wp_slide_10_node_pharaoh_body"/>
          <p:cNvSpPr txBox="1"/>
          <p:nvPr/>
        </p:nvSpPr>
        <p:spPr>
          <a:xfrm>
            <a:off x="3816000" y="1530000"/>
            <a:ext cx="2448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合法性与最高决策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wp_slide_10_node_vizier"/>
          <p:cNvSpPr/>
          <p:nvPr/>
        </p:nvSpPr>
        <p:spPr>
          <a:xfrm>
            <a:off x="3744000" y="2340000"/>
            <a:ext cx="2592000" cy="61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1F6F78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wp_slide_10_node_vizier_title"/>
          <p:cNvSpPr txBox="1"/>
          <p:nvPr/>
        </p:nvSpPr>
        <p:spPr>
          <a:xfrm>
            <a:off x="3888000" y="2383200"/>
            <a:ext cx="2304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维齐尔与中央行政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wp_slide_10_node_vizier_body"/>
          <p:cNvSpPr txBox="1"/>
          <p:nvPr/>
        </p:nvSpPr>
        <p:spPr>
          <a:xfrm>
            <a:off x="3888000" y="2682000"/>
            <a:ext cx="2304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税收、工程、司法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wp_slide_10_node_temple"/>
          <p:cNvSpPr/>
          <p:nvPr/>
        </p:nvSpPr>
        <p:spPr>
          <a:xfrm>
            <a:off x="828000" y="3312000"/>
            <a:ext cx="2088000" cy="648000"/>
          </a:xfrm>
          <a:prstGeom prst="rect">
            <a:avLst/>
          </a:prstGeom>
          <a:solidFill>
            <a:srgbClr val="FFFFFF"/>
          </a:solidFill>
          <a:ln w="12600">
            <a:solidFill>
              <a:srgbClr val="9A6CB1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wp_slide_10_node_temple_title"/>
          <p:cNvSpPr txBox="1"/>
          <p:nvPr/>
        </p:nvSpPr>
        <p:spPr>
          <a:xfrm>
            <a:off x="972000" y="33552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9A6CB1"/>
                </a:solidFill>
                <a:effectLst/>
                <a:uFillTx/>
                <a:latin typeface="Microsoft YaHei"/>
              </a:rPr>
              <a:t>神庙体系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wp_slide_10_node_temple_body"/>
          <p:cNvSpPr txBox="1"/>
          <p:nvPr/>
        </p:nvSpPr>
        <p:spPr>
          <a:xfrm>
            <a:off x="972000" y="36540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仪式 土地 知识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wp_slide_10_node_scribes"/>
          <p:cNvSpPr/>
          <p:nvPr/>
        </p:nvSpPr>
        <p:spPr>
          <a:xfrm>
            <a:off x="3996000" y="3312000"/>
            <a:ext cx="2088000" cy="648000"/>
          </a:xfrm>
          <a:prstGeom prst="rect">
            <a:avLst/>
          </a:prstGeom>
          <a:solidFill>
            <a:srgbClr val="FFFFFF"/>
          </a:solidFill>
          <a:ln w="12600">
            <a:solidFill>
              <a:srgbClr val="5677A6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wp_slide_10_node_scribes_title"/>
          <p:cNvSpPr txBox="1"/>
          <p:nvPr/>
        </p:nvSpPr>
        <p:spPr>
          <a:xfrm>
            <a:off x="4140000" y="33552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书记体系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wp_slide_10_node_scribes_body"/>
          <p:cNvSpPr txBox="1"/>
          <p:nvPr/>
        </p:nvSpPr>
        <p:spPr>
          <a:xfrm>
            <a:off x="4140000" y="36540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记录 核算 标准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wp_slide_10_node_regions"/>
          <p:cNvSpPr/>
          <p:nvPr/>
        </p:nvSpPr>
        <p:spPr>
          <a:xfrm>
            <a:off x="7164000" y="3312000"/>
            <a:ext cx="2088000" cy="648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96C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wp_slide_10_node_regions_title"/>
          <p:cNvSpPr txBox="1"/>
          <p:nvPr/>
        </p:nvSpPr>
        <p:spPr>
          <a:xfrm>
            <a:off x="7308000" y="33552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D96C4A"/>
                </a:solidFill>
                <a:effectLst/>
                <a:uFillTx/>
                <a:latin typeface="Microsoft YaHei"/>
              </a:rPr>
              <a:t>地方治理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wp_slide_10_node_regions_body"/>
          <p:cNvSpPr txBox="1"/>
          <p:nvPr/>
        </p:nvSpPr>
        <p:spPr>
          <a:xfrm>
            <a:off x="7308000" y="3654000"/>
            <a:ext cx="180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省区 城镇 仓储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wp_slide_10_node_people"/>
          <p:cNvSpPr/>
          <p:nvPr/>
        </p:nvSpPr>
        <p:spPr>
          <a:xfrm>
            <a:off x="2916000" y="4356000"/>
            <a:ext cx="4248000" cy="57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17324D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wp_slide_10_node_people_title"/>
          <p:cNvSpPr txBox="1"/>
          <p:nvPr/>
        </p:nvSpPr>
        <p:spPr>
          <a:xfrm>
            <a:off x="3060000" y="4399200"/>
            <a:ext cx="396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农民 </a:t>
            </a:r>
            <a:r>
              <a:rPr lang="en-US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· </a:t>
            </a:r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工匠 </a:t>
            </a:r>
            <a:r>
              <a:rPr lang="en-US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· </a:t>
            </a:r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商旅 </a:t>
            </a:r>
            <a:r>
              <a:rPr lang="en-US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· </a:t>
            </a:r>
            <a:r>
              <a:rPr lang="zh-CN" sz="18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士兵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wp_slide_10_node_people_body"/>
          <p:cNvSpPr txBox="1"/>
          <p:nvPr/>
        </p:nvSpPr>
        <p:spPr>
          <a:xfrm>
            <a:off x="3060000" y="4698000"/>
            <a:ext cx="396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社会生产与国家动员的基础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wp_slide_10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wp_slide_10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wp_slide_10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10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wp_slide_1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FFDF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wp_slide_11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IMAGE GALLERY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wp_slide_11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三种尺度观察古埃及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wp_slide_11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67085"/>
                </a:solidFill>
                <a:effectLst/>
                <a:uFillTx/>
                <a:latin typeface="Microsoft YaHei"/>
              </a:rPr>
              <a:t>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wp_slide_11_map_card"/>
          <p:cNvSpPr/>
          <p:nvPr/>
        </p:nvSpPr>
        <p:spPr>
          <a:xfrm>
            <a:off x="504000" y="1224000"/>
            <a:ext cx="2700000" cy="3528000"/>
          </a:xfrm>
          <a:prstGeom prst="rect">
            <a:avLst/>
          </a:prstGeom>
          <a:solidFill>
            <a:srgbClr val="EEF4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wp_slide_11_map"/>
          <p:cNvPicPr/>
          <p:nvPr/>
        </p:nvPicPr>
        <p:blipFill>
          <a:blip r:embed="rId1"/>
          <a:stretch/>
        </p:blipFill>
        <p:spPr>
          <a:xfrm>
            <a:off x="1116000" y="1404000"/>
            <a:ext cx="1404000" cy="284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wp_slide_11_map_title"/>
          <p:cNvSpPr txBox="1"/>
          <p:nvPr/>
        </p:nvSpPr>
        <p:spPr>
          <a:xfrm>
            <a:off x="684000" y="4284000"/>
            <a:ext cx="234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国土尺度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wp_slide_11_pyramid_card"/>
          <p:cNvSpPr/>
          <p:nvPr/>
        </p:nvSpPr>
        <p:spPr>
          <a:xfrm>
            <a:off x="3420000" y="1224000"/>
            <a:ext cx="3240000" cy="35280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wp_slide_11_pyramids"/>
          <p:cNvPicPr/>
          <p:nvPr/>
        </p:nvPicPr>
        <p:blipFill>
          <a:blip r:embed="rId2"/>
          <a:stretch/>
        </p:blipFill>
        <p:spPr>
          <a:xfrm>
            <a:off x="3582000" y="1548000"/>
            <a:ext cx="2916000" cy="18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wp_slide_11_pyramid_title"/>
          <p:cNvSpPr txBox="1"/>
          <p:nvPr/>
        </p:nvSpPr>
        <p:spPr>
          <a:xfrm>
            <a:off x="3600000" y="3600000"/>
            <a:ext cx="288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工程尺度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wp_slide_11_pyramid_body"/>
          <p:cNvSpPr txBox="1"/>
          <p:nvPr/>
        </p:nvSpPr>
        <p:spPr>
          <a:xfrm>
            <a:off x="3654000" y="3924000"/>
            <a:ext cx="277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吉萨建筑群体现测量、材料与组织能力的融合。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wp_slide_11_statue_card"/>
          <p:cNvSpPr/>
          <p:nvPr/>
        </p:nvSpPr>
        <p:spPr>
          <a:xfrm>
            <a:off x="6876000" y="1224000"/>
            <a:ext cx="2700000" cy="352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wp_slide_11_statue"/>
          <p:cNvPicPr/>
          <p:nvPr/>
        </p:nvPicPr>
        <p:blipFill>
          <a:blip r:embed="rId3"/>
          <a:stretch/>
        </p:blipFill>
        <p:spPr>
          <a:xfrm>
            <a:off x="7344000" y="1476000"/>
            <a:ext cx="1872000" cy="248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wp_slide_11_statue_title"/>
          <p:cNvSpPr txBox="1"/>
          <p:nvPr/>
        </p:nvSpPr>
        <p:spPr>
          <a:xfrm>
            <a:off x="7056000" y="3960000"/>
            <a:ext cx="234000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5677A6"/>
                </a:solidFill>
                <a:effectLst/>
                <a:uFillTx/>
                <a:latin typeface="Microsoft YaHei"/>
              </a:rPr>
              <a:t>人物尺度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wp_slide_11_statue_body"/>
          <p:cNvSpPr txBox="1"/>
          <p:nvPr/>
        </p:nvSpPr>
        <p:spPr>
          <a:xfrm>
            <a:off x="6984000" y="4266000"/>
            <a:ext cx="2484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200" b="0" u="none" strike="noStrike">
                <a:solidFill>
                  <a:srgbClr val="27364A"/>
                </a:solidFill>
                <a:effectLst/>
                <a:uFillTx/>
                <a:latin typeface="Microsoft YaHei"/>
              </a:rPr>
              <a:t>卡夫拉雕像：王权与材料规范。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wp_slide_11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wp_slide_11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wp_slide_11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E8794"/>
                </a:solidFill>
                <a:effectLst/>
                <a:uFillTx/>
                <a:latin typeface="Microsoft YaHei"/>
              </a:rPr>
              <a:t>11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wp_slide_12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C213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wp_slide_12_kicker"/>
          <p:cNvSpPr txBox="1"/>
          <p:nvPr/>
        </p:nvSpPr>
        <p:spPr>
          <a:xfrm>
            <a:off x="540000" y="252000"/>
            <a:ext cx="324000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UNO COVERAGE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wp_slide_12_title"/>
          <p:cNvSpPr txBox="1"/>
          <p:nvPr/>
        </p:nvSpPr>
        <p:spPr>
          <a:xfrm>
            <a:off x="540000" y="486000"/>
            <a:ext cx="7920000" cy="4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这份文件展示了什么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wp_slide_12_number"/>
          <p:cNvSpPr txBox="1"/>
          <p:nvPr/>
        </p:nvSpPr>
        <p:spPr>
          <a:xfrm>
            <a:off x="8928000" y="3240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D8E0E7"/>
                </a:solidFill>
                <a:effectLst/>
                <a:uFillTx/>
                <a:latin typeface="Microsoft YaHei"/>
              </a:rPr>
              <a:t>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wp_slide_12_column_1"/>
          <p:cNvSpPr/>
          <p:nvPr/>
        </p:nvSpPr>
        <p:spPr>
          <a:xfrm>
            <a:off x="540000" y="1296000"/>
            <a:ext cx="4338000" cy="3240000"/>
          </a:xfrm>
          <a:prstGeom prst="rect">
            <a:avLst/>
          </a:prstGeom>
          <a:solidFill>
            <a:srgbClr val="17324D"/>
          </a:solidFill>
          <a:ln w="12600">
            <a:solidFill>
              <a:srgbClr val="C49A4A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wp_slide_12_column_1_title"/>
          <p:cNvSpPr txBox="1"/>
          <p:nvPr/>
        </p:nvSpPr>
        <p:spPr>
          <a:xfrm>
            <a:off x="774000" y="1422000"/>
            <a:ext cx="387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300" b="1" u="none" strike="noStrike">
                <a:solidFill>
                  <a:srgbClr val="C49A4A"/>
                </a:solidFill>
                <a:effectLst/>
                <a:uFillTx/>
                <a:latin typeface="Microsoft YaHei"/>
              </a:rPr>
              <a:t>稳定作者层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wp_slide_12_column_1_item_1"/>
          <p:cNvSpPr txBox="1"/>
          <p:nvPr/>
        </p:nvSpPr>
        <p:spPr>
          <a:xfrm>
            <a:off x="774000" y="183600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01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自动布局：</a:t>
            </a:r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content_box / grid /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wp_slide_12_column_1_item_2"/>
          <p:cNvSpPr txBox="1"/>
          <p:nvPr/>
        </p:nvSpPr>
        <p:spPr>
          <a:xfrm>
            <a:off x="774000" y="250632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02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文本：字体、字号、粗体、颜色、对齐、自动测量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wp_slide_12_column_1_item_3"/>
          <p:cNvSpPr txBox="1"/>
          <p:nvPr/>
        </p:nvSpPr>
        <p:spPr>
          <a:xfrm>
            <a:off x="774000" y="317664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03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图形：矩形、椭圆、饼形、连接线与层级顺序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wp_slide_12_column_1_item_4"/>
          <p:cNvSpPr txBox="1"/>
          <p:nvPr/>
        </p:nvSpPr>
        <p:spPr>
          <a:xfrm>
            <a:off x="774000" y="3846960"/>
            <a:ext cx="3870000" cy="5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04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图片：</a:t>
            </a:r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PNG / JPEG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嵌入与页面边界验证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wp_slide_12_column_2"/>
          <p:cNvSpPr/>
          <p:nvPr/>
        </p:nvSpPr>
        <p:spPr>
          <a:xfrm>
            <a:off x="5202000" y="1296000"/>
            <a:ext cx="4338000" cy="3240000"/>
          </a:xfrm>
          <a:prstGeom prst="rect">
            <a:avLst/>
          </a:prstGeom>
          <a:solidFill>
            <a:srgbClr val="17324D"/>
          </a:solidFill>
          <a:ln w="12600">
            <a:solidFill>
              <a:srgbClr val="1F6F78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wp_slide_12_column_2_title"/>
          <p:cNvSpPr txBox="1"/>
          <p:nvPr/>
        </p:nvSpPr>
        <p:spPr>
          <a:xfrm>
            <a:off x="5436000" y="1422000"/>
            <a:ext cx="387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300" b="1" u="none" strike="noStrike">
                <a:solidFill>
                  <a:srgbClr val="1F6F78"/>
                </a:solidFill>
                <a:effectLst/>
                <a:uFillTx/>
                <a:latin typeface="Microsoft YaHei"/>
              </a:rPr>
              <a:t>验证与输出层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wp_slide_12_column_2_item_1"/>
          <p:cNvSpPr txBox="1"/>
          <p:nvPr/>
        </p:nvSpPr>
        <p:spPr>
          <a:xfrm>
            <a:off x="5436000" y="183600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01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原生</a:t>
            </a:r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TableShape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：行列尺寸与单元格样式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wp_slide_12_column_2_item_2"/>
          <p:cNvSpPr txBox="1"/>
          <p:nvPr/>
        </p:nvSpPr>
        <p:spPr>
          <a:xfrm>
            <a:off x="5436000" y="250632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02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图表：横向条形、纵向柱形、饼图与时间线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wp_slide_12_column_2_item_3"/>
          <p:cNvSpPr txBox="1"/>
          <p:nvPr/>
        </p:nvSpPr>
        <p:spPr>
          <a:xfrm>
            <a:off x="5436000" y="3176640"/>
            <a:ext cx="3870000" cy="58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03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验证：越界、文本溢出、跨类型重叠与页面占用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wp_slide_12_column_2_item_4"/>
          <p:cNvSpPr txBox="1"/>
          <p:nvPr/>
        </p:nvSpPr>
        <p:spPr>
          <a:xfrm>
            <a:off x="5436000" y="3846960"/>
            <a:ext cx="3870000" cy="5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04  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渲染：</a:t>
            </a:r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LibreOffice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保存、重开、</a:t>
            </a:r>
            <a:r>
              <a:rPr lang="en-US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PDF</a:t>
            </a:r>
            <a:r>
              <a:rPr lang="zh-CN" sz="1500" b="0" u="none" strike="noStrike">
                <a:solidFill>
                  <a:srgbClr val="E6EDF2"/>
                </a:solidFill>
                <a:effectLst/>
                <a:uFillTx/>
                <a:latin typeface="Microsoft YaHei"/>
              </a:rPr>
              <a:t>预览与逐页检查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wp_slide_12_source_note"/>
          <p:cNvSpPr txBox="1"/>
          <p:nvPr/>
        </p:nvSpPr>
        <p:spPr>
          <a:xfrm>
            <a:off x="1080000" y="4680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300" b="0" u="none" strike="noStrike">
                <a:solidFill>
                  <a:srgbClr val="BAC8D2"/>
                </a:solidFill>
                <a:effectLst/>
                <a:uFillTx/>
                <a:latin typeface="Microsoft YaHei"/>
              </a:rPr>
              <a:t>内容为教育性综合整理；部分指数和比例为展示性数据。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wp_slide_12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C49A4A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wp_slide_12_footer_left"/>
          <p:cNvSpPr txBox="1"/>
          <p:nvPr/>
        </p:nvSpPr>
        <p:spPr>
          <a:xfrm>
            <a:off x="540000" y="5328000"/>
            <a:ext cx="6480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C7D2DA"/>
                </a:solidFill>
                <a:effectLst/>
                <a:uFillTx/>
                <a:latin typeface="Microsoft YaHei"/>
              </a:rPr>
              <a:t>UNO / LibreOffice · Ancient Egypt feature showcase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wp_slide_12_footer_right"/>
          <p:cNvSpPr txBox="1"/>
          <p:nvPr/>
        </p:nvSpPr>
        <p:spPr>
          <a:xfrm>
            <a:off x="8352000" y="53280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C7D2DA"/>
                </a:solidFill>
                <a:effectLst/>
                <a:uFillTx/>
                <a:latin typeface="Microsoft YaHei"/>
              </a:rPr>
              <a:t>12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2026-08-30T19:06:36Z</dcterms:modified>
  <cp:revision>1</cp:revision>
  <dc:subject/>
  <dc:title/>
</cp:coreProperties>
</file>