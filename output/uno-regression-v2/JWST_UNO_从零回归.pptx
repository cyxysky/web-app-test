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450183-C7C7-4B2A-9CF5-9C03C61556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FCDB5A-D946-4B37-8BC1-60144D2162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21FDE68-C200-405F-94E7-53B343CAC67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wp_slide_01_hero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wp_slide_01_veil"/>
          <p:cNvSpPr/>
          <p:nvPr/>
        </p:nvSpPr>
        <p:spPr>
          <a:xfrm>
            <a:off x="0" y="0"/>
            <a:ext cx="5112000" cy="5670000"/>
          </a:xfrm>
          <a:prstGeom prst="rect">
            <a:avLst/>
          </a:prstGeom>
          <a:solidFill>
            <a:srgbClr val="07182B">
              <a:alpha val="93000"/>
            </a:srgbClr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wp_slide_01_accent"/>
          <p:cNvSpPr/>
          <p:nvPr/>
        </p:nvSpPr>
        <p:spPr>
          <a:xfrm>
            <a:off x="540000" y="1080000"/>
            <a:ext cx="64800" cy="2574000"/>
          </a:xfrm>
          <a:prstGeom prst="rect">
            <a:avLst/>
          </a:prstGeom>
          <a:solidFill>
            <a:srgbClr val="D2A03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wp_slide_01_kicker"/>
          <p:cNvSpPr txBox="1"/>
          <p:nvPr/>
        </p:nvSpPr>
        <p:spPr>
          <a:xfrm>
            <a:off x="756000" y="1080000"/>
            <a:ext cx="396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4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FROM-SCRATCH UNO REGRESSION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wp_slide_01_title"/>
          <p:cNvSpPr txBox="1"/>
          <p:nvPr/>
        </p:nvSpPr>
        <p:spPr>
          <a:xfrm>
            <a:off x="756000" y="1440000"/>
            <a:ext cx="4068000" cy="11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3800" b="1" u="none" strike="noStrike">
                <a:solidFill>
                  <a:srgbClr val="FFFFFF"/>
                </a:solidFill>
                <a:effectLst/>
                <a:uFillTx/>
                <a:latin typeface="Microsoft YaHei"/>
              </a:rPr>
              <a:t>詹姆斯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Microsoft YaHei"/>
              </a:rPr>
              <a:t>·</a:t>
            </a:r>
            <a:r>
              <a:rPr lang="zh-CN" sz="3800" b="1" u="none" strike="noStrike">
                <a:solidFill>
                  <a:srgbClr val="FFFFFF"/>
                </a:solidFill>
                <a:effectLst/>
                <a:uFillTx/>
                <a:latin typeface="Microsoft YaHei"/>
              </a:rPr>
              <a:t>韦布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3800" b="1" u="none" strike="noStrike">
                <a:solidFill>
                  <a:srgbClr val="FFFFFF"/>
                </a:solidFill>
                <a:effectLst/>
                <a:uFillTx/>
                <a:latin typeface="Microsoft YaHei"/>
              </a:rPr>
              <a:t>空间望远镜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wp_slide_01_subtitle"/>
          <p:cNvSpPr txBox="1"/>
          <p:nvPr/>
        </p:nvSpPr>
        <p:spPr>
          <a:xfrm>
            <a:off x="756000" y="2736000"/>
            <a:ext cx="41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100" b="0" u="none" strike="noStrike">
                <a:solidFill>
                  <a:srgbClr val="D9E6F1"/>
                </a:solidFill>
                <a:effectLst/>
                <a:uFillTx/>
                <a:latin typeface="Microsoft YaHei"/>
              </a:rPr>
              <a:t>从折叠工程到红外宇宙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wp_slide_01_meta"/>
          <p:cNvSpPr txBox="1"/>
          <p:nvPr/>
        </p:nvSpPr>
        <p:spPr>
          <a:xfrm>
            <a:off x="756000" y="3204000"/>
            <a:ext cx="4860000" cy="5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300" b="0" u="none" strike="noStrike">
                <a:solidFill>
                  <a:srgbClr val="B9C8D6"/>
                </a:solidFill>
                <a:effectLst/>
                <a:uFillTx/>
                <a:latin typeface="Microsoft YaHei"/>
              </a:rPr>
              <a:t>10 </a:t>
            </a:r>
            <a:r>
              <a:rPr lang="zh-CN" sz="1300" b="0" u="none" strike="noStrike">
                <a:solidFill>
                  <a:srgbClr val="B9C8D6"/>
                </a:solidFill>
                <a:effectLst/>
                <a:uFillTx/>
                <a:latin typeface="Microsoft YaHei"/>
              </a:rPr>
              <a:t>页 </a:t>
            </a:r>
            <a:r>
              <a:rPr lang="en-US" sz="1300" b="0" u="none" strike="noStrike">
                <a:solidFill>
                  <a:srgbClr val="B9C8D6"/>
                </a:solidFill>
                <a:effectLst/>
                <a:uFillTx/>
                <a:latin typeface="Microsoft YaHei"/>
              </a:rPr>
              <a:t>· </a:t>
            </a:r>
            <a:r>
              <a:rPr lang="zh-CN" sz="1300" b="0" u="none" strike="noStrike">
                <a:solidFill>
                  <a:srgbClr val="B9C8D6"/>
                </a:solidFill>
                <a:effectLst/>
                <a:uFillTx/>
                <a:latin typeface="Microsoft YaHei"/>
              </a:rPr>
              <a:t>原生表格 </a:t>
            </a:r>
            <a:r>
              <a:rPr lang="en-US" sz="1300" b="0" u="none" strike="noStrike">
                <a:solidFill>
                  <a:srgbClr val="B9C8D6"/>
                </a:solidFill>
                <a:effectLst/>
                <a:uFillTx/>
                <a:latin typeface="Microsoft YaHei"/>
              </a:rPr>
              <a:t>/ </a:t>
            </a:r>
            <a:r>
              <a:rPr lang="zh-CN" sz="1300" b="0" u="none" strike="noStrike">
                <a:solidFill>
                  <a:srgbClr val="B9C8D6"/>
                </a:solidFill>
                <a:effectLst/>
                <a:uFillTx/>
                <a:latin typeface="Microsoft YaHei"/>
              </a:rPr>
              <a:t>时间线 </a:t>
            </a:r>
            <a:r>
              <a:rPr lang="en-US" sz="1300" b="0" u="none" strike="noStrike">
                <a:solidFill>
                  <a:srgbClr val="B9C8D6"/>
                </a:solidFill>
                <a:effectLst/>
                <a:uFillTx/>
                <a:latin typeface="Microsoft YaHei"/>
              </a:rPr>
              <a:t>/ </a:t>
            </a:r>
            <a:r>
              <a:rPr lang="zh-CN" sz="1300" b="0" u="none" strike="noStrike">
                <a:solidFill>
                  <a:srgbClr val="B9C8D6"/>
                </a:solidFill>
                <a:effectLst/>
                <a:uFillTx/>
                <a:latin typeface="Microsoft YaHei"/>
              </a:rPr>
              <a:t>柱形图 </a:t>
            </a:r>
            <a:r>
              <a:rPr lang="en-US" sz="1300" b="0" u="none" strike="noStrike">
                <a:solidFill>
                  <a:srgbClr val="B9C8D6"/>
                </a:solidFill>
                <a:effectLst/>
                <a:uFillTx/>
                <a:latin typeface="Microsoft YaHei"/>
              </a:rPr>
              <a:t>/ </a:t>
            </a:r>
            <a:r>
              <a:rPr lang="zh-CN" sz="1300" b="0" u="none" strike="noStrike">
                <a:solidFill>
                  <a:srgbClr val="B9C8D6"/>
                </a:solidFill>
                <a:effectLst/>
                <a:uFillTx/>
                <a:latin typeface="Microsoft YaHei"/>
              </a:rPr>
              <a:t>饼图 </a:t>
            </a:r>
            <a:r>
              <a:rPr lang="en-US" sz="1300" b="0" u="none" strike="noStrike">
                <a:solidFill>
                  <a:srgbClr val="B9C8D6"/>
                </a:solidFill>
                <a:effectLst/>
                <a:uFillTx/>
                <a:latin typeface="Microsoft YaHei"/>
              </a:rPr>
              <a:t>/ </a:t>
            </a:r>
            <a:r>
              <a:rPr lang="zh-CN" sz="1300" b="0" u="none" strike="noStrike">
                <a:solidFill>
                  <a:srgbClr val="B9C8D6"/>
                </a:solidFill>
                <a:effectLst/>
                <a:uFillTx/>
                <a:latin typeface="Microsoft YaHei"/>
              </a:rPr>
              <a:t>流程图 </a:t>
            </a:r>
            <a:r>
              <a:rPr lang="en-US" sz="1300" b="0" u="none" strike="noStrike">
                <a:solidFill>
                  <a:srgbClr val="B9C8D6"/>
                </a:solidFill>
                <a:effectLst/>
                <a:uFillTx/>
                <a:latin typeface="Microsoft YaHei"/>
              </a:rPr>
              <a:t>/ SVG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wp_slide_01_source"/>
          <p:cNvSpPr txBox="1"/>
          <p:nvPr/>
        </p:nvSpPr>
        <p:spPr>
          <a:xfrm>
            <a:off x="756000" y="4608000"/>
            <a:ext cx="4608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900" b="0" u="none" strike="noStrike">
                <a:solidFill>
                  <a:srgbClr val="A8BAC9"/>
                </a:solidFill>
                <a:effectLst/>
                <a:uFillTx/>
                <a:latin typeface="Microsoft YaHei"/>
              </a:rPr>
              <a:t>内容参考 </a:t>
            </a:r>
            <a:r>
              <a:rPr lang="en-US" sz="900" b="0" u="none" strike="noStrike">
                <a:solidFill>
                  <a:srgbClr val="A8BAC9"/>
                </a:solidFill>
                <a:effectLst/>
                <a:uFillTx/>
                <a:latin typeface="Microsoft YaHei"/>
              </a:rPr>
              <a:t>Wikipedia</a:t>
            </a:r>
            <a:r>
              <a:rPr lang="zh-CN" sz="900" b="0" u="none" strike="noStrike">
                <a:solidFill>
                  <a:srgbClr val="A8BAC9"/>
                </a:solidFill>
                <a:effectLst/>
                <a:uFillTx/>
                <a:latin typeface="Microsoft YaHei"/>
              </a:rPr>
              <a:t>：</a:t>
            </a:r>
            <a:r>
              <a:rPr lang="en-US" sz="900" b="0" u="none" strike="noStrike">
                <a:solidFill>
                  <a:srgbClr val="A8BAC9"/>
                </a:solidFill>
                <a:effectLst/>
                <a:uFillTx/>
                <a:latin typeface="Microsoft YaHei"/>
              </a:rPr>
              <a:t>James Webb Space Telescope</a:t>
            </a:r>
            <a:r>
              <a:rPr lang="zh-CN" sz="900" b="0" u="none" strike="noStrike">
                <a:solidFill>
                  <a:srgbClr val="A8BAC9"/>
                </a:solidFill>
                <a:effectLst/>
                <a:uFillTx/>
                <a:latin typeface="Microsoft YaHei"/>
              </a:rPr>
              <a:t>；数据为教学展示。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wp_slide_02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BF9F4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wp_slide_02_kicker"/>
          <p:cNvSpPr txBox="1"/>
          <p:nvPr/>
        </p:nvSpPr>
        <p:spPr>
          <a:xfrm>
            <a:off x="540000" y="252000"/>
            <a:ext cx="331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MISSION PILLARS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wp_slide_02_title"/>
          <p:cNvSpPr txBox="1"/>
          <p:nvPr/>
        </p:nvSpPr>
        <p:spPr>
          <a:xfrm>
            <a:off x="540000" y="486000"/>
            <a:ext cx="7920000" cy="5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9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为什么它改变了天文学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wp_slide_02_number"/>
          <p:cNvSpPr txBox="1"/>
          <p:nvPr/>
        </p:nvSpPr>
        <p:spPr>
          <a:xfrm>
            <a:off x="8892000" y="306000"/>
            <a:ext cx="64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wp_slide_02_card_1"/>
          <p:cNvSpPr/>
          <p:nvPr/>
        </p:nvSpPr>
        <p:spPr>
          <a:xfrm>
            <a:off x="540000" y="1260000"/>
            <a:ext cx="2844000" cy="28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wp_slide_02_card_1_top"/>
          <p:cNvSpPr/>
          <p:nvPr/>
        </p:nvSpPr>
        <p:spPr>
          <a:xfrm>
            <a:off x="540000" y="1260000"/>
            <a:ext cx="2844000" cy="57600"/>
          </a:xfrm>
          <a:prstGeom prst="rect">
            <a:avLst/>
          </a:prstGeom>
          <a:solidFill>
            <a:srgbClr val="1F7782"/>
          </a:solidFill>
          <a:ln w="0">
            <a:noFill/>
          </a:ln>
        </p:spPr>
        <p:txBody>
          <a:bodyPr lIns="90000" tIns="12600" rIns="90000" bIns="126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wp_slide_02_card_1_number"/>
          <p:cNvSpPr txBox="1"/>
          <p:nvPr/>
        </p:nvSpPr>
        <p:spPr>
          <a:xfrm>
            <a:off x="738000" y="1512000"/>
            <a:ext cx="540000" cy="37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000" b="1" u="none" strike="noStrike">
                <a:solidFill>
                  <a:srgbClr val="1F7782"/>
                </a:solidFill>
                <a:effectLst/>
                <a:uFillTx/>
                <a:latin typeface="Microsoft YaHei"/>
              </a:rPr>
              <a:t>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wp_slide_02_card_1_title"/>
          <p:cNvSpPr txBox="1"/>
          <p:nvPr/>
        </p:nvSpPr>
        <p:spPr>
          <a:xfrm>
            <a:off x="738000" y="2070000"/>
            <a:ext cx="2448000" cy="4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7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更冷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wp_slide_02_card_1_body"/>
          <p:cNvSpPr txBox="1"/>
          <p:nvPr/>
        </p:nvSpPr>
        <p:spPr>
          <a:xfrm>
            <a:off x="738000" y="2736000"/>
            <a:ext cx="2448000" cy="91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500" b="0" u="none" strike="noStrike">
                <a:solidFill>
                  <a:srgbClr val="30445D"/>
                </a:solidFill>
                <a:effectLst/>
                <a:uFillTx/>
                <a:latin typeface="Microsoft YaHei"/>
              </a:rPr>
              <a:t>五层遮阳板把望远镜保持在低温环境，降低自身红外辐射。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wp_slide_02_card_2"/>
          <p:cNvSpPr/>
          <p:nvPr/>
        </p:nvSpPr>
        <p:spPr>
          <a:xfrm>
            <a:off x="3618000" y="1260000"/>
            <a:ext cx="2844000" cy="28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wp_slide_02_card_2_top"/>
          <p:cNvSpPr/>
          <p:nvPr/>
        </p:nvSpPr>
        <p:spPr>
          <a:xfrm>
            <a:off x="3618000" y="1260000"/>
            <a:ext cx="2844000" cy="57600"/>
          </a:xfrm>
          <a:prstGeom prst="rect">
            <a:avLst/>
          </a:prstGeom>
          <a:solidFill>
            <a:srgbClr val="D2A03F"/>
          </a:solidFill>
          <a:ln w="0">
            <a:noFill/>
          </a:ln>
        </p:spPr>
        <p:txBody>
          <a:bodyPr lIns="90000" tIns="12600" rIns="90000" bIns="12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wp_slide_02_card_2_number"/>
          <p:cNvSpPr txBox="1"/>
          <p:nvPr/>
        </p:nvSpPr>
        <p:spPr>
          <a:xfrm>
            <a:off x="3816000" y="1512000"/>
            <a:ext cx="540000" cy="37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0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02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wp_slide_02_card_2_title"/>
          <p:cNvSpPr txBox="1"/>
          <p:nvPr/>
        </p:nvSpPr>
        <p:spPr>
          <a:xfrm>
            <a:off x="3816000" y="2070000"/>
            <a:ext cx="2448000" cy="4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7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更大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wp_slide_02_card_2_body"/>
          <p:cNvSpPr txBox="1"/>
          <p:nvPr/>
        </p:nvSpPr>
        <p:spPr>
          <a:xfrm>
            <a:off x="3816000" y="2736000"/>
            <a:ext cx="2448000" cy="91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30445D"/>
                </a:solidFill>
                <a:effectLst/>
                <a:uFillTx/>
                <a:latin typeface="Microsoft YaHei"/>
              </a:rPr>
              <a:t>6.5 </a:t>
            </a:r>
            <a:r>
              <a:rPr lang="zh-CN" sz="1500" b="0" u="none" strike="noStrike">
                <a:solidFill>
                  <a:srgbClr val="30445D"/>
                </a:solidFill>
                <a:effectLst/>
                <a:uFillTx/>
                <a:latin typeface="Microsoft YaHei"/>
              </a:rPr>
              <a:t>米主镜提供更强集光能力，分段镜片在太空中展开并校准。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wp_slide_02_card_3"/>
          <p:cNvSpPr/>
          <p:nvPr/>
        </p:nvSpPr>
        <p:spPr>
          <a:xfrm>
            <a:off x="6696000" y="1260000"/>
            <a:ext cx="2844000" cy="28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wp_slide_02_card_3_top"/>
          <p:cNvSpPr/>
          <p:nvPr/>
        </p:nvSpPr>
        <p:spPr>
          <a:xfrm>
            <a:off x="6696000" y="1260000"/>
            <a:ext cx="2844000" cy="57600"/>
          </a:xfrm>
          <a:prstGeom prst="rect">
            <a:avLst/>
          </a:prstGeom>
          <a:solidFill>
            <a:srgbClr val="DB6748"/>
          </a:solidFill>
          <a:ln w="0">
            <a:noFill/>
          </a:ln>
        </p:spPr>
        <p:txBody>
          <a:bodyPr lIns="90000" tIns="12600" rIns="90000" bIns="126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wp_slide_02_card_3_number"/>
          <p:cNvSpPr txBox="1"/>
          <p:nvPr/>
        </p:nvSpPr>
        <p:spPr>
          <a:xfrm>
            <a:off x="6894000" y="1512000"/>
            <a:ext cx="540000" cy="37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000" b="1" u="none" strike="noStrike">
                <a:solidFill>
                  <a:srgbClr val="DB6748"/>
                </a:solidFill>
                <a:effectLst/>
                <a:uFillTx/>
                <a:latin typeface="Microsoft YaHei"/>
              </a:rPr>
              <a:t>03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wp_slide_02_card_3_title"/>
          <p:cNvSpPr txBox="1"/>
          <p:nvPr/>
        </p:nvSpPr>
        <p:spPr>
          <a:xfrm>
            <a:off x="6894000" y="2070000"/>
            <a:ext cx="2448000" cy="4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7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更远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wp_slide_02_card_3_body"/>
          <p:cNvSpPr txBox="1"/>
          <p:nvPr/>
        </p:nvSpPr>
        <p:spPr>
          <a:xfrm>
            <a:off x="6894000" y="2736000"/>
            <a:ext cx="2448000" cy="91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500" b="0" u="none" strike="noStrike">
                <a:solidFill>
                  <a:srgbClr val="30445D"/>
                </a:solidFill>
                <a:effectLst/>
                <a:uFillTx/>
                <a:latin typeface="Microsoft YaHei"/>
              </a:rPr>
              <a:t>红外观测穿透尘埃，并追踪早期星系和系外行星大气。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wp_slide_02_insight"/>
          <p:cNvSpPr txBox="1"/>
          <p:nvPr/>
        </p:nvSpPr>
        <p:spPr>
          <a:xfrm>
            <a:off x="1440000" y="4464000"/>
            <a:ext cx="7200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6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系统洞察：低温、口径与红外波段共同决定观测边界。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wp_slide_02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D2A03F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wp_slide_02_footer_left"/>
          <p:cNvSpPr txBox="1"/>
          <p:nvPr/>
        </p:nvSpPr>
        <p:spPr>
          <a:xfrm>
            <a:off x="540000" y="5320800"/>
            <a:ext cx="6624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7B8797"/>
                </a:solidFill>
                <a:effectLst/>
                <a:uFillTx/>
                <a:latin typeface="Microsoft YaHei"/>
              </a:rPr>
              <a:t>UNO / LibreOffice · JWST from-scratch regression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wp_slide_02_footer_right"/>
          <p:cNvSpPr txBox="1"/>
          <p:nvPr/>
        </p:nvSpPr>
        <p:spPr>
          <a:xfrm>
            <a:off x="8352000" y="53208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7B8797"/>
                </a:solidFill>
                <a:effectLst/>
                <a:uFillTx/>
                <a:latin typeface="Microsoft YaHei"/>
              </a:rPr>
              <a:t>2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wp_slide_03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07182B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wp_slide_03_kicker"/>
          <p:cNvSpPr txBox="1"/>
          <p:nvPr/>
        </p:nvSpPr>
        <p:spPr>
          <a:xfrm>
            <a:off x="540000" y="252000"/>
            <a:ext cx="331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OPTICAL PATH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wp_slide_03_title"/>
          <p:cNvSpPr txBox="1"/>
          <p:nvPr/>
        </p:nvSpPr>
        <p:spPr>
          <a:xfrm>
            <a:off x="540000" y="486000"/>
            <a:ext cx="7920000" cy="5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900" b="1" u="none" strike="noStrike">
                <a:solidFill>
                  <a:srgbClr val="FFFFFF"/>
                </a:solidFill>
                <a:effectLst/>
                <a:uFillTx/>
                <a:latin typeface="Microsoft YaHei"/>
              </a:rPr>
              <a:t>一束光如何变成科学数据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wp_slide_03_number"/>
          <p:cNvSpPr txBox="1"/>
          <p:nvPr/>
        </p:nvSpPr>
        <p:spPr>
          <a:xfrm>
            <a:off x="8892000" y="306000"/>
            <a:ext cx="64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C9D6E2"/>
                </a:solidFill>
                <a:effectLst/>
                <a:uFillTx/>
                <a:latin typeface="Microsoft YaHei"/>
              </a:rPr>
              <a:t>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wp_slide_03_light_path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40000" y="1224000"/>
            <a:ext cx="9000000" cy="280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wp_slide_03_note_1"/>
          <p:cNvSpPr/>
          <p:nvPr/>
        </p:nvSpPr>
        <p:spPr>
          <a:xfrm>
            <a:off x="540000" y="4248000"/>
            <a:ext cx="2880000" cy="756000"/>
          </a:xfrm>
          <a:prstGeom prst="rect">
            <a:avLst/>
          </a:prstGeom>
          <a:solidFill>
            <a:srgbClr val="102C4C"/>
          </a:solidFill>
          <a:ln w="12600">
            <a:solidFill>
              <a:srgbClr val="D2A03F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wp_slide_03_note_1_title"/>
          <p:cNvSpPr txBox="1"/>
          <p:nvPr/>
        </p:nvSpPr>
        <p:spPr>
          <a:xfrm>
            <a:off x="666000" y="4334400"/>
            <a:ext cx="612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5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收集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wp_slide_03_note_1_body"/>
          <p:cNvSpPr txBox="1"/>
          <p:nvPr/>
        </p:nvSpPr>
        <p:spPr>
          <a:xfrm>
            <a:off x="1332000" y="4334400"/>
            <a:ext cx="1962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200" b="0" u="none" strike="noStrike">
                <a:solidFill>
                  <a:srgbClr val="DCE7F0"/>
                </a:solidFill>
                <a:effectLst/>
                <a:uFillTx/>
                <a:latin typeface="Microsoft YaHei"/>
              </a:rPr>
              <a:t>主镜汇聚微弱红外光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wp_slide_03_note_2"/>
          <p:cNvSpPr/>
          <p:nvPr/>
        </p:nvSpPr>
        <p:spPr>
          <a:xfrm>
            <a:off x="3600000" y="4248000"/>
            <a:ext cx="2880000" cy="756000"/>
          </a:xfrm>
          <a:prstGeom prst="rect">
            <a:avLst/>
          </a:prstGeom>
          <a:solidFill>
            <a:srgbClr val="102C4C"/>
          </a:solidFill>
          <a:ln w="12600">
            <a:solidFill>
              <a:srgbClr val="D2A03F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wp_slide_03_note_2_title"/>
          <p:cNvSpPr txBox="1"/>
          <p:nvPr/>
        </p:nvSpPr>
        <p:spPr>
          <a:xfrm>
            <a:off x="3726000" y="4334400"/>
            <a:ext cx="612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5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分析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wp_slide_03_note_2_body"/>
          <p:cNvSpPr txBox="1"/>
          <p:nvPr/>
        </p:nvSpPr>
        <p:spPr>
          <a:xfrm>
            <a:off x="4392000" y="4334400"/>
            <a:ext cx="1962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200" b="0" u="none" strike="noStrike">
                <a:solidFill>
                  <a:srgbClr val="DCE7F0"/>
                </a:solidFill>
                <a:effectLst/>
                <a:uFillTx/>
                <a:latin typeface="Microsoft YaHei"/>
              </a:rPr>
              <a:t>仪器完成成像与光谱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wp_slide_03_note_3"/>
          <p:cNvSpPr/>
          <p:nvPr/>
        </p:nvSpPr>
        <p:spPr>
          <a:xfrm>
            <a:off x="6660000" y="4248000"/>
            <a:ext cx="2880000" cy="756000"/>
          </a:xfrm>
          <a:prstGeom prst="rect">
            <a:avLst/>
          </a:prstGeom>
          <a:solidFill>
            <a:srgbClr val="102C4C"/>
          </a:solidFill>
          <a:ln w="12600">
            <a:solidFill>
              <a:srgbClr val="D2A03F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wp_slide_03_note_3_title"/>
          <p:cNvSpPr txBox="1"/>
          <p:nvPr/>
        </p:nvSpPr>
        <p:spPr>
          <a:xfrm>
            <a:off x="6786000" y="4334400"/>
            <a:ext cx="612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5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传输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wp_slide_03_note_3_body"/>
          <p:cNvSpPr txBox="1"/>
          <p:nvPr/>
        </p:nvSpPr>
        <p:spPr>
          <a:xfrm>
            <a:off x="7452000" y="4334400"/>
            <a:ext cx="1962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200" b="0" u="none" strike="noStrike">
                <a:solidFill>
                  <a:srgbClr val="DCE7F0"/>
                </a:solidFill>
                <a:effectLst/>
                <a:uFillTx/>
                <a:latin typeface="Microsoft YaHei"/>
              </a:rPr>
              <a:t>编码后经深空网络下传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wp_slide_03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D2A03F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wp_slide_03_footer_left"/>
          <p:cNvSpPr txBox="1"/>
          <p:nvPr/>
        </p:nvSpPr>
        <p:spPr>
          <a:xfrm>
            <a:off x="540000" y="5320800"/>
            <a:ext cx="6624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C3D0DC"/>
                </a:solidFill>
                <a:effectLst/>
                <a:uFillTx/>
                <a:latin typeface="Microsoft YaHei"/>
              </a:rPr>
              <a:t>UNO / LibreOffice · JWST from-scratch regression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wp_slide_03_footer_right"/>
          <p:cNvSpPr txBox="1"/>
          <p:nvPr/>
        </p:nvSpPr>
        <p:spPr>
          <a:xfrm>
            <a:off x="8352000" y="53208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C3D0DC"/>
                </a:solidFill>
                <a:effectLst/>
                <a:uFillTx/>
                <a:latin typeface="Microsoft YaHei"/>
              </a:rPr>
              <a:t>3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wp_slide_04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BF9F4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wp_slide_04_kicker"/>
          <p:cNvSpPr txBox="1"/>
          <p:nvPr/>
        </p:nvSpPr>
        <p:spPr>
          <a:xfrm>
            <a:off x="540000" y="252000"/>
            <a:ext cx="331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TIMELINE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wp_slide_04_title"/>
          <p:cNvSpPr txBox="1"/>
          <p:nvPr/>
        </p:nvSpPr>
        <p:spPr>
          <a:xfrm>
            <a:off x="540000" y="486000"/>
            <a:ext cx="7920000" cy="5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9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三十年的任务时间线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wp_slide_04_number"/>
          <p:cNvSpPr txBox="1"/>
          <p:nvPr/>
        </p:nvSpPr>
        <p:spPr>
          <a:xfrm>
            <a:off x="8892000" y="306000"/>
            <a:ext cx="64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wp_slide_04_timeline_line"/>
          <p:cNvSpPr/>
          <p:nvPr/>
        </p:nvSpPr>
        <p:spPr>
          <a:xfrm>
            <a:off x="684000" y="2844000"/>
            <a:ext cx="8640000" cy="11520"/>
          </a:xfrm>
          <a:prstGeom prst="rect">
            <a:avLst/>
          </a:prstGeom>
          <a:solidFill>
            <a:srgbClr val="A7B5C2"/>
          </a:solidFill>
          <a:ln w="0">
            <a:noFill/>
          </a:ln>
        </p:spPr>
        <p:txBody>
          <a:bodyPr lIns="90000" tIns="-33480" rIns="90000" bIns="-334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wp_slide_04_node_1"/>
          <p:cNvSpPr/>
          <p:nvPr/>
        </p:nvSpPr>
        <p:spPr>
          <a:xfrm>
            <a:off x="1328400" y="2768400"/>
            <a:ext cx="151200" cy="151200"/>
          </a:xfrm>
          <a:prstGeom prst="ellipse">
            <a:avLst/>
          </a:prstGeom>
          <a:solidFill>
            <a:srgbClr val="D2A03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wp_slide_04_year_1"/>
          <p:cNvSpPr txBox="1"/>
          <p:nvPr/>
        </p:nvSpPr>
        <p:spPr>
          <a:xfrm>
            <a:off x="900000" y="1584000"/>
            <a:ext cx="100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5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1996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wp_slide_04_title_1"/>
          <p:cNvSpPr txBox="1"/>
          <p:nvPr/>
        </p:nvSpPr>
        <p:spPr>
          <a:xfrm>
            <a:off x="792000" y="1890000"/>
            <a:ext cx="1224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7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概念启动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wp_slide_04_body_1"/>
          <p:cNvSpPr txBox="1"/>
          <p:nvPr/>
        </p:nvSpPr>
        <p:spPr>
          <a:xfrm>
            <a:off x="756000" y="2214000"/>
            <a:ext cx="1296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100" b="0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下一代空间望远镜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wp_slide_04_node_2"/>
          <p:cNvSpPr/>
          <p:nvPr/>
        </p:nvSpPr>
        <p:spPr>
          <a:xfrm>
            <a:off x="2768400" y="2768400"/>
            <a:ext cx="151200" cy="151200"/>
          </a:xfrm>
          <a:prstGeom prst="ellipse">
            <a:avLst/>
          </a:prstGeom>
          <a:solidFill>
            <a:srgbClr val="1F7782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wp_slide_04_year_2"/>
          <p:cNvSpPr txBox="1"/>
          <p:nvPr/>
        </p:nvSpPr>
        <p:spPr>
          <a:xfrm>
            <a:off x="2340000" y="3060000"/>
            <a:ext cx="100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500" b="1" u="none" strike="noStrike">
                <a:solidFill>
                  <a:srgbClr val="1F7782"/>
                </a:solidFill>
                <a:effectLst/>
                <a:uFillTx/>
                <a:latin typeface="Microsoft YaHei"/>
              </a:rPr>
              <a:t>2002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wp_slide_04_title_2"/>
          <p:cNvSpPr txBox="1"/>
          <p:nvPr/>
        </p:nvSpPr>
        <p:spPr>
          <a:xfrm>
            <a:off x="2232000" y="3366000"/>
            <a:ext cx="1224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7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正式命名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wp_slide_04_body_2"/>
          <p:cNvSpPr txBox="1"/>
          <p:nvPr/>
        </p:nvSpPr>
        <p:spPr>
          <a:xfrm>
            <a:off x="2196000" y="3690000"/>
            <a:ext cx="1296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100" b="0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任务架构逐步确定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wp_slide_04_node_3"/>
          <p:cNvSpPr/>
          <p:nvPr/>
        </p:nvSpPr>
        <p:spPr>
          <a:xfrm>
            <a:off x="4208400" y="2768400"/>
            <a:ext cx="151200" cy="151200"/>
          </a:xfrm>
          <a:prstGeom prst="ellipse">
            <a:avLst/>
          </a:prstGeom>
          <a:solidFill>
            <a:srgbClr val="4F79B2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wp_slide_04_year_3"/>
          <p:cNvSpPr txBox="1"/>
          <p:nvPr/>
        </p:nvSpPr>
        <p:spPr>
          <a:xfrm>
            <a:off x="3780000" y="1584000"/>
            <a:ext cx="100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500" b="1" u="none" strike="noStrike">
                <a:solidFill>
                  <a:srgbClr val="4F79B2"/>
                </a:solidFill>
                <a:effectLst/>
                <a:uFillTx/>
                <a:latin typeface="Microsoft YaHei"/>
              </a:rPr>
              <a:t>2011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wp_slide_04_title_3"/>
          <p:cNvSpPr txBox="1"/>
          <p:nvPr/>
        </p:nvSpPr>
        <p:spPr>
          <a:xfrm>
            <a:off x="3672000" y="1890000"/>
            <a:ext cx="1224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7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镜片完成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wp_slide_04_body_3"/>
          <p:cNvSpPr txBox="1"/>
          <p:nvPr/>
        </p:nvSpPr>
        <p:spPr>
          <a:xfrm>
            <a:off x="3636000" y="2214000"/>
            <a:ext cx="1296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100" b="0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18 </a:t>
            </a:r>
            <a:r>
              <a:rPr lang="zh-CN" sz="1100" b="0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块主镜进入集成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wp_slide_04_node_4"/>
          <p:cNvSpPr/>
          <p:nvPr/>
        </p:nvSpPr>
        <p:spPr>
          <a:xfrm>
            <a:off x="5648400" y="2768400"/>
            <a:ext cx="151200" cy="151200"/>
          </a:xfrm>
          <a:prstGeom prst="ellipse">
            <a:avLst/>
          </a:prstGeom>
          <a:solidFill>
            <a:srgbClr val="9166B5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wp_slide_04_year_4"/>
          <p:cNvSpPr txBox="1"/>
          <p:nvPr/>
        </p:nvSpPr>
        <p:spPr>
          <a:xfrm>
            <a:off x="5220000" y="3060000"/>
            <a:ext cx="100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500" b="1" u="none" strike="noStrike">
                <a:solidFill>
                  <a:srgbClr val="9166B5"/>
                </a:solidFill>
                <a:effectLst/>
                <a:uFillTx/>
                <a:latin typeface="Microsoft YaHei"/>
              </a:rPr>
              <a:t>2016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wp_slide_04_title_4"/>
          <p:cNvSpPr txBox="1"/>
          <p:nvPr/>
        </p:nvSpPr>
        <p:spPr>
          <a:xfrm>
            <a:off x="5112000" y="3366000"/>
            <a:ext cx="1224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7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整机集成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wp_slide_04_body_4"/>
          <p:cNvSpPr txBox="1"/>
          <p:nvPr/>
        </p:nvSpPr>
        <p:spPr>
          <a:xfrm>
            <a:off x="5076000" y="3690000"/>
            <a:ext cx="1296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100" b="0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仪器与镜体合并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wp_slide_04_node_5"/>
          <p:cNvSpPr/>
          <p:nvPr/>
        </p:nvSpPr>
        <p:spPr>
          <a:xfrm>
            <a:off x="7088400" y="2768400"/>
            <a:ext cx="151200" cy="151200"/>
          </a:xfrm>
          <a:prstGeom prst="ellipse">
            <a:avLst/>
          </a:prstGeom>
          <a:solidFill>
            <a:srgbClr val="DB674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wp_slide_04_year_5"/>
          <p:cNvSpPr txBox="1"/>
          <p:nvPr/>
        </p:nvSpPr>
        <p:spPr>
          <a:xfrm>
            <a:off x="6660000" y="1584000"/>
            <a:ext cx="100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500" b="1" u="none" strike="noStrike">
                <a:solidFill>
                  <a:srgbClr val="DB6748"/>
                </a:solidFill>
                <a:effectLst/>
                <a:uFillTx/>
                <a:latin typeface="Microsoft YaHei"/>
              </a:rPr>
              <a:t>2021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wp_slide_04_title_5"/>
          <p:cNvSpPr txBox="1"/>
          <p:nvPr/>
        </p:nvSpPr>
        <p:spPr>
          <a:xfrm>
            <a:off x="6552000" y="1890000"/>
            <a:ext cx="1224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7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成功发射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wp_slide_04_body_5"/>
          <p:cNvSpPr txBox="1"/>
          <p:nvPr/>
        </p:nvSpPr>
        <p:spPr>
          <a:xfrm>
            <a:off x="6516000" y="2214000"/>
            <a:ext cx="1296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100" b="0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阿丽亚娜 </a:t>
            </a:r>
            <a:r>
              <a:rPr lang="en-US" sz="1100" b="0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5 </a:t>
            </a:r>
            <a:r>
              <a:rPr lang="zh-CN" sz="1100" b="0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号升空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wp_slide_04_node_6"/>
          <p:cNvSpPr/>
          <p:nvPr/>
        </p:nvSpPr>
        <p:spPr>
          <a:xfrm>
            <a:off x="8528400" y="2768400"/>
            <a:ext cx="151200" cy="15120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wp_slide_04_year_6"/>
          <p:cNvSpPr txBox="1"/>
          <p:nvPr/>
        </p:nvSpPr>
        <p:spPr>
          <a:xfrm>
            <a:off x="8100000" y="3060000"/>
            <a:ext cx="100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5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2022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wp_slide_04_title_6"/>
          <p:cNvSpPr txBox="1"/>
          <p:nvPr/>
        </p:nvSpPr>
        <p:spPr>
          <a:xfrm>
            <a:off x="7992000" y="3366000"/>
            <a:ext cx="1224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7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首批图像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wp_slide_04_body_6"/>
          <p:cNvSpPr txBox="1"/>
          <p:nvPr/>
        </p:nvSpPr>
        <p:spPr>
          <a:xfrm>
            <a:off x="7956000" y="3690000"/>
            <a:ext cx="1296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100" b="0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进入常规科学运行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wp_slide_04_caption"/>
          <p:cNvSpPr txBox="1"/>
          <p:nvPr/>
        </p:nvSpPr>
        <p:spPr>
          <a:xfrm>
            <a:off x="1332000" y="4482000"/>
            <a:ext cx="7416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400" b="0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复杂系统的风险并非一次消失，而是在设计、集成、测试和部署中逐步收敛。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wp_slide_04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D2A03F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wp_slide_04_footer_left"/>
          <p:cNvSpPr txBox="1"/>
          <p:nvPr/>
        </p:nvSpPr>
        <p:spPr>
          <a:xfrm>
            <a:off x="540000" y="5320800"/>
            <a:ext cx="6624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7B8797"/>
                </a:solidFill>
                <a:effectLst/>
                <a:uFillTx/>
                <a:latin typeface="Microsoft YaHei"/>
              </a:rPr>
              <a:t>UNO / LibreOffice · JWST from-scratch regression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wp_slide_04_footer_right"/>
          <p:cNvSpPr txBox="1"/>
          <p:nvPr/>
        </p:nvSpPr>
        <p:spPr>
          <a:xfrm>
            <a:off x="8352000" y="53208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7B8797"/>
                </a:solidFill>
                <a:effectLst/>
                <a:uFillTx/>
                <a:latin typeface="Microsoft YaHei"/>
              </a:rPr>
              <a:t>4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wp_slide_05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EEF4F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wp_slide_05_kicker"/>
          <p:cNvSpPr txBox="1"/>
          <p:nvPr/>
        </p:nvSpPr>
        <p:spPr>
          <a:xfrm>
            <a:off x="540000" y="252000"/>
            <a:ext cx="331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NATIVE TABLESHAPE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wp_slide_05_title"/>
          <p:cNvSpPr txBox="1"/>
          <p:nvPr/>
        </p:nvSpPr>
        <p:spPr>
          <a:xfrm>
            <a:off x="540000" y="486000"/>
            <a:ext cx="7920000" cy="5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9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观测波段比较矩阵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wp_slide_05_number"/>
          <p:cNvSpPr txBox="1"/>
          <p:nvPr/>
        </p:nvSpPr>
        <p:spPr>
          <a:xfrm>
            <a:off x="8892000" y="306000"/>
            <a:ext cx="64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wp_slide_05_wavelength_table"/>
          <p:cNvGraphicFramePr/>
          <p:nvPr/>
        </p:nvGraphicFramePr>
        <p:xfrm>
          <a:off x="540000" y="1296000"/>
          <a:ext cx="9000000" cy="2556000"/>
        </p:xfrm>
        <a:graphic>
          <a:graphicData uri="http://schemas.openxmlformats.org/drawingml/2006/table">
            <a:tbl>
              <a:tblPr/>
              <a:tblGrid>
                <a:gridCol w="1548000"/>
                <a:gridCol w="2160000"/>
                <a:gridCol w="2592000"/>
                <a:gridCol w="2700000"/>
              </a:tblGrid>
              <a:tr h="511200">
                <a:tc>
                  <a:txBody>
                    <a:bodyPr lIns="90000" tIns="45000" rIns="90000" bIns="45000" anchor="t">
                      <a:noAutofit/>
                    </a:bodyPr>
                    <a:p>
                      <a:pPr algn="ctr"/>
                      <a:r>
                        <a:rPr lang="zh-CN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</a:rPr>
                        <a:t>平台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</a:rPr>
                        <a:t>主要波段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algn="ctr"/>
                      <a:r>
                        <a:rPr lang="zh-CN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</a:rPr>
                        <a:t>优势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algn="ctr"/>
                      <a:r>
                        <a:rPr lang="zh-CN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</a:rPr>
                        <a:t>代表性问题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24D"/>
                    </a:solidFill>
                  </a:tcPr>
                </a:tc>
              </a:tr>
              <a:tr h="511200">
                <a:tc>
                  <a:txBody>
                    <a:bodyPr lIns="90000" tIns="45000" rIns="90000" bIns="45000" anchor="t">
                      <a:noAutofit/>
                    </a:bodyPr>
                    <a:p>
                      <a:pPr algn="ctr"/>
                      <a:r>
                        <a:rPr lang="zh-CN" sz="1150" b="0" u="none" strike="noStrike">
                          <a:solidFill>
                            <a:srgbClr val="30445D"/>
                          </a:solidFill>
                          <a:effectLst/>
                          <a:uFillTx/>
                          <a:latin typeface="Microsoft YaHei"/>
                        </a:rPr>
                        <a:t>哈勃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AD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150" b="0" u="none" strike="noStrike">
                          <a:solidFill>
                            <a:srgbClr val="30445D"/>
                          </a:solidFill>
                          <a:effectLst/>
                          <a:uFillTx/>
                          <a:latin typeface="Microsoft YaHei"/>
                        </a:rPr>
                        <a:t>紫外—可见—近红外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AD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algn="ctr"/>
                      <a:r>
                        <a:rPr lang="zh-CN" sz="1150" b="0" u="none" strike="noStrike">
                          <a:solidFill>
                            <a:srgbClr val="30445D"/>
                          </a:solidFill>
                          <a:effectLst/>
                          <a:uFillTx/>
                          <a:latin typeface="Microsoft YaHei"/>
                        </a:rPr>
                        <a:t>高分辨率可见光成像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AD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algn="ctr"/>
                      <a:r>
                        <a:rPr lang="zh-CN" sz="1150" b="0" u="none" strike="noStrike">
                          <a:solidFill>
                            <a:srgbClr val="30445D"/>
                          </a:solidFill>
                          <a:effectLst/>
                          <a:uFillTx/>
                          <a:latin typeface="Microsoft YaHei"/>
                        </a:rPr>
                        <a:t>星系结构、恒星形成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ADF"/>
                    </a:solidFill>
                  </a:tcPr>
                </a:tc>
              </a:tr>
              <a:tr h="511200">
                <a:tc>
                  <a:txBody>
                    <a:bodyPr lIns="90000" tIns="45000" rIns="90000" bIns="45000" anchor="t">
                      <a:noAutofit/>
                    </a:bodyPr>
                    <a:p>
                      <a:pPr algn="ctr"/>
                      <a:r>
                        <a:rPr lang="zh-CN" sz="1150" b="0" u="none" strike="noStrike">
                          <a:solidFill>
                            <a:srgbClr val="30445D"/>
                          </a:solidFill>
                          <a:effectLst/>
                          <a:uFillTx/>
                          <a:latin typeface="Microsoft YaHei"/>
                        </a:rPr>
                        <a:t>韦布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150" b="0" u="none" strike="noStrike">
                          <a:solidFill>
                            <a:srgbClr val="30445D"/>
                          </a:solidFill>
                          <a:effectLst/>
                          <a:uFillTx/>
                          <a:latin typeface="Microsoft YaHei"/>
                        </a:rPr>
                        <a:t>近红外—中红外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algn="ctr"/>
                      <a:r>
                        <a:rPr lang="zh-CN" sz="1150" b="0" u="none" strike="noStrike">
                          <a:solidFill>
                            <a:srgbClr val="30445D"/>
                          </a:solidFill>
                          <a:effectLst/>
                          <a:uFillTx/>
                          <a:latin typeface="Microsoft YaHei"/>
                        </a:rPr>
                        <a:t>低温、大口径与光谱能力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algn="ctr"/>
                      <a:r>
                        <a:rPr lang="zh-CN" sz="1150" b="0" u="none" strike="noStrike">
                          <a:solidFill>
                            <a:srgbClr val="30445D"/>
                          </a:solidFill>
                          <a:effectLst/>
                          <a:uFillTx/>
                          <a:latin typeface="Microsoft YaHei"/>
                        </a:rPr>
                        <a:t>早期星系、系外行星大气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1200">
                <a:tc>
                  <a:txBody>
                    <a:bodyPr lIns="90000" tIns="45000" rIns="90000" bIns="45000" anchor="t">
                      <a:noAutofit/>
                    </a:bodyPr>
                    <a:p>
                      <a:pPr algn="ctr"/>
                      <a:r>
                        <a:rPr lang="zh-CN" sz="1150" b="0" u="none" strike="noStrike">
                          <a:solidFill>
                            <a:srgbClr val="30445D"/>
                          </a:solidFill>
                          <a:effectLst/>
                          <a:uFillTx/>
                          <a:latin typeface="Microsoft YaHei"/>
                        </a:rPr>
                        <a:t>地面大型望远镜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AD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150" b="0" u="none" strike="noStrike">
                          <a:solidFill>
                            <a:srgbClr val="30445D"/>
                          </a:solidFill>
                          <a:effectLst/>
                          <a:uFillTx/>
                          <a:latin typeface="Microsoft YaHei"/>
                        </a:rPr>
                        <a:t>可见—红外窗口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AD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algn="ctr"/>
                      <a:r>
                        <a:rPr lang="zh-CN" sz="1150" b="0" u="none" strike="noStrike">
                          <a:solidFill>
                            <a:srgbClr val="30445D"/>
                          </a:solidFill>
                          <a:effectLst/>
                          <a:uFillTx/>
                          <a:latin typeface="Microsoft YaHei"/>
                        </a:rPr>
                        <a:t>大口径与持续升级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AD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algn="ctr"/>
                      <a:r>
                        <a:rPr lang="zh-CN" sz="1150" b="0" u="none" strike="noStrike">
                          <a:solidFill>
                            <a:srgbClr val="30445D"/>
                          </a:solidFill>
                          <a:effectLst/>
                          <a:uFillTx/>
                          <a:latin typeface="Microsoft YaHei"/>
                        </a:rPr>
                        <a:t>高分辨率光谱、瞬变源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ADF"/>
                    </a:solidFill>
                  </a:tcPr>
                </a:tc>
              </a:tr>
              <a:tr h="511200">
                <a:tc>
                  <a:txBody>
                    <a:bodyPr lIns="90000" tIns="45000" rIns="90000" bIns="45000" anchor="t">
                      <a:noAutofit/>
                    </a:bodyPr>
                    <a:p>
                      <a:pPr algn="ctr"/>
                      <a:r>
                        <a:rPr lang="zh-CN" sz="1150" b="0" u="none" strike="noStrike">
                          <a:solidFill>
                            <a:srgbClr val="30445D"/>
                          </a:solidFill>
                          <a:effectLst/>
                          <a:uFillTx/>
                          <a:latin typeface="Microsoft YaHei"/>
                        </a:rPr>
                        <a:t>射电阵列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150" b="0" u="none" strike="noStrike">
                          <a:solidFill>
                            <a:srgbClr val="30445D"/>
                          </a:solidFill>
                          <a:effectLst/>
                          <a:uFillTx/>
                          <a:latin typeface="Microsoft YaHei"/>
                        </a:rPr>
                        <a:t>毫米—射电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algn="ctr"/>
                      <a:r>
                        <a:rPr lang="zh-CN" sz="1150" b="0" u="none" strike="noStrike">
                          <a:solidFill>
                            <a:srgbClr val="30445D"/>
                          </a:solidFill>
                          <a:effectLst/>
                          <a:uFillTx/>
                          <a:latin typeface="Microsoft YaHei"/>
                        </a:rPr>
                        <a:t>穿透尘埃、干涉测量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algn="ctr"/>
                      <a:r>
                        <a:rPr lang="zh-CN" sz="1150" b="0" u="none" strike="noStrike">
                          <a:solidFill>
                            <a:srgbClr val="30445D"/>
                          </a:solidFill>
                          <a:effectLst/>
                          <a:uFillTx/>
                          <a:latin typeface="Microsoft YaHei"/>
                        </a:rPr>
                        <a:t>冷气体、脉冲星、黑洞环境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" name="wp_slide_05_note"/>
          <p:cNvSpPr txBox="1"/>
          <p:nvPr/>
        </p:nvSpPr>
        <p:spPr>
          <a:xfrm>
            <a:off x="1260000" y="4176000"/>
            <a:ext cx="7560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400" b="0" u="none" strike="noStrike">
                <a:solidFill>
                  <a:srgbClr val="30445D"/>
                </a:solidFill>
                <a:effectLst/>
                <a:uFillTx/>
                <a:latin typeface="Microsoft YaHei"/>
              </a:rPr>
              <a:t>原生 </a:t>
            </a:r>
            <a:r>
              <a:rPr lang="en-US" sz="1400" b="0" u="none" strike="noStrike">
                <a:solidFill>
                  <a:srgbClr val="30445D"/>
                </a:solidFill>
                <a:effectLst/>
                <a:uFillTx/>
                <a:latin typeface="Microsoft YaHei"/>
              </a:rPr>
              <a:t>UNO TableShape</a:t>
            </a:r>
            <a:r>
              <a:rPr lang="zh-CN" sz="1400" b="0" u="none" strike="noStrike">
                <a:solidFill>
                  <a:srgbClr val="30445D"/>
                </a:solidFill>
                <a:effectLst/>
                <a:uFillTx/>
                <a:latin typeface="Microsoft YaHei"/>
              </a:rPr>
              <a:t>：重复行样式、固定列宽、单元格字体与对齐均在保存后重开验证。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wp_slide_05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D2A03F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wp_slide_05_footer_left"/>
          <p:cNvSpPr txBox="1"/>
          <p:nvPr/>
        </p:nvSpPr>
        <p:spPr>
          <a:xfrm>
            <a:off x="540000" y="5320800"/>
            <a:ext cx="6624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7B8797"/>
                </a:solidFill>
                <a:effectLst/>
                <a:uFillTx/>
                <a:latin typeface="Microsoft YaHei"/>
              </a:rPr>
              <a:t>UNO / LibreOffice · JWST from-scratch regression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wp_slide_05_footer_right"/>
          <p:cNvSpPr txBox="1"/>
          <p:nvPr/>
        </p:nvSpPr>
        <p:spPr>
          <a:xfrm>
            <a:off x="8352000" y="53208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7B8797"/>
                </a:solidFill>
                <a:effectLst/>
                <a:uFillTx/>
                <a:latin typeface="Microsoft YaHei"/>
              </a:rPr>
              <a:t>5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wp_slide_06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BF9F4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wp_slide_06_kicker"/>
          <p:cNvSpPr txBox="1"/>
          <p:nvPr/>
        </p:nvSpPr>
        <p:spPr>
          <a:xfrm>
            <a:off x="540000" y="252000"/>
            <a:ext cx="331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SEGMENTATION + PIE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wp_slide_06_title"/>
          <p:cNvSpPr txBox="1"/>
          <p:nvPr/>
        </p:nvSpPr>
        <p:spPr>
          <a:xfrm>
            <a:off x="540000" y="486000"/>
            <a:ext cx="7920000" cy="5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9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18 </a:t>
            </a:r>
            <a:r>
              <a:rPr lang="zh-CN" sz="29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块镜片如何成为一面主镜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wp_slide_06_number"/>
          <p:cNvSpPr txBox="1"/>
          <p:nvPr/>
        </p:nvSpPr>
        <p:spPr>
          <a:xfrm>
            <a:off x="8892000" y="306000"/>
            <a:ext cx="64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wp_slide_06_image_card"/>
          <p:cNvSpPr/>
          <p:nvPr/>
        </p:nvSpPr>
        <p:spPr>
          <a:xfrm>
            <a:off x="540000" y="1260000"/>
            <a:ext cx="4564080" cy="3420000"/>
          </a:xfrm>
          <a:prstGeom prst="rect">
            <a:avLst/>
          </a:prstGeom>
          <a:solidFill>
            <a:srgbClr val="0B2037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wp_slide_06_mirror_image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84000" y="1404000"/>
            <a:ext cx="4276080" cy="31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wp_slide_06_pie_card"/>
          <p:cNvSpPr/>
          <p:nvPr/>
        </p:nvSpPr>
        <p:spPr>
          <a:xfrm>
            <a:off x="5410080" y="1260000"/>
            <a:ext cx="4129920" cy="342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wp_slide_06_sector_1"/>
          <p:cNvSpPr/>
          <p:nvPr/>
        </p:nvSpPr>
        <p:spPr>
          <a:xfrm>
            <a:off x="5806080" y="1584000"/>
            <a:ext cx="2232000" cy="2232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D2A03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wp_slide_06_sector_2"/>
          <p:cNvSpPr/>
          <p:nvPr/>
        </p:nvSpPr>
        <p:spPr>
          <a:xfrm>
            <a:off x="5806080" y="1584000"/>
            <a:ext cx="2232000" cy="2232000"/>
          </a:xfrm>
          <a:prstGeom prst="pie">
            <a:avLst>
              <a:gd name="adj1" fmla="val 4320000"/>
              <a:gd name="adj2" fmla="val 10800000"/>
            </a:avLst>
          </a:prstGeom>
          <a:solidFill>
            <a:srgbClr val="1F7782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wp_slide_06_sector_3"/>
          <p:cNvSpPr/>
          <p:nvPr/>
        </p:nvSpPr>
        <p:spPr>
          <a:xfrm>
            <a:off x="5806080" y="1584000"/>
            <a:ext cx="2232000" cy="2232000"/>
          </a:xfrm>
          <a:prstGeom prst="pie">
            <a:avLst>
              <a:gd name="adj1" fmla="val 0"/>
              <a:gd name="adj2" fmla="val 4320000"/>
            </a:avLst>
          </a:prstGeom>
          <a:solidFill>
            <a:srgbClr val="DB674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wp_slide_06_pie_hole"/>
          <p:cNvSpPr/>
          <p:nvPr/>
        </p:nvSpPr>
        <p:spPr>
          <a:xfrm>
            <a:off x="6364080" y="2142000"/>
            <a:ext cx="1116000" cy="1116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wp_slide_06_pie_center"/>
          <p:cNvSpPr txBox="1"/>
          <p:nvPr/>
        </p:nvSpPr>
        <p:spPr>
          <a:xfrm>
            <a:off x="6544080" y="2466000"/>
            <a:ext cx="756000" cy="5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zh-CN" sz="21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部署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lang="zh-CN" sz="21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系统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wp_slide_06_legend_1_dot"/>
          <p:cNvSpPr/>
          <p:nvPr/>
        </p:nvSpPr>
        <p:spPr>
          <a:xfrm>
            <a:off x="8290080" y="1746000"/>
            <a:ext cx="154800" cy="154800"/>
          </a:xfrm>
          <a:prstGeom prst="ellipse">
            <a:avLst/>
          </a:prstGeom>
          <a:solidFill>
            <a:srgbClr val="D2A03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wp_slide_06_legend_1_label"/>
          <p:cNvSpPr txBox="1"/>
          <p:nvPr/>
        </p:nvSpPr>
        <p:spPr>
          <a:xfrm>
            <a:off x="8524080" y="1681200"/>
            <a:ext cx="990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50%  </a:t>
            </a:r>
            <a:r>
              <a:rPr lang="zh-CN" sz="9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主镜与校准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wp_slide_06_legend_2_dot"/>
          <p:cNvSpPr/>
          <p:nvPr/>
        </p:nvSpPr>
        <p:spPr>
          <a:xfrm>
            <a:off x="8290080" y="2495880"/>
            <a:ext cx="154800" cy="154800"/>
          </a:xfrm>
          <a:prstGeom prst="ellipse">
            <a:avLst/>
          </a:prstGeom>
          <a:solidFill>
            <a:srgbClr val="1F7782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wp_slide_06_legend_2_label"/>
          <p:cNvSpPr txBox="1"/>
          <p:nvPr/>
        </p:nvSpPr>
        <p:spPr>
          <a:xfrm>
            <a:off x="8524080" y="2431080"/>
            <a:ext cx="990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1" u="none" strike="noStrike">
                <a:solidFill>
                  <a:srgbClr val="1F7782"/>
                </a:solidFill>
                <a:effectLst/>
                <a:uFillTx/>
                <a:latin typeface="Microsoft YaHei"/>
              </a:rPr>
              <a:t>30%  </a:t>
            </a:r>
            <a:r>
              <a:rPr lang="zh-CN" sz="900" b="1" u="none" strike="noStrike">
                <a:solidFill>
                  <a:srgbClr val="1F7782"/>
                </a:solidFill>
                <a:effectLst/>
                <a:uFillTx/>
                <a:latin typeface="Microsoft YaHei"/>
              </a:rPr>
              <a:t>遮阳板展开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wp_slide_06_legend_3_dot"/>
          <p:cNvSpPr/>
          <p:nvPr/>
        </p:nvSpPr>
        <p:spPr>
          <a:xfrm>
            <a:off x="8290080" y="3245760"/>
            <a:ext cx="154800" cy="154800"/>
          </a:xfrm>
          <a:prstGeom prst="ellipse">
            <a:avLst/>
          </a:prstGeom>
          <a:solidFill>
            <a:srgbClr val="DB674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wp_slide_06_legend_3_label"/>
          <p:cNvSpPr txBox="1"/>
          <p:nvPr/>
        </p:nvSpPr>
        <p:spPr>
          <a:xfrm>
            <a:off x="8524080" y="3180960"/>
            <a:ext cx="990000" cy="5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1" u="none" strike="noStrike">
                <a:solidFill>
                  <a:srgbClr val="DB6748"/>
                </a:solidFill>
                <a:effectLst/>
                <a:uFillTx/>
                <a:latin typeface="Microsoft YaHei"/>
              </a:rPr>
              <a:t>20%  </a:t>
            </a:r>
            <a:r>
              <a:rPr lang="zh-CN" sz="900" b="1" u="none" strike="noStrike">
                <a:solidFill>
                  <a:srgbClr val="DB6748"/>
                </a:solidFill>
                <a:effectLst/>
                <a:uFillTx/>
                <a:latin typeface="Microsoft YaHei"/>
              </a:rPr>
              <a:t>通信与姿控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wp_slide_06_disclaimer"/>
          <p:cNvSpPr txBox="1"/>
          <p:nvPr/>
        </p:nvSpPr>
        <p:spPr>
          <a:xfrm>
            <a:off x="5806080" y="3996000"/>
            <a:ext cx="3337920" cy="5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100" b="0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比例仅用于展示饼图能力，不代表工程工作量统计。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wp_slide_06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D2A03F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wp_slide_06_footer_left"/>
          <p:cNvSpPr txBox="1"/>
          <p:nvPr/>
        </p:nvSpPr>
        <p:spPr>
          <a:xfrm>
            <a:off x="540000" y="5320800"/>
            <a:ext cx="6624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7B8797"/>
                </a:solidFill>
                <a:effectLst/>
                <a:uFillTx/>
                <a:latin typeface="Microsoft YaHei"/>
              </a:rPr>
              <a:t>UNO / LibreOffice · JWST from-scratch regression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wp_slide_06_footer_right"/>
          <p:cNvSpPr txBox="1"/>
          <p:nvPr/>
        </p:nvSpPr>
        <p:spPr>
          <a:xfrm>
            <a:off x="8352000" y="53208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7B8797"/>
                </a:solidFill>
                <a:effectLst/>
                <a:uFillTx/>
                <a:latin typeface="Microsoft YaHei"/>
              </a:rPr>
              <a:t>6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wp_slide_07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EEF4F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wp_slide_07_kicker"/>
          <p:cNvSpPr txBox="1"/>
          <p:nvPr/>
        </p:nvSpPr>
        <p:spPr>
          <a:xfrm>
            <a:off x="540000" y="252000"/>
            <a:ext cx="331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INSTRUMENT MATRIX + COLUMNS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wp_slide_07_title"/>
          <p:cNvSpPr txBox="1"/>
          <p:nvPr/>
        </p:nvSpPr>
        <p:spPr>
          <a:xfrm>
            <a:off x="540000" y="486000"/>
            <a:ext cx="7920000" cy="5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9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四台科学仪器的协同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wp_slide_07_number"/>
          <p:cNvSpPr txBox="1"/>
          <p:nvPr/>
        </p:nvSpPr>
        <p:spPr>
          <a:xfrm>
            <a:off x="8892000" y="306000"/>
            <a:ext cx="64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wp_slide_07_card_1"/>
          <p:cNvSpPr/>
          <p:nvPr/>
        </p:nvSpPr>
        <p:spPr>
          <a:xfrm>
            <a:off x="540000" y="1224000"/>
            <a:ext cx="2136600" cy="1332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wp_slide_07_card_1_name"/>
          <p:cNvSpPr txBox="1"/>
          <p:nvPr/>
        </p:nvSpPr>
        <p:spPr>
          <a:xfrm>
            <a:off x="666000" y="1332000"/>
            <a:ext cx="18846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NIRCam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wp_slide_07_card_1_kind"/>
          <p:cNvSpPr txBox="1"/>
          <p:nvPr/>
        </p:nvSpPr>
        <p:spPr>
          <a:xfrm>
            <a:off x="666000" y="1674000"/>
            <a:ext cx="18846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2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近红外成像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wp_slide_07_card_1_purpose"/>
          <p:cNvSpPr txBox="1"/>
          <p:nvPr/>
        </p:nvSpPr>
        <p:spPr>
          <a:xfrm>
            <a:off x="666000" y="2052000"/>
            <a:ext cx="18846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100" b="0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寻找早期星系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wp_slide_07_card_2"/>
          <p:cNvSpPr/>
          <p:nvPr/>
        </p:nvSpPr>
        <p:spPr>
          <a:xfrm>
            <a:off x="2827800" y="1224000"/>
            <a:ext cx="2136600" cy="1332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wp_slide_07_card_2_name"/>
          <p:cNvSpPr txBox="1"/>
          <p:nvPr/>
        </p:nvSpPr>
        <p:spPr>
          <a:xfrm>
            <a:off x="2953800" y="1332000"/>
            <a:ext cx="18846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1" u="none" strike="noStrike">
                <a:solidFill>
                  <a:srgbClr val="1F7782"/>
                </a:solidFill>
                <a:effectLst/>
                <a:uFillTx/>
                <a:latin typeface="Microsoft YaHei"/>
              </a:rPr>
              <a:t>NIRSpec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wp_slide_07_card_2_kind"/>
          <p:cNvSpPr txBox="1"/>
          <p:nvPr/>
        </p:nvSpPr>
        <p:spPr>
          <a:xfrm>
            <a:off x="2953800" y="1674000"/>
            <a:ext cx="18846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2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近红外光谱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wp_slide_07_card_2_purpose"/>
          <p:cNvSpPr txBox="1"/>
          <p:nvPr/>
        </p:nvSpPr>
        <p:spPr>
          <a:xfrm>
            <a:off x="2953800" y="2052000"/>
            <a:ext cx="18846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100" b="0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同时分析多目标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wp_slide_07_card_3"/>
          <p:cNvSpPr/>
          <p:nvPr/>
        </p:nvSpPr>
        <p:spPr>
          <a:xfrm>
            <a:off x="5115600" y="1224000"/>
            <a:ext cx="2136600" cy="1332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wp_slide_07_card_3_name"/>
          <p:cNvSpPr txBox="1"/>
          <p:nvPr/>
        </p:nvSpPr>
        <p:spPr>
          <a:xfrm>
            <a:off x="5241600" y="1332000"/>
            <a:ext cx="18846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1" u="none" strike="noStrike">
                <a:solidFill>
                  <a:srgbClr val="DB6748"/>
                </a:solidFill>
                <a:effectLst/>
                <a:uFillTx/>
                <a:latin typeface="Microsoft YaHei"/>
              </a:rPr>
              <a:t>MIRI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wp_slide_07_card_3_kind"/>
          <p:cNvSpPr txBox="1"/>
          <p:nvPr/>
        </p:nvSpPr>
        <p:spPr>
          <a:xfrm>
            <a:off x="5241600" y="1674000"/>
            <a:ext cx="18846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2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中红外成像</a:t>
            </a:r>
            <a:r>
              <a:rPr lang="en-US" sz="12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/</a:t>
            </a:r>
            <a:r>
              <a:rPr lang="zh-CN" sz="12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光谱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wp_slide_07_card_3_purpose"/>
          <p:cNvSpPr txBox="1"/>
          <p:nvPr/>
        </p:nvSpPr>
        <p:spPr>
          <a:xfrm>
            <a:off x="5241600" y="2052000"/>
            <a:ext cx="18846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100" b="0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尘埃与冷天体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wp_slide_07_card_4"/>
          <p:cNvSpPr/>
          <p:nvPr/>
        </p:nvSpPr>
        <p:spPr>
          <a:xfrm>
            <a:off x="7403400" y="1224000"/>
            <a:ext cx="2136600" cy="1332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wp_slide_07_card_4_name"/>
          <p:cNvSpPr txBox="1"/>
          <p:nvPr/>
        </p:nvSpPr>
        <p:spPr>
          <a:xfrm>
            <a:off x="7529400" y="1332000"/>
            <a:ext cx="18846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1" u="none" strike="noStrike">
                <a:solidFill>
                  <a:srgbClr val="9166B5"/>
                </a:solidFill>
                <a:effectLst/>
                <a:uFillTx/>
                <a:latin typeface="Microsoft YaHei"/>
              </a:rPr>
              <a:t>FGS/NIRISS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wp_slide_07_card_4_kind"/>
          <p:cNvSpPr txBox="1"/>
          <p:nvPr/>
        </p:nvSpPr>
        <p:spPr>
          <a:xfrm>
            <a:off x="7529400" y="1674000"/>
            <a:ext cx="18846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2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精密制导与光谱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wp_slide_07_card_4_purpose"/>
          <p:cNvSpPr txBox="1"/>
          <p:nvPr/>
        </p:nvSpPr>
        <p:spPr>
          <a:xfrm>
            <a:off x="7529400" y="2052000"/>
            <a:ext cx="18846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100" b="0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系外行星凌日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wp_slide_07_axis_x"/>
          <p:cNvSpPr/>
          <p:nvPr/>
        </p:nvSpPr>
        <p:spPr>
          <a:xfrm>
            <a:off x="1188000" y="4500000"/>
            <a:ext cx="7704000" cy="11520"/>
          </a:xfrm>
          <a:prstGeom prst="rect">
            <a:avLst/>
          </a:prstGeom>
          <a:solidFill>
            <a:srgbClr val="9CAEBB"/>
          </a:solidFill>
          <a:ln w="0">
            <a:noFill/>
          </a:ln>
        </p:spPr>
        <p:txBody>
          <a:bodyPr lIns="90000" tIns="-33480" rIns="90000" bIns="-334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wp_slide_07_bar_1"/>
          <p:cNvSpPr/>
          <p:nvPr/>
        </p:nvSpPr>
        <p:spPr>
          <a:xfrm>
            <a:off x="1728000" y="3230640"/>
            <a:ext cx="828000" cy="1269360"/>
          </a:xfrm>
          <a:prstGeom prst="rect">
            <a:avLst/>
          </a:prstGeom>
          <a:solidFill>
            <a:srgbClr val="D2A03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wp_slide_07_value_1"/>
          <p:cNvSpPr txBox="1"/>
          <p:nvPr/>
        </p:nvSpPr>
        <p:spPr>
          <a:xfrm>
            <a:off x="1728000" y="2960640"/>
            <a:ext cx="828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3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82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wp_slide_07_label_1"/>
          <p:cNvSpPr txBox="1"/>
          <p:nvPr/>
        </p:nvSpPr>
        <p:spPr>
          <a:xfrm>
            <a:off x="1548000" y="4543200"/>
            <a:ext cx="1188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100" b="1" u="none" strike="noStrike">
                <a:solidFill>
                  <a:srgbClr val="30445D"/>
                </a:solidFill>
                <a:effectLst/>
                <a:uFillTx/>
                <a:latin typeface="Microsoft YaHei"/>
              </a:rPr>
              <a:t>成像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wp_slide_07_bar_2"/>
          <p:cNvSpPr/>
          <p:nvPr/>
        </p:nvSpPr>
        <p:spPr>
          <a:xfrm>
            <a:off x="3654000" y="3354480"/>
            <a:ext cx="828000" cy="1145520"/>
          </a:xfrm>
          <a:prstGeom prst="rect">
            <a:avLst/>
          </a:prstGeom>
          <a:solidFill>
            <a:srgbClr val="1F7782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wp_slide_07_value_2"/>
          <p:cNvSpPr txBox="1"/>
          <p:nvPr/>
        </p:nvSpPr>
        <p:spPr>
          <a:xfrm>
            <a:off x="3654000" y="3084480"/>
            <a:ext cx="828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300" b="1" u="none" strike="noStrike">
                <a:solidFill>
                  <a:srgbClr val="1F7782"/>
                </a:solidFill>
                <a:effectLst/>
                <a:uFillTx/>
                <a:latin typeface="Microsoft YaHei"/>
              </a:rPr>
              <a:t>74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wp_slide_07_label_2"/>
          <p:cNvSpPr txBox="1"/>
          <p:nvPr/>
        </p:nvSpPr>
        <p:spPr>
          <a:xfrm>
            <a:off x="3474000" y="4543200"/>
            <a:ext cx="1188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100" b="1" u="none" strike="noStrike">
                <a:solidFill>
                  <a:srgbClr val="30445D"/>
                </a:solidFill>
                <a:effectLst/>
                <a:uFillTx/>
                <a:latin typeface="Microsoft YaHei"/>
              </a:rPr>
              <a:t>多目标光谱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wp_slide_07_bar_3"/>
          <p:cNvSpPr/>
          <p:nvPr/>
        </p:nvSpPr>
        <p:spPr>
          <a:xfrm>
            <a:off x="5580000" y="3091320"/>
            <a:ext cx="828000" cy="1408680"/>
          </a:xfrm>
          <a:prstGeom prst="rect">
            <a:avLst/>
          </a:prstGeom>
          <a:solidFill>
            <a:srgbClr val="DB674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wp_slide_07_value_3"/>
          <p:cNvSpPr txBox="1"/>
          <p:nvPr/>
        </p:nvSpPr>
        <p:spPr>
          <a:xfrm>
            <a:off x="5580000" y="2821320"/>
            <a:ext cx="828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300" b="1" u="none" strike="noStrike">
                <a:solidFill>
                  <a:srgbClr val="DB6748"/>
                </a:solidFill>
                <a:effectLst/>
                <a:uFillTx/>
                <a:latin typeface="Microsoft YaHei"/>
              </a:rPr>
              <a:t>91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wp_slide_07_label_3"/>
          <p:cNvSpPr txBox="1"/>
          <p:nvPr/>
        </p:nvSpPr>
        <p:spPr>
          <a:xfrm>
            <a:off x="5400000" y="4543200"/>
            <a:ext cx="1188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100" b="1" u="none" strike="noStrike">
                <a:solidFill>
                  <a:srgbClr val="30445D"/>
                </a:solidFill>
                <a:effectLst/>
                <a:uFillTx/>
                <a:latin typeface="Microsoft YaHei"/>
              </a:rPr>
              <a:t>中红外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wp_slide_07_bar_4"/>
          <p:cNvSpPr/>
          <p:nvPr/>
        </p:nvSpPr>
        <p:spPr>
          <a:xfrm>
            <a:off x="7506000" y="3447360"/>
            <a:ext cx="828000" cy="1052640"/>
          </a:xfrm>
          <a:prstGeom prst="rect">
            <a:avLst/>
          </a:prstGeom>
          <a:solidFill>
            <a:srgbClr val="9166B5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wp_slide_07_value_4"/>
          <p:cNvSpPr txBox="1"/>
          <p:nvPr/>
        </p:nvSpPr>
        <p:spPr>
          <a:xfrm>
            <a:off x="7506000" y="3177360"/>
            <a:ext cx="828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300" b="1" u="none" strike="noStrike">
                <a:solidFill>
                  <a:srgbClr val="9166B5"/>
                </a:solidFill>
                <a:effectLst/>
                <a:uFillTx/>
                <a:latin typeface="Microsoft YaHei"/>
              </a:rPr>
              <a:t>68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wp_slide_07_label_4"/>
          <p:cNvSpPr txBox="1"/>
          <p:nvPr/>
        </p:nvSpPr>
        <p:spPr>
          <a:xfrm>
            <a:off x="7326000" y="4543200"/>
            <a:ext cx="1188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100" b="1" u="none" strike="noStrike">
                <a:solidFill>
                  <a:srgbClr val="30445D"/>
                </a:solidFill>
                <a:effectLst/>
                <a:uFillTx/>
                <a:latin typeface="Microsoft YaHei"/>
              </a:rPr>
              <a:t>精密制导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wp_slide_07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D2A03F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wp_slide_07_footer_left"/>
          <p:cNvSpPr txBox="1"/>
          <p:nvPr/>
        </p:nvSpPr>
        <p:spPr>
          <a:xfrm>
            <a:off x="540000" y="5320800"/>
            <a:ext cx="6624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7B8797"/>
                </a:solidFill>
                <a:effectLst/>
                <a:uFillTx/>
                <a:latin typeface="Microsoft YaHei"/>
              </a:rPr>
              <a:t>UNO / LibreOffice · JWST from-scratch regression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wp_slide_07_footer_right"/>
          <p:cNvSpPr txBox="1"/>
          <p:nvPr/>
        </p:nvSpPr>
        <p:spPr>
          <a:xfrm>
            <a:off x="8352000" y="53208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7B8797"/>
                </a:solidFill>
                <a:effectLst/>
                <a:uFillTx/>
                <a:latin typeface="Microsoft YaHei"/>
              </a:rPr>
              <a:t>7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wp_slide_08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BF9F4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wp_slide_08_kicker"/>
          <p:cNvSpPr txBox="1"/>
          <p:nvPr/>
        </p:nvSpPr>
        <p:spPr>
          <a:xfrm>
            <a:off x="540000" y="252000"/>
            <a:ext cx="331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SPECTROSCOPY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wp_slide_08_title"/>
          <p:cNvSpPr txBox="1"/>
          <p:nvPr/>
        </p:nvSpPr>
        <p:spPr>
          <a:xfrm>
            <a:off x="540000" y="486000"/>
            <a:ext cx="7920000" cy="5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900" b="1" u="none" strike="noStrike">
                <a:solidFill>
                  <a:srgbClr val="17324D"/>
                </a:solidFill>
                <a:effectLst/>
                <a:uFillTx/>
                <a:latin typeface="Microsoft YaHei"/>
              </a:rPr>
              <a:t>光谱如何“读取”行星大气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wp_slide_08_number"/>
          <p:cNvSpPr txBox="1"/>
          <p:nvPr/>
        </p:nvSpPr>
        <p:spPr>
          <a:xfrm>
            <a:off x="8892000" y="306000"/>
            <a:ext cx="64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6F7D91"/>
                </a:solidFill>
                <a:effectLst/>
                <a:uFillTx/>
                <a:latin typeface="Microsoft YaHei"/>
              </a:rPr>
              <a:t>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wp_slide_08_spectrum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40000" y="1224000"/>
            <a:ext cx="9000000" cy="28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wp_slide_08_finding_1"/>
          <p:cNvSpPr/>
          <p:nvPr/>
        </p:nvSpPr>
        <p:spPr>
          <a:xfrm>
            <a:off x="864000" y="4284000"/>
            <a:ext cx="2664000" cy="684000"/>
          </a:xfrm>
          <a:prstGeom prst="rect">
            <a:avLst/>
          </a:prstGeom>
          <a:solidFill>
            <a:srgbClr val="EEF4F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wp_slide_08_finding_1_title"/>
          <p:cNvSpPr txBox="1"/>
          <p:nvPr/>
        </p:nvSpPr>
        <p:spPr>
          <a:xfrm>
            <a:off x="990000" y="4341600"/>
            <a:ext cx="2412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400" b="1" u="none" strike="noStrike">
                <a:solidFill>
                  <a:srgbClr val="1F7782"/>
                </a:solidFill>
                <a:effectLst/>
                <a:uFillTx/>
                <a:latin typeface="Microsoft YaHei"/>
              </a:rPr>
              <a:t>吸收峰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wp_slide_08_finding_1_body"/>
          <p:cNvSpPr txBox="1"/>
          <p:nvPr/>
        </p:nvSpPr>
        <p:spPr>
          <a:xfrm>
            <a:off x="990000" y="4636800"/>
            <a:ext cx="241200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100" b="0" u="none" strike="noStrike">
                <a:solidFill>
                  <a:srgbClr val="30445D"/>
                </a:solidFill>
                <a:effectLst/>
                <a:uFillTx/>
                <a:latin typeface="Microsoft YaHei"/>
              </a:rPr>
              <a:t>特定分子留下波长指纹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wp_slide_08_finding_2"/>
          <p:cNvSpPr/>
          <p:nvPr/>
        </p:nvSpPr>
        <p:spPr>
          <a:xfrm>
            <a:off x="3708000" y="4284000"/>
            <a:ext cx="2664000" cy="684000"/>
          </a:xfrm>
          <a:prstGeom prst="rect">
            <a:avLst/>
          </a:prstGeom>
          <a:solidFill>
            <a:srgbClr val="EEF4F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wp_slide_08_finding_2_title"/>
          <p:cNvSpPr txBox="1"/>
          <p:nvPr/>
        </p:nvSpPr>
        <p:spPr>
          <a:xfrm>
            <a:off x="3834000" y="4341600"/>
            <a:ext cx="2412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400" b="1" u="none" strike="noStrike">
                <a:solidFill>
                  <a:srgbClr val="1F7782"/>
                </a:solidFill>
                <a:effectLst/>
                <a:uFillTx/>
                <a:latin typeface="Microsoft YaHei"/>
              </a:rPr>
              <a:t>联合反演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wp_slide_08_finding_2_body"/>
          <p:cNvSpPr txBox="1"/>
          <p:nvPr/>
        </p:nvSpPr>
        <p:spPr>
          <a:xfrm>
            <a:off x="3834000" y="4636800"/>
            <a:ext cx="241200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100" b="0" u="none" strike="noStrike">
                <a:solidFill>
                  <a:srgbClr val="30445D"/>
                </a:solidFill>
                <a:effectLst/>
                <a:uFillTx/>
                <a:latin typeface="Microsoft YaHei"/>
              </a:rPr>
              <a:t>多个波段共同约束成分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wp_slide_08_finding_3"/>
          <p:cNvSpPr/>
          <p:nvPr/>
        </p:nvSpPr>
        <p:spPr>
          <a:xfrm>
            <a:off x="6552000" y="4284000"/>
            <a:ext cx="2664000" cy="684000"/>
          </a:xfrm>
          <a:prstGeom prst="rect">
            <a:avLst/>
          </a:prstGeom>
          <a:solidFill>
            <a:srgbClr val="EEF4F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wp_slide_08_finding_3_title"/>
          <p:cNvSpPr txBox="1"/>
          <p:nvPr/>
        </p:nvSpPr>
        <p:spPr>
          <a:xfrm>
            <a:off x="6678000" y="4341600"/>
            <a:ext cx="2412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400" b="1" u="none" strike="noStrike">
                <a:solidFill>
                  <a:srgbClr val="1F7782"/>
                </a:solidFill>
                <a:effectLst/>
                <a:uFillTx/>
                <a:latin typeface="Microsoft YaHei"/>
              </a:rPr>
              <a:t>谨慎解释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wp_slide_08_finding_3_body"/>
          <p:cNvSpPr txBox="1"/>
          <p:nvPr/>
        </p:nvSpPr>
        <p:spPr>
          <a:xfrm>
            <a:off x="6678000" y="4636800"/>
            <a:ext cx="241200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1100" b="0" u="none" strike="noStrike">
                <a:solidFill>
                  <a:srgbClr val="30445D"/>
                </a:solidFill>
                <a:effectLst/>
                <a:uFillTx/>
                <a:latin typeface="Microsoft YaHei"/>
              </a:rPr>
              <a:t>曲线不等于结论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wp_slide_08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D2A03F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wp_slide_08_footer_left"/>
          <p:cNvSpPr txBox="1"/>
          <p:nvPr/>
        </p:nvSpPr>
        <p:spPr>
          <a:xfrm>
            <a:off x="540000" y="5320800"/>
            <a:ext cx="6624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7B8797"/>
                </a:solidFill>
                <a:effectLst/>
                <a:uFillTx/>
                <a:latin typeface="Microsoft YaHei"/>
              </a:rPr>
              <a:t>UNO / LibreOffice · JWST from-scratch regression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wp_slide_08_footer_right"/>
          <p:cNvSpPr txBox="1"/>
          <p:nvPr/>
        </p:nvSpPr>
        <p:spPr>
          <a:xfrm>
            <a:off x="8352000" y="53208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7B8797"/>
                </a:solidFill>
                <a:effectLst/>
                <a:uFillTx/>
                <a:latin typeface="Microsoft YaHei"/>
              </a:rPr>
              <a:t>8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wp_slide_09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07182B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wp_slide_09_kicker"/>
          <p:cNvSpPr txBox="1"/>
          <p:nvPr/>
        </p:nvSpPr>
        <p:spPr>
          <a:xfrm>
            <a:off x="540000" y="252000"/>
            <a:ext cx="331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ORBIT ARCHITECTURE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wp_slide_09_title"/>
          <p:cNvSpPr txBox="1"/>
          <p:nvPr/>
        </p:nvSpPr>
        <p:spPr>
          <a:xfrm>
            <a:off x="540000" y="486000"/>
            <a:ext cx="7920000" cy="5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900" b="1" u="none" strike="noStrike">
                <a:solidFill>
                  <a:srgbClr val="FFFFFF"/>
                </a:solidFill>
                <a:effectLst/>
                <a:uFillTx/>
                <a:latin typeface="Microsoft YaHei"/>
              </a:rPr>
              <a:t>为什么选择太阳—地球 </a:t>
            </a:r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Microsoft YaHei"/>
              </a:rPr>
              <a:t>L2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wp_slide_09_number"/>
          <p:cNvSpPr txBox="1"/>
          <p:nvPr/>
        </p:nvSpPr>
        <p:spPr>
          <a:xfrm>
            <a:off x="8892000" y="306000"/>
            <a:ext cx="64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C9D6E2"/>
                </a:solidFill>
                <a:effectLst/>
                <a:uFillTx/>
                <a:latin typeface="Microsoft YaHei"/>
              </a:rPr>
              <a:t>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wp_slide_09_orbit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40000" y="1224000"/>
            <a:ext cx="9000000" cy="28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wp_slide_09_stat_1"/>
          <p:cNvSpPr/>
          <p:nvPr/>
        </p:nvSpPr>
        <p:spPr>
          <a:xfrm>
            <a:off x="684000" y="4284000"/>
            <a:ext cx="2783880" cy="648000"/>
          </a:xfrm>
          <a:prstGeom prst="rect">
            <a:avLst/>
          </a:prstGeom>
          <a:solidFill>
            <a:srgbClr val="102C4C"/>
          </a:solidFill>
          <a:ln w="12600">
            <a:solidFill>
              <a:srgbClr val="D2A03F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wp_slide_09_stat_1_value"/>
          <p:cNvSpPr txBox="1"/>
          <p:nvPr/>
        </p:nvSpPr>
        <p:spPr>
          <a:xfrm>
            <a:off x="828000" y="4348800"/>
            <a:ext cx="249588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6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≈150</a:t>
            </a:r>
            <a:r>
              <a:rPr lang="zh-CN" sz="16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万 </a:t>
            </a:r>
            <a:r>
              <a:rPr lang="en-US" sz="16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km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wp_slide_09_stat_1_label"/>
          <p:cNvSpPr txBox="1"/>
          <p:nvPr/>
        </p:nvSpPr>
        <p:spPr>
          <a:xfrm>
            <a:off x="828000" y="4618800"/>
            <a:ext cx="249588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100" b="0" u="none" strike="noStrike">
                <a:solidFill>
                  <a:srgbClr val="C9D7E3"/>
                </a:solidFill>
                <a:effectLst/>
                <a:uFillTx/>
                <a:latin typeface="Microsoft YaHei"/>
              </a:rPr>
              <a:t>距离地球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wp_slide_09_stat_2"/>
          <p:cNvSpPr/>
          <p:nvPr/>
        </p:nvSpPr>
        <p:spPr>
          <a:xfrm>
            <a:off x="3647880" y="4284000"/>
            <a:ext cx="2783880" cy="648000"/>
          </a:xfrm>
          <a:prstGeom prst="rect">
            <a:avLst/>
          </a:prstGeom>
          <a:solidFill>
            <a:srgbClr val="102C4C"/>
          </a:solidFill>
          <a:ln w="12600">
            <a:solidFill>
              <a:srgbClr val="1F7782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wp_slide_09_stat_2_value"/>
          <p:cNvSpPr txBox="1"/>
          <p:nvPr/>
        </p:nvSpPr>
        <p:spPr>
          <a:xfrm>
            <a:off x="3791880" y="4348800"/>
            <a:ext cx="249588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600" b="1" u="none" strike="noStrike">
                <a:solidFill>
                  <a:srgbClr val="1F7782"/>
                </a:solidFill>
                <a:effectLst/>
                <a:uFillTx/>
                <a:latin typeface="Microsoft YaHei"/>
              </a:rPr>
              <a:t>≈6</a:t>
            </a:r>
            <a:r>
              <a:rPr lang="zh-CN" sz="1600" b="1" u="none" strike="noStrike">
                <a:solidFill>
                  <a:srgbClr val="1F7782"/>
                </a:solidFill>
                <a:effectLst/>
                <a:uFillTx/>
                <a:latin typeface="Microsoft YaHei"/>
              </a:rPr>
              <a:t>个月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wp_slide_09_stat_2_label"/>
          <p:cNvSpPr txBox="1"/>
          <p:nvPr/>
        </p:nvSpPr>
        <p:spPr>
          <a:xfrm>
            <a:off x="3791880" y="4618800"/>
            <a:ext cx="249588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100" b="0" u="none" strike="noStrike">
                <a:solidFill>
                  <a:srgbClr val="C9D7E3"/>
                </a:solidFill>
                <a:effectLst/>
                <a:uFillTx/>
                <a:latin typeface="Microsoft YaHei"/>
              </a:rPr>
              <a:t>绕 </a:t>
            </a:r>
            <a:r>
              <a:rPr lang="en-US" sz="1100" b="0" u="none" strike="noStrike">
                <a:solidFill>
                  <a:srgbClr val="C9D7E3"/>
                </a:solidFill>
                <a:effectLst/>
                <a:uFillTx/>
                <a:latin typeface="Microsoft YaHei"/>
              </a:rPr>
              <a:t>L2 </a:t>
            </a:r>
            <a:r>
              <a:rPr lang="zh-CN" sz="1100" b="0" u="none" strike="noStrike">
                <a:solidFill>
                  <a:srgbClr val="C9D7E3"/>
                </a:solidFill>
                <a:effectLst/>
                <a:uFillTx/>
                <a:latin typeface="Microsoft YaHei"/>
              </a:rPr>
              <a:t>一周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wp_slide_09_stat_3"/>
          <p:cNvSpPr/>
          <p:nvPr/>
        </p:nvSpPr>
        <p:spPr>
          <a:xfrm>
            <a:off x="6611760" y="4284000"/>
            <a:ext cx="2784240" cy="648000"/>
          </a:xfrm>
          <a:prstGeom prst="rect">
            <a:avLst/>
          </a:prstGeom>
          <a:solidFill>
            <a:srgbClr val="102C4C"/>
          </a:solidFill>
          <a:ln w="12600">
            <a:solidFill>
              <a:srgbClr val="DB6748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wp_slide_09_stat_3_value"/>
          <p:cNvSpPr txBox="1"/>
          <p:nvPr/>
        </p:nvSpPr>
        <p:spPr>
          <a:xfrm>
            <a:off x="6755760" y="4348800"/>
            <a:ext cx="249624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600" b="1" u="none" strike="noStrike">
                <a:solidFill>
                  <a:srgbClr val="DB6748"/>
                </a:solidFill>
                <a:effectLst/>
                <a:uFillTx/>
                <a:latin typeface="Microsoft YaHei"/>
              </a:rPr>
              <a:t>连续遮阳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wp_slide_09_stat_3_label"/>
          <p:cNvSpPr txBox="1"/>
          <p:nvPr/>
        </p:nvSpPr>
        <p:spPr>
          <a:xfrm>
            <a:off x="6755760" y="4618800"/>
            <a:ext cx="249624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100" b="0" u="none" strike="noStrike">
                <a:solidFill>
                  <a:srgbClr val="C9D7E3"/>
                </a:solidFill>
                <a:effectLst/>
                <a:uFillTx/>
                <a:latin typeface="Microsoft YaHei"/>
              </a:rPr>
              <a:t>稳定热环境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wp_slide_09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D2A03F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wp_slide_09_footer_left"/>
          <p:cNvSpPr txBox="1"/>
          <p:nvPr/>
        </p:nvSpPr>
        <p:spPr>
          <a:xfrm>
            <a:off x="540000" y="5320800"/>
            <a:ext cx="6624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C3D0DC"/>
                </a:solidFill>
                <a:effectLst/>
                <a:uFillTx/>
                <a:latin typeface="Microsoft YaHei"/>
              </a:rPr>
              <a:t>UNO / LibreOffice · JWST from-scratch regression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wp_slide_09_footer_right"/>
          <p:cNvSpPr txBox="1"/>
          <p:nvPr/>
        </p:nvSpPr>
        <p:spPr>
          <a:xfrm>
            <a:off x="8352000" y="53208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C3D0DC"/>
                </a:solidFill>
                <a:effectLst/>
                <a:uFillTx/>
                <a:latin typeface="Microsoft YaHei"/>
              </a:rPr>
              <a:t>9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wp_slide_10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07182B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wp_slide_10_kicker"/>
          <p:cNvSpPr txBox="1"/>
          <p:nvPr/>
        </p:nvSpPr>
        <p:spPr>
          <a:xfrm>
            <a:off x="540000" y="252000"/>
            <a:ext cx="331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UNO REGRESSION RESULT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wp_slide_10_title"/>
          <p:cNvSpPr txBox="1"/>
          <p:nvPr/>
        </p:nvSpPr>
        <p:spPr>
          <a:xfrm>
            <a:off x="540000" y="486000"/>
            <a:ext cx="7920000" cy="5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900" b="1" u="none" strike="noStrike">
                <a:solidFill>
                  <a:srgbClr val="FFFFFF"/>
                </a:solidFill>
                <a:effectLst/>
                <a:uFillTx/>
                <a:latin typeface="Microsoft YaHei"/>
              </a:rPr>
              <a:t>这一轮从零生成验证了什么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wp_slide_10_number"/>
          <p:cNvSpPr txBox="1"/>
          <p:nvPr/>
        </p:nvSpPr>
        <p:spPr>
          <a:xfrm>
            <a:off x="8892000" y="306000"/>
            <a:ext cx="64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600" b="1" u="none" strike="noStrike">
                <a:solidFill>
                  <a:srgbClr val="C9D6E2"/>
                </a:solidFill>
                <a:effectLst/>
                <a:uFillTx/>
                <a:latin typeface="Microsoft YaHei"/>
              </a:rPr>
              <a:t>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wp_slide_10_authoring_card"/>
          <p:cNvSpPr/>
          <p:nvPr/>
        </p:nvSpPr>
        <p:spPr>
          <a:xfrm>
            <a:off x="540000" y="1296000"/>
            <a:ext cx="4347000" cy="3096000"/>
          </a:xfrm>
          <a:prstGeom prst="rect">
            <a:avLst/>
          </a:prstGeom>
          <a:solidFill>
            <a:srgbClr val="102C4C"/>
          </a:solidFill>
          <a:ln w="12600">
            <a:solidFill>
              <a:srgbClr val="D2A03F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wp_slide_10_verification_card"/>
          <p:cNvSpPr/>
          <p:nvPr/>
        </p:nvSpPr>
        <p:spPr>
          <a:xfrm>
            <a:off x="5193000" y="1296000"/>
            <a:ext cx="4347000" cy="3096000"/>
          </a:xfrm>
          <a:prstGeom prst="rect">
            <a:avLst/>
          </a:prstGeom>
          <a:solidFill>
            <a:srgbClr val="102C4C"/>
          </a:solidFill>
          <a:ln w="12600">
            <a:solidFill>
              <a:srgbClr val="1F7782"/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wp_slide_10_authoring_title"/>
          <p:cNvSpPr txBox="1"/>
          <p:nvPr/>
        </p:nvSpPr>
        <p:spPr>
          <a:xfrm>
            <a:off x="774000" y="1530000"/>
            <a:ext cx="3879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200" b="1" u="none" strike="noStrike">
                <a:solidFill>
                  <a:srgbClr val="D2A03F"/>
                </a:solidFill>
                <a:effectLst/>
                <a:uFillTx/>
                <a:latin typeface="Microsoft YaHei"/>
              </a:rPr>
              <a:t>稳定作者层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wp_slide_10_authoring_1"/>
          <p:cNvSpPr txBox="1"/>
          <p:nvPr/>
        </p:nvSpPr>
        <p:spPr>
          <a:xfrm>
            <a:off x="774000" y="2088000"/>
            <a:ext cx="3879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E3EBF2"/>
                </a:solidFill>
                <a:effectLst/>
                <a:uFillTx/>
                <a:latin typeface="Microsoft YaHei"/>
              </a:rPr>
              <a:t>01  content_box / grid / stack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wp_slide_10_authoring_2"/>
          <p:cNvSpPr txBox="1"/>
          <p:nvPr/>
        </p:nvSpPr>
        <p:spPr>
          <a:xfrm>
            <a:off x="774000" y="2538000"/>
            <a:ext cx="3879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E3EBF2"/>
                </a:solidFill>
                <a:effectLst/>
                <a:uFillTx/>
                <a:latin typeface="Microsoft YaHei"/>
              </a:rPr>
              <a:t>02  </a:t>
            </a:r>
            <a:r>
              <a:rPr lang="zh-CN" sz="1500" b="0" u="none" strike="noStrike">
                <a:solidFill>
                  <a:srgbClr val="E3EBF2"/>
                </a:solidFill>
                <a:effectLst/>
                <a:uFillTx/>
                <a:latin typeface="Microsoft YaHei"/>
              </a:rPr>
              <a:t>文本测量与最小字号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wp_slide_10_authoring_3"/>
          <p:cNvSpPr txBox="1"/>
          <p:nvPr/>
        </p:nvSpPr>
        <p:spPr>
          <a:xfrm>
            <a:off x="774000" y="2988000"/>
            <a:ext cx="3879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E3EBF2"/>
                </a:solidFill>
                <a:effectLst/>
                <a:uFillTx/>
                <a:latin typeface="Microsoft YaHei"/>
              </a:rPr>
              <a:t>03  SVG</a:t>
            </a:r>
            <a:r>
              <a:rPr lang="zh-CN" sz="1500" b="0" u="none" strike="noStrike">
                <a:solidFill>
                  <a:srgbClr val="E3EBF2"/>
                </a:solidFill>
                <a:effectLst/>
                <a:uFillTx/>
                <a:latin typeface="Microsoft YaHei"/>
              </a:rPr>
              <a:t>、背景与内容语义分层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wp_slide_10_authoring_4"/>
          <p:cNvSpPr txBox="1"/>
          <p:nvPr/>
        </p:nvSpPr>
        <p:spPr>
          <a:xfrm>
            <a:off x="774000" y="3438000"/>
            <a:ext cx="3879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E3EBF2"/>
                </a:solidFill>
                <a:effectLst/>
                <a:uFillTx/>
                <a:latin typeface="Microsoft YaHei"/>
              </a:rPr>
              <a:t>04  </a:t>
            </a:r>
            <a:r>
              <a:rPr lang="zh-CN" sz="1500" b="0" u="none" strike="noStrike">
                <a:solidFill>
                  <a:srgbClr val="E3EBF2"/>
                </a:solidFill>
                <a:effectLst/>
                <a:uFillTx/>
                <a:latin typeface="Microsoft YaHei"/>
              </a:rPr>
              <a:t>原生表格与多类图表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wp_slide_10_verification_title"/>
          <p:cNvSpPr txBox="1"/>
          <p:nvPr/>
        </p:nvSpPr>
        <p:spPr>
          <a:xfrm>
            <a:off x="5427000" y="1530000"/>
            <a:ext cx="3879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zh-CN" sz="2200" b="1" u="none" strike="noStrike">
                <a:solidFill>
                  <a:srgbClr val="1F7782"/>
                </a:solidFill>
                <a:effectLst/>
                <a:uFillTx/>
                <a:latin typeface="Microsoft YaHei"/>
              </a:rPr>
              <a:t>验证与输出层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wp_slide_10_verification_1"/>
          <p:cNvSpPr txBox="1"/>
          <p:nvPr/>
        </p:nvSpPr>
        <p:spPr>
          <a:xfrm>
            <a:off x="5427000" y="2088000"/>
            <a:ext cx="3879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E3EBF2"/>
                </a:solidFill>
                <a:effectLst/>
                <a:uFillTx/>
                <a:latin typeface="Microsoft YaHei"/>
              </a:rPr>
              <a:t>01  </a:t>
            </a:r>
            <a:r>
              <a:rPr lang="zh-CN" sz="1500" b="0" u="none" strike="noStrike">
                <a:solidFill>
                  <a:srgbClr val="E3EBF2"/>
                </a:solidFill>
                <a:effectLst/>
                <a:uFillTx/>
                <a:latin typeface="Microsoft YaHei"/>
              </a:rPr>
              <a:t>保存后用 </a:t>
            </a:r>
            <a:r>
              <a:rPr lang="en-US" sz="1500" b="0" u="none" strike="noStrike">
                <a:solidFill>
                  <a:srgbClr val="E3EBF2"/>
                </a:solidFill>
                <a:effectLst/>
                <a:uFillTx/>
                <a:latin typeface="Microsoft YaHei"/>
              </a:rPr>
              <a:t>LibreOffice </a:t>
            </a:r>
            <a:r>
              <a:rPr lang="zh-CN" sz="1500" b="0" u="none" strike="noStrike">
                <a:solidFill>
                  <a:srgbClr val="E3EBF2"/>
                </a:solidFill>
                <a:effectLst/>
                <a:uFillTx/>
                <a:latin typeface="Microsoft YaHei"/>
              </a:rPr>
              <a:t>重开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wp_slide_10_verification_2"/>
          <p:cNvSpPr txBox="1"/>
          <p:nvPr/>
        </p:nvSpPr>
        <p:spPr>
          <a:xfrm>
            <a:off x="5427000" y="2538000"/>
            <a:ext cx="3879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E3EBF2"/>
                </a:solidFill>
                <a:effectLst/>
                <a:uFillTx/>
                <a:latin typeface="Microsoft YaHei"/>
              </a:rPr>
              <a:t>02  </a:t>
            </a:r>
            <a:r>
              <a:rPr lang="zh-CN" sz="1500" b="0" u="none" strike="noStrike">
                <a:solidFill>
                  <a:srgbClr val="E3EBF2"/>
                </a:solidFill>
                <a:effectLst/>
                <a:uFillTx/>
                <a:latin typeface="Microsoft YaHei"/>
              </a:rPr>
              <a:t>越界、文本溢出与语义碰撞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wp_slide_10_verification_3"/>
          <p:cNvSpPr txBox="1"/>
          <p:nvPr/>
        </p:nvSpPr>
        <p:spPr>
          <a:xfrm>
            <a:off x="5427000" y="2988000"/>
            <a:ext cx="3879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E3EBF2"/>
                </a:solidFill>
                <a:effectLst/>
                <a:uFillTx/>
                <a:latin typeface="Microsoft YaHei"/>
              </a:rPr>
              <a:t>03  PDF </a:t>
            </a:r>
            <a:r>
              <a:rPr lang="zh-CN" sz="1500" b="0" u="none" strike="noStrike">
                <a:solidFill>
                  <a:srgbClr val="E3EBF2"/>
                </a:solidFill>
                <a:effectLst/>
                <a:uFillTx/>
                <a:latin typeface="Microsoft YaHei"/>
              </a:rPr>
              <a:t>导出与逐页图像检查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wp_slide_10_verification_4"/>
          <p:cNvSpPr txBox="1"/>
          <p:nvPr/>
        </p:nvSpPr>
        <p:spPr>
          <a:xfrm>
            <a:off x="5427000" y="3438000"/>
            <a:ext cx="3879000" cy="3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E3EBF2"/>
                </a:solidFill>
                <a:effectLst/>
                <a:uFillTx/>
                <a:latin typeface="Microsoft YaHei"/>
              </a:rPr>
              <a:t>04  renderer = libreoffice-uno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wp_slide_10_conclusion"/>
          <p:cNvSpPr txBox="1"/>
          <p:nvPr/>
        </p:nvSpPr>
        <p:spPr>
          <a:xfrm>
            <a:off x="1512000" y="4680000"/>
            <a:ext cx="7056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zh-CN" sz="1500" b="1" u="none" strike="noStrike">
                <a:solidFill>
                  <a:srgbClr val="CEDAE5"/>
                </a:solidFill>
                <a:effectLst/>
                <a:uFillTx/>
                <a:latin typeface="Microsoft YaHei"/>
              </a:rPr>
              <a:t>目标：让布局问题在生成时被诊断，而不是交付后由用户发现。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wp_slide_10_footer_line"/>
          <p:cNvSpPr/>
          <p:nvPr/>
        </p:nvSpPr>
        <p:spPr>
          <a:xfrm>
            <a:off x="540000" y="5274000"/>
            <a:ext cx="9000000" cy="2880"/>
          </a:xfrm>
          <a:prstGeom prst="rect">
            <a:avLst/>
          </a:prstGeom>
          <a:solidFill>
            <a:srgbClr val="D2A03F"/>
          </a:solidFill>
          <a:ln w="0">
            <a:noFill/>
          </a:ln>
        </p:spPr>
        <p:txBody>
          <a:bodyPr lIns="90000" tIns="-42120" rIns="90000" bIns="-42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wp_slide_10_footer_left"/>
          <p:cNvSpPr txBox="1"/>
          <p:nvPr/>
        </p:nvSpPr>
        <p:spPr>
          <a:xfrm>
            <a:off x="540000" y="5320800"/>
            <a:ext cx="6624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C3D0DC"/>
                </a:solidFill>
                <a:effectLst/>
                <a:uFillTx/>
                <a:latin typeface="Microsoft YaHei"/>
              </a:rPr>
              <a:t>UNO / LibreOffice · JWST from-scratch regression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wp_slide_10_footer_right"/>
          <p:cNvSpPr txBox="1"/>
          <p:nvPr/>
        </p:nvSpPr>
        <p:spPr>
          <a:xfrm>
            <a:off x="8352000" y="5320800"/>
            <a:ext cx="1188000" cy="18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00" b="1" u="none" strike="noStrike">
                <a:solidFill>
                  <a:srgbClr val="C3D0DC"/>
                </a:solidFill>
                <a:effectLst/>
                <a:uFillTx/>
                <a:latin typeface="Microsoft YaHei"/>
              </a:rPr>
              <a:t>10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dcterms:modified xsi:type="dcterms:W3CDTF">2026-08-30T20:04:03Z</dcterms:modified>
  <cp:revision>1</cp:revision>
  <dc:subject/>
  <dc:title/>
</cp:coreProperties>
</file>