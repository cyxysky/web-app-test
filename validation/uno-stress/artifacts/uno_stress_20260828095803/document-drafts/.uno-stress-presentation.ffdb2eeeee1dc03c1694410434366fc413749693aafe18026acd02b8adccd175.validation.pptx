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18</c:v>
                </c:pt>
                <c:pt idx="1">
                  <c:v>14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24</c:v>
                </c:pt>
                <c:pt idx="1">
                  <c:v>22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FFD32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2025</c:v>
                </c:pt>
                <c:pt idx="1">
                  <c:v>2026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2"/>
                <c:pt idx="0">
                  <c:v>31</c:v>
                </c:pt>
                <c:pt idx="1">
                  <c:v>29</c:v>
                </c:pt>
              </c:numCache>
            </c:numRef>
          </c:val>
        </c:ser>
        <c:gapWidth val="100"/>
        <c:overlap val="0"/>
        <c:axId val="1660709"/>
        <c:axId val="47172748"/>
      </c:barChart>
      <c:catAx>
        <c:axId val="1660709"/>
        <c:scaling>
          <c:orientation val="minMax"/>
        </c:scaling>
        <c:delete val="0"/>
        <c:axPos val="b"/>
        <c:numFmt formatCode="[$-804]yyyy/m/d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7172748"/>
        <c:crosses val="autoZero"/>
        <c:auto val="1"/>
        <c:lblAlgn val="ctr"/>
        <c:lblOffset val="100"/>
        <c:noMultiLvlLbl val="0"/>
      </c:catAx>
      <c:valAx>
        <c:axId val="47172748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sz="10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1660709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u="none" strike="noStrik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1"/>
    <c:dispBlanksAs val="gap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E7C46A5-D60B-489E-9EF9-BF33CD79F36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wp_slide_07_notes"/>
          <p:cNvSpPr txBox="1"/>
          <p:nvPr/>
        </p:nvSpPr>
        <p:spPr>
          <a:xfrm>
            <a:off x="432000" y="432000"/>
            <a:ext cx="6480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notes: explain the deterministic validation sequence and known limitations.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E6967C-FF97-4207-8A12-BEF582577A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F25187-E536-487A-85BF-8D30079725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A815B53-941C-41DE-BD9F-FF6CC982FD8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p_slide_01_background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B2545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wp_slide_01_title"/>
          <p:cNvSpPr txBox="1"/>
          <p:nvPr/>
        </p:nvSpPr>
        <p:spPr>
          <a:xfrm>
            <a:off x="612000" y="900000"/>
            <a:ext cx="8820000" cy="51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UNO Office </a:t>
            </a:r>
            <a:r>
              <a:rPr lang="zh-CN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全面压力验证</a:t>
            </a:r>
            <a:endParaRPr lang="en-US" sz="30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wp_slide_01_subtitle"/>
          <p:cNvSpPr txBox="1"/>
          <p:nvPr/>
        </p:nvSpPr>
        <p:spPr>
          <a:xfrm>
            <a:off x="612000" y="2268000"/>
            <a:ext cx="88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文本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表格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图表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图片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形状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超链接 </a:t>
            </a:r>
            <a:r>
              <a:rPr lang="en-US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· </a:t>
            </a:r>
            <a:r>
              <a:rPr lang="zh-CN" sz="1700" b="0" u="none" strike="noStrike">
                <a:solidFill>
                  <a:srgbClr val="B8D8F0"/>
                </a:solidFill>
                <a:effectLst/>
                <a:uFillTx/>
                <a:latin typeface="Arial"/>
              </a:rPr>
              <a:t>备注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wp_slide_01_footer"/>
          <p:cNvSpPr txBox="1"/>
          <p:nvPr/>
        </p:nvSpPr>
        <p:spPr>
          <a:xfrm>
            <a:off x="612000" y="4752000"/>
            <a:ext cx="88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100" b="0" u="none" strike="noStrike">
                <a:solidFill>
                  <a:srgbClr val="D7E8F5"/>
                </a:solidFill>
                <a:effectLst/>
                <a:uFillTx/>
                <a:latin typeface="Arial"/>
              </a:rPr>
              <a:t>LibreOffice UNO → PPTX → LibreOffice / Microsoft Office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p_slide_02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多语言文本与富文本属性必须稳定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wp_slide_02_rich_text"/>
          <p:cNvSpPr txBox="1"/>
          <p:nvPr/>
        </p:nvSpPr>
        <p:spPr>
          <a:xfrm>
            <a:off x="612000" y="1188000"/>
            <a:ext cx="8568000" cy="715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1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中文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English </a:t>
            </a:r>
            <a:r>
              <a:rPr lang="hi-I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العربية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Русский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粗体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斜体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下划线 </a:t>
            </a:r>
            <a:r>
              <a:rPr lang="en-US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· </a:t>
            </a:r>
            <a:r>
              <a:rPr lang="zh-CN" sz="2200" b="0" u="none" strike="noStrike">
                <a:solidFill>
                  <a:srgbClr val="2563EB"/>
                </a:solidFill>
                <a:effectLst/>
                <a:uFillTx/>
                <a:latin typeface="Arial"/>
              </a:rPr>
              <a:t>字距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wp_slide_02_hyperlink"/>
          <p:cNvSpPr txBox="1"/>
          <p:nvPr/>
        </p:nvSpPr>
        <p:spPr>
          <a:xfrm>
            <a:off x="612000" y="3240000"/>
            <a:ext cx="54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sng" strike="noStrike">
                <a:solidFill>
                  <a:srgbClr val="1565C0"/>
                </a:solidFill>
                <a:effectLst/>
                <a:uFillTx/>
                <a:latin typeface="Arial"/>
              </a:rPr>
              <a:t>https://example.com/uno-validation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wp_slide_03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形状、透明度、旋转和连接线不能越界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wp_slide_03_rectangle"/>
          <p:cNvSpPr/>
          <p:nvPr/>
        </p:nvSpPr>
        <p:spPr>
          <a:xfrm rot="21180000">
            <a:off x="791640" y="1295640"/>
            <a:ext cx="2340000" cy="1584000"/>
          </a:xfrm>
          <a:prstGeom prst="rect">
            <a:avLst/>
          </a:prstGeom>
          <a:solidFill>
            <a:srgbClr val="2563EB">
              <a:alpha val="82000"/>
            </a:srgbClr>
          </a:solidFill>
          <a:ln w="0">
            <a:solidFill>
              <a:srgbClr val="163B73"/>
            </a:solidFill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wp_slide_03_ellipse"/>
          <p:cNvSpPr/>
          <p:nvPr/>
        </p:nvSpPr>
        <p:spPr>
          <a:xfrm>
            <a:off x="3852000" y="1296000"/>
            <a:ext cx="1872000" cy="187200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wp_slide_03_connector"/>
          <p:cNvSpPr/>
          <p:nvPr/>
        </p:nvSpPr>
        <p:spPr>
          <a:xfrm>
            <a:off x="2808000" y="1872000"/>
            <a:ext cx="1548000" cy="324000"/>
          </a:xfrm>
          <a:prstGeom prst="line">
            <a:avLst/>
          </a:prstGeom>
          <a:ln w="432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1600" tIns="66600" rIns="111600" bIns="666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wp_slide_03_callout"/>
          <p:cNvSpPr txBox="1"/>
          <p:nvPr/>
        </p:nvSpPr>
        <p:spPr>
          <a:xfrm>
            <a:off x="828000" y="3060000"/>
            <a:ext cx="2232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旋转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wp_slide_03_ellipse_label"/>
          <p:cNvSpPr txBox="1"/>
          <p:nvPr/>
        </p:nvSpPr>
        <p:spPr>
          <a:xfrm>
            <a:off x="4068000" y="3240000"/>
            <a:ext cx="144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圆形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wp_slide_04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图片在两种缩放比例下保持清晰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wp_slide_04_image_wide"/>
          <p:cNvPicPr/>
          <p:nvPr/>
        </p:nvPicPr>
        <p:blipFill>
          <a:blip r:embed="rId1"/>
          <a:stretch/>
        </p:blipFill>
        <p:spPr>
          <a:xfrm>
            <a:off x="576000" y="1116000"/>
            <a:ext cx="5688000" cy="32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wp_slide_04_image_thumb"/>
          <p:cNvPicPr/>
          <p:nvPr/>
        </p:nvPicPr>
        <p:blipFill>
          <a:blip r:embed="rId2"/>
          <a:stretch/>
        </p:blipFill>
        <p:spPr>
          <a:xfrm>
            <a:off x="6984000" y="1692000"/>
            <a:ext cx="2340000" cy="154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wp_slide_04_caption"/>
          <p:cNvSpPr txBox="1"/>
          <p:nvPr/>
        </p:nvSpPr>
        <p:spPr>
          <a:xfrm>
            <a:off x="576000" y="4608000"/>
            <a:ext cx="864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同一素材用于验证大图、缩略图和 </a:t>
            </a:r>
            <a:r>
              <a:rPr lang="en-US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PPTX </a:t>
            </a:r>
            <a:r>
              <a:rPr lang="zh-CN" sz="14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媒体关系。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wp_slide_05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原生表格必须可以编辑并完整序列化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" name="wp_slide_05_table"/>
          <p:cNvGraphicFramePr/>
          <p:nvPr/>
        </p:nvGraphicFramePr>
        <p:xfrm>
          <a:off x="792000" y="1260000"/>
          <a:ext cx="8460000" cy="2592000"/>
        </p:xfrm>
        <a:graphic>
          <a:graphicData uri="http://schemas.openxmlformats.org/drawingml/2006/table">
            <a:tbl>
              <a:tblPr/>
              <a:tblGrid>
                <a:gridCol w="2819880"/>
                <a:gridCol w="2819880"/>
                <a:gridCol w="2819880"/>
              </a:tblGrid>
              <a:tr h="648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维度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LibreOffice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Microsoft Office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CEAF7"/>
                    </a:solidFill>
                  </a:tcPr>
                </a:tc>
              </a:tr>
              <a:tr h="648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结构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OOXML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重开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COM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重开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48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版式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PDF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渲染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PDF </a:t>
                      </a:r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渲染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648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结论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必须通过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zh-CN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必须通过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wp_slide_06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原生图表对象验证嵌入关系和跨渲染器兼容性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" name="wp_slide_06_chart"/>
          <p:cNvGraphicFramePr/>
          <p:nvPr/>
        </p:nvGraphicFramePr>
        <p:xfrm>
          <a:off x="972000" y="1188000"/>
          <a:ext cx="810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6" name="wp_slide_06_caption"/>
          <p:cNvSpPr txBox="1"/>
          <p:nvPr/>
        </p:nvSpPr>
        <p:spPr>
          <a:xfrm>
            <a:off x="972000" y="4644000"/>
            <a:ext cx="792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默认 </a:t>
            </a:r>
            <a:r>
              <a:rPr lang="en-US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Chart2 </a:t>
            </a:r>
            <a:r>
              <a:rPr lang="zh-CN" sz="1300" b="0" u="none" strike="noStrike">
                <a:solidFill>
                  <a:srgbClr val="475569"/>
                </a:solidFill>
                <a:effectLst/>
                <a:uFillTx/>
                <a:latin typeface="Arial"/>
              </a:rPr>
              <a:t>数据用于验证可编辑图表对象，而不是位图替代。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wp_slide_07_title"/>
          <p:cNvSpPr txBox="1"/>
          <p:nvPr/>
        </p:nvSpPr>
        <p:spPr>
          <a:xfrm>
            <a:off x="540000" y="252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演讲者备注必须保留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wp_slide_07_body"/>
          <p:cNvSpPr txBox="1"/>
          <p:nvPr/>
        </p:nvSpPr>
        <p:spPr>
          <a:xfrm>
            <a:off x="792000" y="1620000"/>
            <a:ext cx="7920000" cy="402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此页包含 </a:t>
            </a:r>
            <a:r>
              <a:rPr lang="en-US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Notes Page </a:t>
            </a:r>
            <a:r>
              <a:rPr lang="zh-CN" sz="2200" b="0" u="none" strike="noStrike">
                <a:solidFill>
                  <a:srgbClr val="334155"/>
                </a:solidFill>
                <a:effectLst/>
                <a:uFillTx/>
                <a:latin typeface="Arial"/>
              </a:rPr>
              <a:t>文本，用于验证备注关系和序列化。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wp_slide_08_title"/>
          <p:cNvSpPr txBox="1"/>
          <p:nvPr/>
        </p:nvSpPr>
        <p:spPr>
          <a:xfrm>
            <a:off x="540000" y="324000"/>
            <a:ext cx="9000000" cy="39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500" b="0" u="none" strike="noStrike">
                <a:solidFill>
                  <a:srgbClr val="0B2545"/>
                </a:solidFill>
                <a:effectLst/>
                <a:uFillTx/>
                <a:latin typeface="Arial"/>
              </a:rPr>
              <a:t>验证结论必须来自结构、渲染和逐页视觉检查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wp_slide_08_body"/>
          <p:cNvSpPr txBox="1"/>
          <p:nvPr/>
        </p:nvSpPr>
        <p:spPr>
          <a:xfrm>
            <a:off x="900000" y="1512000"/>
            <a:ext cx="8100000" cy="95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结构通过 ≠ 版式正确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LibreOffice </a:t>
            </a:r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通过 ≠ </a:t>
            </a:r>
            <a:r>
              <a:rPr lang="en-US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Microsoft Office </a:t>
            </a:r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一致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220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视觉通过 ≠ 所有交互对象语义完整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dcterms:modified xsi:type="dcterms:W3CDTF">2026-08-28T17:58:16Z</dcterms:modified>
  <cp:revision>1</cp:revision>
  <dc:subject/>
  <dc:title/>
</cp:coreProperties>
</file>